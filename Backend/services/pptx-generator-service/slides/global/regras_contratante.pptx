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497D7-3E24-8479-AC92-7F2DA66281C8}" v="38" dt="2026-05-26T18:22:15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NO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386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3">
            <a:extLst>
              <a:ext uri="{FF2B5EF4-FFF2-40B4-BE49-F238E27FC236}">
                <a16:creationId xmlns:a16="http://schemas.microsoft.com/office/drawing/2014/main" id="{C5E4E1BB-A7E5-F34E-BECF-5D495771C952}"/>
              </a:ext>
            </a:extLst>
          </p:cNvPr>
          <p:cNvSpPr txBox="1"/>
          <p:nvPr/>
        </p:nvSpPr>
        <p:spPr>
          <a:xfrm>
            <a:off x="2104809" y="1180595"/>
            <a:ext cx="9593203" cy="336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Executar serviços de limpeza geral (remoção de solo orgânico, ervas daninhas, </a:t>
            </a:r>
            <a:r>
              <a:rPr lang="pt-BR" sz="120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etc</a:t>
            </a: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), terraplanagem geral, (corte, aterro, remoção de terra, nivelamento, compactação ), deixando caimento de 1% para uma das laterais do terreno;</a:t>
            </a:r>
          </a:p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Proteger jardins, gramados, pisos e paredes próximos ao local de execução dos serviços;</a:t>
            </a:r>
          </a:p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seguro para guarda de materiais, equipamentos e ferramentas;</a:t>
            </a:r>
          </a:p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Fornecimento de banheiro e vestiário para a equipe de trabalho;</a:t>
            </a:r>
          </a:p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Viabilizar acesso fácil para o transporte dos materiais até o local dos serviços;</a:t>
            </a:r>
          </a:p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Fornecimento de transporte vertical dos materiais até o local de execução dos serviços;</a:t>
            </a:r>
          </a:p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Fornecimento, no local da obra, de água e energia elétrica necessárias aos trabalhos;</a:t>
            </a:r>
          </a:p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Quadro de comando completo com respectiva alimentação elétrica ligada, com distância de 5,00m da quadra;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9FF7BDB9-4D7F-2727-CDA7-2C127A3A9806}"/>
              </a:ext>
            </a:extLst>
          </p:cNvPr>
          <p:cNvSpPr txBox="1"/>
          <p:nvPr/>
        </p:nvSpPr>
        <p:spPr>
          <a:xfrm>
            <a:off x="2104810" y="318821"/>
            <a:ext cx="627801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7. Regras do Jogo</a:t>
            </a:r>
            <a:endParaRPr lang="pt-BR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  <a:p>
            <a:pPr>
              <a:defRPr/>
            </a:pPr>
            <a:r>
              <a:rPr lang="pt-BR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Responsabilidades do Contratante</a:t>
            </a:r>
          </a:p>
        </p:txBody>
      </p:sp>
      <p:sp>
        <p:nvSpPr>
          <p:cNvPr id="3" name="CaixaDeTexto 13">
            <a:extLst>
              <a:ext uri="{FF2B5EF4-FFF2-40B4-BE49-F238E27FC236}">
                <a16:creationId xmlns:a16="http://schemas.microsoft.com/office/drawing/2014/main" id="{65C6202D-C250-F54C-6BEF-226CA18A24C3}"/>
              </a:ext>
            </a:extLst>
          </p:cNvPr>
          <p:cNvSpPr txBox="1"/>
          <p:nvPr/>
        </p:nvSpPr>
        <p:spPr>
          <a:xfrm>
            <a:off x="2104809" y="4547671"/>
            <a:ext cx="6055965" cy="188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12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Fornecimento dos materiais de pedreira necessários à execução dos serviços que deverão ser colocados no local da obra</a:t>
            </a:r>
            <a:r>
              <a:rPr lang="pt-BR" sz="1200" b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dentro da quadra. As quantidades ao lado são aproximadas, portanto passíveis à alterações e devem ser compradas apenas após confirmação do departamento de engenharia da Playpiso.</a:t>
            </a:r>
            <a:endParaRPr lang="pt-BR" sz="1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tângulo 1">
            <a:extLst>
              <a:ext uri="{FF2B5EF4-FFF2-40B4-BE49-F238E27FC236}">
                <a16:creationId xmlns:a16="http://schemas.microsoft.com/office/drawing/2014/main" id="{3EBE8510-F003-2001-BADA-E05030A64046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A78045-1789-80EA-5A80-A0A9FD1D8C41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dirty="0" err="1">
                <a:solidFill>
                  <a:schemeClr val="bg1"/>
                </a:solidFill>
                <a:latin typeface="Poppins"/>
                <a:cs typeface="Poppins"/>
              </a:rPr>
              <a:t>np</a:t>
            </a: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}}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FF220B29-333E-6F83-6CF1-699B73340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">
            <a:extLst>
              <a:ext uri="{FF2B5EF4-FFF2-40B4-BE49-F238E27FC236}">
                <a16:creationId xmlns:a16="http://schemas.microsoft.com/office/drawing/2014/main" id="{652ACE3F-D4E7-FFE1-58D0-E8D2109E5443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dirty="0" err="1">
                <a:solidFill>
                  <a:schemeClr val="bg1"/>
                </a:solidFill>
                <a:latin typeface="Poppins"/>
                <a:cs typeface="Poppins"/>
              </a:rPr>
              <a:t>ds</a:t>
            </a:r>
            <a:r>
              <a:rPr lang="pt-BR" sz="1400" b="1" dirty="0">
                <a:solidFill>
                  <a:schemeClr val="bg1"/>
                </a:solidFill>
                <a:latin typeface="Poppins"/>
                <a:cs typeface="Poppins"/>
              </a:rPr>
              <a:t>}}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CaixaDeTexto 1">
            <a:extLst>
              <a:ext uri="{FF2B5EF4-FFF2-40B4-BE49-F238E27FC236}">
                <a16:creationId xmlns:a16="http://schemas.microsoft.com/office/drawing/2014/main" id="{AA3CDDD0-1D4D-E149-CB50-5237C76B9DF9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{{de}}</a:t>
            </a:r>
            <a:endParaRPr lang="pt-BR" sz="14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CaixaDeTexto 10">
            <a:extLst>
              <a:ext uri="{FF2B5EF4-FFF2-40B4-BE49-F238E27FC236}">
                <a16:creationId xmlns:a16="http://schemas.microsoft.com/office/drawing/2014/main" id="{237E7866-FB64-2E36-CA95-28FA365AAE64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27" name="CaixaDeTexto 10">
            <a:extLst>
              <a:ext uri="{FF2B5EF4-FFF2-40B4-BE49-F238E27FC236}">
                <a16:creationId xmlns:a16="http://schemas.microsoft.com/office/drawing/2014/main" id="{6708358C-D8CD-F050-A620-00F5DE75B900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29" name="CaixaDeTexto 10">
            <a:extLst>
              <a:ext uri="{FF2B5EF4-FFF2-40B4-BE49-F238E27FC236}">
                <a16:creationId xmlns:a16="http://schemas.microsoft.com/office/drawing/2014/main" id="{537E728A-CA7C-1065-B8C0-6FD8CDA9EF5C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31" name="CaixaDeTexto 10">
            <a:extLst>
              <a:ext uri="{FF2B5EF4-FFF2-40B4-BE49-F238E27FC236}">
                <a16:creationId xmlns:a16="http://schemas.microsoft.com/office/drawing/2014/main" id="{BFF319C5-5D7B-A864-6544-3605437FC8FB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33" name="CaixaDeTexto 10">
            <a:extLst>
              <a:ext uri="{FF2B5EF4-FFF2-40B4-BE49-F238E27FC236}">
                <a16:creationId xmlns:a16="http://schemas.microsoft.com/office/drawing/2014/main" id="{B8521EA8-3604-139F-D3E5-0B4F084C449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35" name="CaixaDeTexto 10">
            <a:extLst>
              <a:ext uri="{FF2B5EF4-FFF2-40B4-BE49-F238E27FC236}">
                <a16:creationId xmlns:a16="http://schemas.microsoft.com/office/drawing/2014/main" id="{360466AC-2B63-14BC-16AB-B2BBED816BA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2755710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</cp:revision>
  <dcterms:created xsi:type="dcterms:W3CDTF">2026-05-18T17:47:10Z</dcterms:created>
  <dcterms:modified xsi:type="dcterms:W3CDTF">2026-05-26T18:22:17Z</dcterms:modified>
</cp:coreProperties>
</file>