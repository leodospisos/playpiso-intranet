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325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08A40-012A-D12E-02C7-0A545B7A839A}" v="54" dt="2026-05-26T18:04:49.8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3550D1-219E-4B53-A522-9B245522E889}" type="datetimeFigureOut">
              <a:t>26/05/2026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16ABCA-B24F-4668-9ABF-F6AE13A694B2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76247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BR" b="1"/>
              <a:t>MEXER APENAS NAS INFORMAÇÕES EM PRETO, NÚMERO DA PROPOSTA E DATAS.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BR" b="1"/>
            </a:br>
            <a:r>
              <a:rPr lang="en-BR"/>
              <a:t>NÃO DESCONFIGURAR NADA!</a:t>
            </a:r>
            <a:br>
              <a:rPr lang="en-BR"/>
            </a:br>
            <a:endParaRPr lang="en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C740D-A4AF-9C40-8FFB-99FBBDFCF035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4034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26.05.2026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>
            <a:extLst>
              <a:ext uri="{FF2B5EF4-FFF2-40B4-BE49-F238E27FC236}">
                <a16:creationId xmlns:a16="http://schemas.microsoft.com/office/drawing/2014/main" id="{253F9D74-5021-4F65-84A3-772DC405F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746760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pt-BR"/>
          </a:p>
        </p:txBody>
      </p:sp>
      <p:sp>
        <p:nvSpPr>
          <p:cNvPr id="23" name="CaixaDeTexto 17">
            <a:extLst>
              <a:ext uri="{FF2B5EF4-FFF2-40B4-BE49-F238E27FC236}">
                <a16:creationId xmlns:a16="http://schemas.microsoft.com/office/drawing/2014/main" id="{C0CA1E5A-9F36-C554-24B3-CBDA6372F5F4}"/>
              </a:ext>
            </a:extLst>
          </p:cNvPr>
          <p:cNvSpPr txBox="1"/>
          <p:nvPr/>
        </p:nvSpPr>
        <p:spPr>
          <a:xfrm>
            <a:off x="2104810" y="852212"/>
            <a:ext cx="9809795" cy="40010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pt-BR" sz="1600" b="1">
              <a:solidFill>
                <a:srgbClr val="FF0000"/>
              </a:solidFill>
              <a:latin typeface="Poppins"/>
              <a:ea typeface="Times New Roman" panose="02020603050405020304" pitchFamily="18" charset="0"/>
              <a:cs typeface="Poppins"/>
            </a:endParaRPr>
          </a:p>
          <a:p>
            <a:r>
              <a:rPr lang="pt-BR" sz="1600" b="1">
                <a:solidFill>
                  <a:srgbClr val="FF0000"/>
                </a:solidFill>
                <a:latin typeface="Poppins"/>
                <a:ea typeface="Times New Roman" panose="02020603050405020304" pitchFamily="18" charset="0"/>
                <a:cs typeface="Poppins"/>
              </a:rPr>
              <a:t>1. Projeto </a:t>
            </a:r>
            <a:r>
              <a:rPr lang="pt-BR" sz="1600" b="1">
                <a:solidFill>
                  <a:srgbClr val="000000"/>
                </a:solidFill>
                <a:latin typeface="Poppins"/>
                <a:ea typeface="Times New Roman" panose="02020603050405020304" pitchFamily="18" charset="0"/>
                <a:cs typeface="Poppins"/>
              </a:rPr>
              <a:t>- {{ sumario }}</a:t>
            </a:r>
            <a:endParaRPr lang="pt-BR"/>
          </a:p>
          <a:p>
            <a:pPr lvl="0">
              <a:lnSpc>
                <a:spcPct val="250000"/>
              </a:lnSpc>
            </a:pPr>
            <a:r>
              <a:rPr lang="pt-BR" sz="1600" b="1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2. Investimento</a:t>
            </a:r>
          </a:p>
          <a:p>
            <a:pPr lvl="0"/>
            <a:endParaRPr lang="pt-BR" sz="1400" b="1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3. Condições de Pagamento</a:t>
            </a:r>
          </a:p>
          <a:p>
            <a:pPr lvl="0"/>
            <a:endParaRPr lang="pt-BR" sz="1400" b="1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4. Prazos</a:t>
            </a:r>
          </a:p>
          <a:p>
            <a:pPr lvl="0"/>
            <a:endParaRPr lang="pt-BR" sz="1400" b="1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5. Garantia</a:t>
            </a:r>
          </a:p>
          <a:p>
            <a:pPr lvl="0"/>
            <a:endParaRPr lang="pt-BR" sz="1600" b="1">
              <a:solidFill>
                <a:srgbClr val="FF0000"/>
              </a:solidFill>
              <a:effectLst/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6</a:t>
            </a:r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Responsabilidades da Contratada</a:t>
            </a:r>
          </a:p>
          <a:p>
            <a:pPr lvl="0"/>
            <a:endParaRPr lang="pt-BR" sz="1400" b="1">
              <a:solidFill>
                <a:srgbClr val="FF0000"/>
              </a:solidFill>
              <a:effectLst/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pPr lvl="0"/>
            <a:r>
              <a:rPr lang="pt-BR" sz="1600" b="1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7</a:t>
            </a:r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Responsabilidades do Contratante</a:t>
            </a:r>
          </a:p>
          <a:p>
            <a:pPr lvl="0"/>
            <a:endParaRPr lang="pt-BR" sz="1400" b="1">
              <a:solidFill>
                <a:srgbClr val="FF0000"/>
              </a:solidFill>
              <a:latin typeface="Poppins" panose="00000500000000000000" pitchFamily="2" charset="0"/>
              <a:ea typeface="Times New Roman" panose="02020603050405020304" pitchFamily="18" charset="0"/>
              <a:cs typeface="Poppins" panose="00000500000000000000" pitchFamily="2" charset="0"/>
            </a:endParaRPr>
          </a:p>
          <a:p>
            <a:r>
              <a:rPr lang="pt-BR" sz="1600" b="1">
                <a:solidFill>
                  <a:srgbClr val="FF0000"/>
                </a:solidFill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8</a:t>
            </a:r>
            <a:r>
              <a:rPr lang="pt-BR" sz="1600" b="1">
                <a:solidFill>
                  <a:srgbClr val="FF0000"/>
                </a:solidFill>
                <a:effectLst/>
                <a:latin typeface="Poppins" panose="00000500000000000000" pitchFamily="2" charset="0"/>
                <a:ea typeface="Times New Roman" panose="02020603050405020304" pitchFamily="18" charset="0"/>
                <a:cs typeface="Poppins" panose="00000500000000000000" pitchFamily="2" charset="0"/>
              </a:rPr>
              <a:t>. Considerações Gerais</a:t>
            </a:r>
          </a:p>
        </p:txBody>
      </p:sp>
      <p:sp>
        <p:nvSpPr>
          <p:cNvPr id="31" name="CaixaDeTexto 15">
            <a:extLst>
              <a:ext uri="{FF2B5EF4-FFF2-40B4-BE49-F238E27FC236}">
                <a16:creationId xmlns:a16="http://schemas.microsoft.com/office/drawing/2014/main" id="{5B7FCF8A-1C73-1893-254C-F8C34FD1384B}"/>
              </a:ext>
            </a:extLst>
          </p:cNvPr>
          <p:cNvSpPr txBox="1"/>
          <p:nvPr/>
        </p:nvSpPr>
        <p:spPr>
          <a:xfrm>
            <a:off x="2104811" y="317431"/>
            <a:ext cx="28471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sz="32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rPr>
              <a:t>Sumário</a:t>
            </a:r>
            <a:endParaRPr lang="pt-BR" sz="2800" b="1">
              <a:solidFill>
                <a:srgbClr val="FF0000"/>
              </a:solidFill>
              <a:latin typeface="Poppins Bold" panose="00000800000000000000" pitchFamily="2" charset="0"/>
              <a:cs typeface="Poppins Bold" panose="00000800000000000000" pitchFamily="2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7C794CD-198E-483B-C773-A70F811F0012}"/>
              </a:ext>
            </a:extLst>
          </p:cNvPr>
          <p:cNvSpPr/>
          <p:nvPr/>
        </p:nvSpPr>
        <p:spPr>
          <a:xfrm>
            <a:off x="1" y="0"/>
            <a:ext cx="1914523" cy="68580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CaixaDeTexto 1">
            <a:extLst>
              <a:ext uri="{FF2B5EF4-FFF2-40B4-BE49-F238E27FC236}">
                <a16:creationId xmlns:a16="http://schemas.microsoft.com/office/drawing/2014/main" id="{704E3E7C-16D0-F8AF-0BC6-C16CCD5FE8A8}"/>
              </a:ext>
            </a:extLst>
          </p:cNvPr>
          <p:cNvSpPr txBox="1"/>
          <p:nvPr/>
        </p:nvSpPr>
        <p:spPr>
          <a:xfrm>
            <a:off x="39778" y="4431263"/>
            <a:ext cx="1063214" cy="6850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Proposta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np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6" name="CaixaDeTexto 1">
            <a:extLst>
              <a:ext uri="{FF2B5EF4-FFF2-40B4-BE49-F238E27FC236}">
                <a16:creationId xmlns:a16="http://schemas.microsoft.com/office/drawing/2014/main" id="{51F9E1A7-30A1-4A82-90B8-CA0EEAF1C43D}"/>
              </a:ext>
            </a:extLst>
          </p:cNvPr>
          <p:cNvSpPr txBox="1"/>
          <p:nvPr/>
        </p:nvSpPr>
        <p:spPr>
          <a:xfrm>
            <a:off x="39778" y="5231827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Solicitação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</a:t>
            </a:r>
            <a:r>
              <a:rPr lang="pt-BR" sz="1400" b="1" err="1">
                <a:solidFill>
                  <a:schemeClr val="bg1"/>
                </a:solidFill>
                <a:latin typeface="Poppins"/>
                <a:cs typeface="Poppins"/>
              </a:rPr>
              <a:t>ds</a:t>
            </a: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9" name="CaixaDeTexto 1">
            <a:extLst>
              <a:ext uri="{FF2B5EF4-FFF2-40B4-BE49-F238E27FC236}">
                <a16:creationId xmlns:a16="http://schemas.microsoft.com/office/drawing/2014/main" id="{ECC26BC3-322D-E73D-F9CD-1F6646F05552}"/>
              </a:ext>
            </a:extLst>
          </p:cNvPr>
          <p:cNvSpPr txBox="1"/>
          <p:nvPr/>
        </p:nvSpPr>
        <p:spPr>
          <a:xfrm>
            <a:off x="39778" y="6032391"/>
            <a:ext cx="1239132" cy="6886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pt-BR" sz="130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t>Envio</a:t>
            </a:r>
          </a:p>
          <a:p>
            <a:pPr algn="just">
              <a:lnSpc>
                <a:spcPct val="150000"/>
              </a:lnSpc>
            </a:pPr>
            <a:r>
              <a:rPr lang="pt-BR" sz="1400" b="1">
                <a:solidFill>
                  <a:schemeClr val="bg1"/>
                </a:solidFill>
                <a:latin typeface="Poppins"/>
                <a:cs typeface="Poppins"/>
              </a:rPr>
              <a:t>{{de}}</a:t>
            </a:r>
            <a:endParaRPr lang="pt-BR" sz="1400" b="1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  <p:sp>
        <p:nvSpPr>
          <p:cNvPr id="10" name="CaixaDeTexto 10">
            <a:extLst>
              <a:ext uri="{FF2B5EF4-FFF2-40B4-BE49-F238E27FC236}">
                <a16:creationId xmlns:a16="http://schemas.microsoft.com/office/drawing/2014/main" id="{F2C5E29A-D10C-CA36-B091-DE492AE735E2}"/>
              </a:ext>
            </a:extLst>
          </p:cNvPr>
          <p:cNvSpPr txBox="1"/>
          <p:nvPr/>
        </p:nvSpPr>
        <p:spPr>
          <a:xfrm>
            <a:off x="39778" y="1911638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Projeto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819A0C1-836E-23D3-ED0D-F7EA7716142B}"/>
              </a:ext>
            </a:extLst>
          </p:cNvPr>
          <p:cNvSpPr txBox="1"/>
          <p:nvPr/>
        </p:nvSpPr>
        <p:spPr>
          <a:xfrm>
            <a:off x="39778" y="2660340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Pagamento</a:t>
            </a:r>
          </a:p>
        </p:txBody>
      </p:sp>
      <p:sp>
        <p:nvSpPr>
          <p:cNvPr id="12" name="CaixaDeTexto 10">
            <a:extLst>
              <a:ext uri="{FF2B5EF4-FFF2-40B4-BE49-F238E27FC236}">
                <a16:creationId xmlns:a16="http://schemas.microsoft.com/office/drawing/2014/main" id="{40318AF3-2BC7-A1F7-3085-F5560888ECEF}"/>
              </a:ext>
            </a:extLst>
          </p:cNvPr>
          <p:cNvSpPr txBox="1"/>
          <p:nvPr/>
        </p:nvSpPr>
        <p:spPr>
          <a:xfrm>
            <a:off x="39778" y="2285989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Investimento</a:t>
            </a:r>
          </a:p>
        </p:txBody>
      </p:sp>
      <p:sp>
        <p:nvSpPr>
          <p:cNvPr id="13" name="CaixaDeTexto 10">
            <a:extLst>
              <a:ext uri="{FF2B5EF4-FFF2-40B4-BE49-F238E27FC236}">
                <a16:creationId xmlns:a16="http://schemas.microsoft.com/office/drawing/2014/main" id="{9C363811-49CA-5743-DA48-87998438BA15}"/>
              </a:ext>
            </a:extLst>
          </p:cNvPr>
          <p:cNvSpPr txBox="1"/>
          <p:nvPr/>
        </p:nvSpPr>
        <p:spPr>
          <a:xfrm>
            <a:off x="39778" y="3034691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Prazos</a:t>
            </a:r>
          </a:p>
        </p:txBody>
      </p:sp>
      <p:sp>
        <p:nvSpPr>
          <p:cNvPr id="14" name="CaixaDeTexto 10">
            <a:extLst>
              <a:ext uri="{FF2B5EF4-FFF2-40B4-BE49-F238E27FC236}">
                <a16:creationId xmlns:a16="http://schemas.microsoft.com/office/drawing/2014/main" id="{FAFE0301-D765-A669-69FC-05454F548692}"/>
              </a:ext>
            </a:extLst>
          </p:cNvPr>
          <p:cNvSpPr txBox="1"/>
          <p:nvPr/>
        </p:nvSpPr>
        <p:spPr>
          <a:xfrm>
            <a:off x="39778" y="3409042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Garantia</a:t>
            </a:r>
          </a:p>
        </p:txBody>
      </p:sp>
      <p:sp>
        <p:nvSpPr>
          <p:cNvPr id="18" name="CaixaDeTexto 10">
            <a:extLst>
              <a:ext uri="{FF2B5EF4-FFF2-40B4-BE49-F238E27FC236}">
                <a16:creationId xmlns:a16="http://schemas.microsoft.com/office/drawing/2014/main" id="{2EAF200E-5E09-8C4C-BA5F-5FAB0D8CBFF3}"/>
              </a:ext>
            </a:extLst>
          </p:cNvPr>
          <p:cNvSpPr txBox="1"/>
          <p:nvPr/>
        </p:nvSpPr>
        <p:spPr>
          <a:xfrm>
            <a:off x="39778" y="3783395"/>
            <a:ext cx="2065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1400">
                <a:solidFill>
                  <a:schemeClr val="bg1"/>
                </a:solidFill>
                <a:effectLst/>
                <a:latin typeface="Poppins" pitchFamily="2" charset="77"/>
                <a:cs typeface="Poppins" pitchFamily="2" charset="77"/>
              </a:rPr>
              <a:t>Regras </a:t>
            </a:r>
          </a:p>
        </p:txBody>
      </p:sp>
      <p:pic>
        <p:nvPicPr>
          <p:cNvPr id="28" name="Imagem 27" descr="Desenho de um círculo&#10;&#10;Descrição gerada automaticamente com confiança baixa">
            <a:extLst>
              <a:ext uri="{FF2B5EF4-FFF2-40B4-BE49-F238E27FC236}">
                <a16:creationId xmlns:a16="http://schemas.microsoft.com/office/drawing/2014/main" id="{42EBCB69-E06C-6F05-0E40-203F61E50B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57175" y="309563"/>
            <a:ext cx="628650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486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</Slides>
  <Notes>1</Notes>
  <HiddenSlides>0</HiddenSlide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18</cp:revision>
  <dcterms:created xsi:type="dcterms:W3CDTF">2026-05-18T17:57:41Z</dcterms:created>
  <dcterms:modified xsi:type="dcterms:W3CDTF">2026-05-26T18:05:12Z</dcterms:modified>
</cp:coreProperties>
</file>