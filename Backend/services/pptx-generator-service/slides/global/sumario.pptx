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325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57BE05-37A1-BC0B-350A-8C87333FF5F4}" v="53" dt="2026-05-20T15:47:06.092"/>
    <p1510:client id="{7EBE831E-095E-0FB3-C8EC-E08C03E26D19}" v="22" dt="2026-05-18T18:02:17.8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3550D1-219E-4B53-A522-9B245522E889}" type="datetimeFigureOut">
              <a:t>20/05/2026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16ABCA-B24F-4668-9ABF-F6AE13A694B2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7624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BR" b="1"/>
              <a:t>MEXER APENAS NAS INFORMAÇÕES EM PRETO, NÚMERO DA PROPOSTA E DATAS.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BR" b="1"/>
            </a:br>
            <a:r>
              <a:rPr lang="en-BR"/>
              <a:t>NÃO DESCONFIGURAR NADA!</a:t>
            </a:r>
            <a:br>
              <a:rPr lang="en-BR"/>
            </a:br>
            <a:endParaRPr lang="en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7C740D-A4AF-9C40-8FFB-99FBBDFCF035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40342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5">
            <a:extLst>
              <a:ext uri="{FF2B5EF4-FFF2-40B4-BE49-F238E27FC236}">
                <a16:creationId xmlns:a16="http://schemas.microsoft.com/office/drawing/2014/main" id="{253F9D74-5021-4F65-84A3-772DC405F6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46760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3" name="Retângulo 1">
            <a:extLst>
              <a:ext uri="{FF2B5EF4-FFF2-40B4-BE49-F238E27FC236}">
                <a16:creationId xmlns:a16="http://schemas.microsoft.com/office/drawing/2014/main" id="{F314F01E-F438-79CC-7775-4BBE2B751C77}"/>
              </a:ext>
            </a:extLst>
          </p:cNvPr>
          <p:cNvSpPr/>
          <p:nvPr/>
        </p:nvSpPr>
        <p:spPr>
          <a:xfrm>
            <a:off x="1" y="0"/>
            <a:ext cx="1914523" cy="6858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Imagem 5" descr="Desenho de um círculo&#10;&#10;Descrição gerada automaticamente com confiança baixa">
            <a:extLst>
              <a:ext uri="{FF2B5EF4-FFF2-40B4-BE49-F238E27FC236}">
                <a16:creationId xmlns:a16="http://schemas.microsoft.com/office/drawing/2014/main" id="{A79A1F1D-F3BF-1BF8-92F0-799FCE395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94" y="322704"/>
            <a:ext cx="622719" cy="600016"/>
          </a:xfrm>
          <a:prstGeom prst="rect">
            <a:avLst/>
          </a:prstGeom>
        </p:spPr>
      </p:pic>
      <p:sp>
        <p:nvSpPr>
          <p:cNvPr id="15" name="CaixaDeTexto 10">
            <a:extLst>
              <a:ext uri="{FF2B5EF4-FFF2-40B4-BE49-F238E27FC236}">
                <a16:creationId xmlns:a16="http://schemas.microsoft.com/office/drawing/2014/main" id="{A25FDD9F-37AC-20FF-4419-477CFA78378B}"/>
              </a:ext>
            </a:extLst>
          </p:cNvPr>
          <p:cNvSpPr txBox="1"/>
          <p:nvPr/>
        </p:nvSpPr>
        <p:spPr>
          <a:xfrm>
            <a:off x="39778" y="1911638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Projeto</a:t>
            </a:r>
          </a:p>
        </p:txBody>
      </p:sp>
      <p:sp>
        <p:nvSpPr>
          <p:cNvPr id="16" name="CaixaDeTexto 10">
            <a:extLst>
              <a:ext uri="{FF2B5EF4-FFF2-40B4-BE49-F238E27FC236}">
                <a16:creationId xmlns:a16="http://schemas.microsoft.com/office/drawing/2014/main" id="{E2059CD2-05F5-719A-ED86-ADB184224789}"/>
              </a:ext>
            </a:extLst>
          </p:cNvPr>
          <p:cNvSpPr txBox="1"/>
          <p:nvPr/>
        </p:nvSpPr>
        <p:spPr>
          <a:xfrm>
            <a:off x="39778" y="2660340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Pagamento</a:t>
            </a:r>
          </a:p>
        </p:txBody>
      </p:sp>
      <p:sp>
        <p:nvSpPr>
          <p:cNvPr id="17" name="CaixaDeTexto 10">
            <a:extLst>
              <a:ext uri="{FF2B5EF4-FFF2-40B4-BE49-F238E27FC236}">
                <a16:creationId xmlns:a16="http://schemas.microsoft.com/office/drawing/2014/main" id="{D77F999A-5848-35DE-10DC-CE2AF7702A9B}"/>
              </a:ext>
            </a:extLst>
          </p:cNvPr>
          <p:cNvSpPr txBox="1"/>
          <p:nvPr/>
        </p:nvSpPr>
        <p:spPr>
          <a:xfrm>
            <a:off x="39778" y="2285989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Investimento</a:t>
            </a:r>
          </a:p>
        </p:txBody>
      </p:sp>
      <p:sp>
        <p:nvSpPr>
          <p:cNvPr id="19" name="CaixaDeTexto 10">
            <a:extLst>
              <a:ext uri="{FF2B5EF4-FFF2-40B4-BE49-F238E27FC236}">
                <a16:creationId xmlns:a16="http://schemas.microsoft.com/office/drawing/2014/main" id="{AB20D068-0191-EC87-39C8-8ABC2F89A765}"/>
              </a:ext>
            </a:extLst>
          </p:cNvPr>
          <p:cNvSpPr txBox="1"/>
          <p:nvPr/>
        </p:nvSpPr>
        <p:spPr>
          <a:xfrm>
            <a:off x="39778" y="3034691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Prazos</a:t>
            </a:r>
          </a:p>
        </p:txBody>
      </p:sp>
      <p:sp>
        <p:nvSpPr>
          <p:cNvPr id="20" name="CaixaDeTexto 10">
            <a:extLst>
              <a:ext uri="{FF2B5EF4-FFF2-40B4-BE49-F238E27FC236}">
                <a16:creationId xmlns:a16="http://schemas.microsoft.com/office/drawing/2014/main" id="{888BC6D8-EFB0-D415-3CDC-094DC4BB423B}"/>
              </a:ext>
            </a:extLst>
          </p:cNvPr>
          <p:cNvSpPr txBox="1"/>
          <p:nvPr/>
        </p:nvSpPr>
        <p:spPr>
          <a:xfrm>
            <a:off x="39778" y="3409042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Garantia</a:t>
            </a:r>
          </a:p>
        </p:txBody>
      </p:sp>
      <p:sp>
        <p:nvSpPr>
          <p:cNvPr id="21" name="CaixaDeTexto 10">
            <a:extLst>
              <a:ext uri="{FF2B5EF4-FFF2-40B4-BE49-F238E27FC236}">
                <a16:creationId xmlns:a16="http://schemas.microsoft.com/office/drawing/2014/main" id="{C5F74E3F-2F18-056B-DEF9-116B7217D0EB}"/>
              </a:ext>
            </a:extLst>
          </p:cNvPr>
          <p:cNvSpPr txBox="1"/>
          <p:nvPr/>
        </p:nvSpPr>
        <p:spPr>
          <a:xfrm>
            <a:off x="39778" y="3783395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Regras </a:t>
            </a:r>
          </a:p>
        </p:txBody>
      </p:sp>
      <p:sp>
        <p:nvSpPr>
          <p:cNvPr id="23" name="CaixaDeTexto 17">
            <a:extLst>
              <a:ext uri="{FF2B5EF4-FFF2-40B4-BE49-F238E27FC236}">
                <a16:creationId xmlns:a16="http://schemas.microsoft.com/office/drawing/2014/main" id="{C0CA1E5A-9F36-C554-24B3-CBDA6372F5F4}"/>
              </a:ext>
            </a:extLst>
          </p:cNvPr>
          <p:cNvSpPr txBox="1"/>
          <p:nvPr/>
        </p:nvSpPr>
        <p:spPr>
          <a:xfrm>
            <a:off x="2104810" y="852212"/>
            <a:ext cx="9809795" cy="400109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pt-BR" sz="1600" b="1" dirty="0">
              <a:solidFill>
                <a:srgbClr val="FF0000"/>
              </a:solidFill>
              <a:latin typeface="Poppins"/>
              <a:ea typeface="Times New Roman" panose="02020603050405020304" pitchFamily="18" charset="0"/>
              <a:cs typeface="Poppins"/>
            </a:endParaRPr>
          </a:p>
          <a:p>
            <a:r>
              <a:rPr lang="pt-BR" sz="1600" b="1">
                <a:solidFill>
                  <a:srgbClr val="FF0000"/>
                </a:solidFill>
                <a:latin typeface="Poppins"/>
                <a:ea typeface="Times New Roman" panose="02020603050405020304" pitchFamily="18" charset="0"/>
                <a:cs typeface="Poppins"/>
              </a:rPr>
              <a:t>1. Projeto </a:t>
            </a:r>
            <a:r>
              <a:rPr lang="pt-BR" sz="1600" b="1" dirty="0">
                <a:solidFill>
                  <a:srgbClr val="000000"/>
                </a:solidFill>
                <a:latin typeface="Poppins"/>
                <a:ea typeface="Times New Roman" panose="02020603050405020304" pitchFamily="18" charset="0"/>
                <a:cs typeface="Poppins"/>
              </a:rPr>
              <a:t>- {{ sumario }}</a:t>
            </a:r>
            <a:endParaRPr lang="pt-BR" dirty="0"/>
          </a:p>
          <a:p>
            <a:pPr lvl="0">
              <a:lnSpc>
                <a:spcPct val="250000"/>
              </a:lnSpc>
            </a:pPr>
            <a:r>
              <a:rPr lang="pt-BR" sz="1600" b="1" dirty="0">
                <a:solidFill>
                  <a:srgbClr val="FF0000"/>
                </a:solidFill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2. Investimento</a:t>
            </a:r>
          </a:p>
          <a:p>
            <a:pPr lvl="0"/>
            <a:endParaRPr lang="pt-BR" sz="1400" b="1" dirty="0">
              <a:solidFill>
                <a:srgbClr val="FF0000"/>
              </a:solidFill>
              <a:latin typeface="Poppins" panose="00000500000000000000" pitchFamily="2" charset="0"/>
              <a:ea typeface="Times New Roman" panose="02020603050405020304" pitchFamily="18" charset="0"/>
              <a:cs typeface="Poppins" panose="00000500000000000000" pitchFamily="2" charset="0"/>
            </a:endParaRPr>
          </a:p>
          <a:p>
            <a:pPr lvl="0"/>
            <a:r>
              <a:rPr lang="pt-BR" sz="1600" b="1" dirty="0">
                <a:solidFill>
                  <a:srgbClr val="FF0000"/>
                </a:solidFill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3. Condições de Pagamento</a:t>
            </a:r>
          </a:p>
          <a:p>
            <a:pPr lvl="0"/>
            <a:endParaRPr lang="pt-BR" sz="1400" b="1" dirty="0">
              <a:solidFill>
                <a:srgbClr val="FF0000"/>
              </a:solidFill>
              <a:latin typeface="Poppins" panose="00000500000000000000" pitchFamily="2" charset="0"/>
              <a:ea typeface="Times New Roman" panose="02020603050405020304" pitchFamily="18" charset="0"/>
              <a:cs typeface="Poppins" panose="00000500000000000000" pitchFamily="2" charset="0"/>
            </a:endParaRPr>
          </a:p>
          <a:p>
            <a:pPr lvl="0"/>
            <a:r>
              <a:rPr lang="pt-BR" sz="1600" b="1" dirty="0">
                <a:solidFill>
                  <a:srgbClr val="FF0000"/>
                </a:solidFill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4. Prazos</a:t>
            </a:r>
          </a:p>
          <a:p>
            <a:pPr lvl="0"/>
            <a:endParaRPr lang="pt-BR" sz="1400" b="1" dirty="0">
              <a:solidFill>
                <a:srgbClr val="FF0000"/>
              </a:solidFill>
              <a:latin typeface="Poppins" panose="00000500000000000000" pitchFamily="2" charset="0"/>
              <a:ea typeface="Times New Roman" panose="02020603050405020304" pitchFamily="18" charset="0"/>
              <a:cs typeface="Poppins" panose="00000500000000000000" pitchFamily="2" charset="0"/>
            </a:endParaRPr>
          </a:p>
          <a:p>
            <a:pPr lvl="0"/>
            <a:r>
              <a:rPr lang="pt-BR" sz="1600" b="1" dirty="0">
                <a:solidFill>
                  <a:srgbClr val="FF0000"/>
                </a:solidFill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5. Garantia</a:t>
            </a:r>
          </a:p>
          <a:p>
            <a:pPr lvl="0"/>
            <a:endParaRPr lang="pt-BR" sz="1600" b="1" dirty="0">
              <a:solidFill>
                <a:srgbClr val="FF0000"/>
              </a:solidFill>
              <a:effectLst/>
              <a:latin typeface="Poppins" panose="00000500000000000000" pitchFamily="2" charset="0"/>
              <a:ea typeface="Times New Roman" panose="02020603050405020304" pitchFamily="18" charset="0"/>
              <a:cs typeface="Poppins" panose="00000500000000000000" pitchFamily="2" charset="0"/>
            </a:endParaRPr>
          </a:p>
          <a:p>
            <a:pPr lvl="0"/>
            <a:r>
              <a:rPr lang="pt-BR" sz="1600" b="1" dirty="0">
                <a:solidFill>
                  <a:srgbClr val="FF0000"/>
                </a:solidFill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6</a:t>
            </a:r>
            <a:r>
              <a:rPr lang="pt-BR" sz="1600" b="1" dirty="0">
                <a:solidFill>
                  <a:srgbClr val="FF0000"/>
                </a:solidFill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. Responsabilidades da Contratada</a:t>
            </a:r>
          </a:p>
          <a:p>
            <a:pPr lvl="0"/>
            <a:endParaRPr lang="pt-BR" sz="1400" b="1" dirty="0">
              <a:solidFill>
                <a:srgbClr val="FF0000"/>
              </a:solidFill>
              <a:effectLst/>
              <a:latin typeface="Poppins" panose="00000500000000000000" pitchFamily="2" charset="0"/>
              <a:ea typeface="Times New Roman" panose="02020603050405020304" pitchFamily="18" charset="0"/>
              <a:cs typeface="Poppins" panose="00000500000000000000" pitchFamily="2" charset="0"/>
            </a:endParaRPr>
          </a:p>
          <a:p>
            <a:pPr lvl="0"/>
            <a:r>
              <a:rPr lang="pt-BR" sz="1600" b="1" dirty="0">
                <a:solidFill>
                  <a:srgbClr val="FF0000"/>
                </a:solidFill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7</a:t>
            </a:r>
            <a:r>
              <a:rPr lang="pt-BR" sz="1600" b="1" dirty="0">
                <a:solidFill>
                  <a:srgbClr val="FF0000"/>
                </a:solidFill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. Responsabilidades do Contratante</a:t>
            </a:r>
          </a:p>
          <a:p>
            <a:pPr lvl="0"/>
            <a:endParaRPr lang="pt-BR" sz="1400" b="1" dirty="0">
              <a:solidFill>
                <a:srgbClr val="FF0000"/>
              </a:solidFill>
              <a:latin typeface="Poppins" panose="00000500000000000000" pitchFamily="2" charset="0"/>
              <a:ea typeface="Times New Roman" panose="02020603050405020304" pitchFamily="18" charset="0"/>
              <a:cs typeface="Poppins" panose="00000500000000000000" pitchFamily="2" charset="0"/>
            </a:endParaRPr>
          </a:p>
          <a:p>
            <a:r>
              <a:rPr lang="pt-BR" sz="1600" b="1" dirty="0">
                <a:solidFill>
                  <a:srgbClr val="FF0000"/>
                </a:solidFill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8</a:t>
            </a:r>
            <a:r>
              <a:rPr lang="pt-BR" sz="1600" b="1" dirty="0">
                <a:solidFill>
                  <a:srgbClr val="FF0000"/>
                </a:solidFill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. Considerações Gerais</a:t>
            </a:r>
          </a:p>
        </p:txBody>
      </p:sp>
      <p:sp>
        <p:nvSpPr>
          <p:cNvPr id="31" name="CaixaDeTexto 15">
            <a:extLst>
              <a:ext uri="{FF2B5EF4-FFF2-40B4-BE49-F238E27FC236}">
                <a16:creationId xmlns:a16="http://schemas.microsoft.com/office/drawing/2014/main" id="{5B7FCF8A-1C73-1893-254C-F8C34FD1384B}"/>
              </a:ext>
            </a:extLst>
          </p:cNvPr>
          <p:cNvSpPr txBox="1"/>
          <p:nvPr/>
        </p:nvSpPr>
        <p:spPr>
          <a:xfrm>
            <a:off x="2104811" y="317431"/>
            <a:ext cx="28471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sz="3200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rPr>
              <a:t>Sumário</a:t>
            </a:r>
            <a:endParaRPr lang="pt-BR" sz="2800" b="1">
              <a:solidFill>
                <a:srgbClr val="FF0000"/>
              </a:solidFill>
              <a:latin typeface="Poppins Bold" panose="00000800000000000000" pitchFamily="2" charset="0"/>
              <a:cs typeface="Poppins Bold" panose="00000800000000000000" pitchFamily="2" charset="0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FE30F853-B5CF-F55D-20CC-9267254596C3}"/>
              </a:ext>
            </a:extLst>
          </p:cNvPr>
          <p:cNvSpPr txBox="1"/>
          <p:nvPr/>
        </p:nvSpPr>
        <p:spPr>
          <a:xfrm>
            <a:off x="39778" y="4431263"/>
            <a:ext cx="1063214" cy="688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Proposta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P </a:t>
            </a:r>
          </a:p>
        </p:txBody>
      </p:sp>
    </p:spTree>
    <p:extLst>
      <p:ext uri="{BB962C8B-B14F-4D97-AF65-F5344CB8AC3E}">
        <p14:creationId xmlns:p14="http://schemas.microsoft.com/office/powerpoint/2010/main" val="300894867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18</cp:revision>
  <dcterms:created xsi:type="dcterms:W3CDTF">2026-05-18T17:57:41Z</dcterms:created>
  <dcterms:modified xsi:type="dcterms:W3CDTF">2026-05-20T15:47:06Z</dcterms:modified>
</cp:coreProperties>
</file>