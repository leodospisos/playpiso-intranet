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351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5A4A8D-82D2-F1BA-4A07-043A869DD51C}" v="45" dt="2026-05-26T19:22:40.6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C32E84-E70D-451F-96C2-9AF65BF910CD}" type="datetimeFigureOut">
              <a:t>26/05/2026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062C59-2F09-4850-9455-F4B3034F3957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5937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BR" b="1"/>
              <a:t>MEXER APENAS NO NÚMERO DA PROPOSTA E DATAS.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BR" b="1"/>
            </a:br>
            <a:r>
              <a:rPr lang="en-BR"/>
              <a:t>NÃO DESCONFIGURAR NADA!</a:t>
            </a:r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7C740D-A4AF-9C40-8FFB-99FBBDFCF035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686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ixaDeTexto 13">
            <a:extLst>
              <a:ext uri="{FF2B5EF4-FFF2-40B4-BE49-F238E27FC236}">
                <a16:creationId xmlns:a16="http://schemas.microsoft.com/office/drawing/2014/main" id="{C5E4E1BB-A7E5-F34E-BECF-5D495771C952}"/>
              </a:ext>
            </a:extLst>
          </p:cNvPr>
          <p:cNvSpPr txBox="1"/>
          <p:nvPr/>
        </p:nvSpPr>
        <p:spPr>
          <a:xfrm>
            <a:off x="2104810" y="1184478"/>
            <a:ext cx="9693899" cy="299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400" indent="-2304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 b="0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Consideramos neste orçamento que a </a:t>
            </a:r>
            <a:r>
              <a:rPr lang="pt-BR" sz="1200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areia</a:t>
            </a:r>
            <a:r>
              <a:rPr lang="pt-BR" sz="1200" b="1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 </a:t>
            </a:r>
            <a:r>
              <a:rPr lang="pt-BR" sz="1200" b="0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será fornecida </a:t>
            </a:r>
            <a:r>
              <a:rPr lang="pt-BR" sz="1200" b="1" u="sng" kern="1200">
                <a:solidFill>
                  <a:srgbClr val="FF0000"/>
                </a:solidFill>
                <a:effectLst/>
                <a:latin typeface="Poppins "/>
                <a:ea typeface="+mn-ea"/>
                <a:cs typeface="Poppins Light" panose="00000400000000000000" pitchFamily="2" charset="0"/>
              </a:rPr>
              <a:t>a granel</a:t>
            </a:r>
            <a:r>
              <a:rPr lang="pt-BR" sz="1200" b="0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, portanto o CONTRATANTE deverá providenciar acesso livre para que uma </a:t>
            </a:r>
            <a:r>
              <a:rPr lang="pt-BR" sz="1200" b="0" u="sng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carreta</a:t>
            </a:r>
            <a:r>
              <a:rPr lang="pt-BR" sz="1200" b="0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 descarregue no local dos serviços.</a:t>
            </a:r>
          </a:p>
          <a:p>
            <a:pPr marL="230400" indent="-2304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 b="0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Consideramos neste orçamento que a </a:t>
            </a:r>
            <a:r>
              <a:rPr lang="pt-BR" sz="1200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areia</a:t>
            </a:r>
            <a:r>
              <a:rPr lang="pt-BR" sz="1200" b="1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 </a:t>
            </a:r>
            <a:r>
              <a:rPr lang="pt-BR" sz="1200" b="0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será fornecida </a:t>
            </a:r>
            <a:r>
              <a:rPr lang="pt-BR" sz="1200" b="1" u="sng">
                <a:solidFill>
                  <a:srgbClr val="FF0000"/>
                </a:solidFill>
                <a:latin typeface="Poppins "/>
                <a:cs typeface="Poppins Light" panose="00000400000000000000" pitchFamily="2" charset="0"/>
              </a:rPr>
              <a:t>ensacada</a:t>
            </a:r>
            <a:r>
              <a:rPr lang="pt-BR" sz="1200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,</a:t>
            </a:r>
            <a:r>
              <a:rPr lang="pt-BR" sz="1200" b="1" kern="1200">
                <a:solidFill>
                  <a:srgbClr val="FF0000"/>
                </a:solidFill>
                <a:effectLst/>
                <a:latin typeface="Poppins "/>
                <a:ea typeface="+mn-ea"/>
                <a:cs typeface="Poppins Light" panose="00000400000000000000" pitchFamily="2" charset="0"/>
              </a:rPr>
              <a:t> </a:t>
            </a:r>
            <a:r>
              <a:rPr lang="pt-BR" sz="1200" b="0" kern="1200">
                <a:effectLst/>
                <a:latin typeface="Poppins "/>
                <a:ea typeface="+mn-ea"/>
                <a:cs typeface="Poppins Light" panose="00000400000000000000" pitchFamily="2" charset="0"/>
              </a:rPr>
              <a:t>portanto o CONTRATANTE deverá providenciar o transporte vertical da areia até o local dos serviços.</a:t>
            </a:r>
          </a:p>
          <a:p>
            <a:pPr marL="230400" indent="-2304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Reajuste do saldo do valor de obra reajustado pelo IPCA, após 12 meses da assinatura do contrato;</a:t>
            </a:r>
          </a:p>
          <a:p>
            <a:pPr marL="230400" indent="-2304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Se por fatores inerentes à CONTRATANTE não for possível finalizar as obras em uma única etapa, sendo necessária nova mobilização e desmobilização de equipe, a </a:t>
            </a:r>
            <a:r>
              <a:rPr lang="pt-BR" sz="1200"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CONTRATANTE</a:t>
            </a:r>
            <a:r>
              <a:rPr lang="pt-BR" sz="1200"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 arcará com todos os custos adicionais, incluindo as despesas dos dias parados.</a:t>
            </a:r>
            <a:endParaRPr lang="pt-BR" sz="1200">
              <a:effectLst/>
              <a:latin typeface="Poppins" panose="00000500000000000000" pitchFamily="2" charset="0"/>
              <a:ea typeface="Aptos" panose="020B0004020202020204" pitchFamily="34" charset="0"/>
              <a:cs typeface="Poppins" panose="00000500000000000000" pitchFamily="2" charset="0"/>
            </a:endParaRPr>
          </a:p>
        </p:txBody>
      </p:sp>
      <p:sp>
        <p:nvSpPr>
          <p:cNvPr id="2" name="CaixaDeTexto 15">
            <a:extLst>
              <a:ext uri="{FF2B5EF4-FFF2-40B4-BE49-F238E27FC236}">
                <a16:creationId xmlns:a16="http://schemas.microsoft.com/office/drawing/2014/main" id="{18F67F04-4846-533D-F77D-67FE3E1D8FFF}"/>
              </a:ext>
            </a:extLst>
          </p:cNvPr>
          <p:cNvSpPr txBox="1"/>
          <p:nvPr/>
        </p:nvSpPr>
        <p:spPr>
          <a:xfrm>
            <a:off x="2104811" y="322704"/>
            <a:ext cx="627801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8. Regras do Jogo</a:t>
            </a:r>
          </a:p>
          <a:p>
            <a:pPr>
              <a:defRPr/>
            </a:pPr>
            <a:r>
              <a:rPr lang="pt-BR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Considerações Gerais</a:t>
            </a:r>
          </a:p>
        </p:txBody>
      </p:sp>
      <p:sp>
        <p:nvSpPr>
          <p:cNvPr id="4" name="Retângulo 1">
            <a:extLst>
              <a:ext uri="{FF2B5EF4-FFF2-40B4-BE49-F238E27FC236}">
                <a16:creationId xmlns:a16="http://schemas.microsoft.com/office/drawing/2014/main" id="{E58EBE6A-0D86-5455-8CE8-5C3DECA2E175}"/>
              </a:ext>
            </a:extLst>
          </p:cNvPr>
          <p:cNvSpPr/>
          <p:nvPr/>
        </p:nvSpPr>
        <p:spPr>
          <a:xfrm>
            <a:off x="1" y="0"/>
            <a:ext cx="1914523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F11390C-5D35-CA14-FA22-2C4896BA61F4}"/>
              </a:ext>
            </a:extLst>
          </p:cNvPr>
          <p:cNvSpPr txBox="1"/>
          <p:nvPr/>
        </p:nvSpPr>
        <p:spPr>
          <a:xfrm>
            <a:off x="39778" y="4431263"/>
            <a:ext cx="1063214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Proposta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{{np}}</a:t>
            </a:r>
            <a:endParaRPr lang="pt-BR" sz="1400" b="1" dirty="0">
              <a:solidFill>
                <a:schemeClr val="bg1"/>
              </a:solidFill>
              <a:latin typeface="Poppins"/>
              <a:cs typeface="Poppins"/>
            </a:endParaRPr>
          </a:p>
        </p:txBody>
      </p:sp>
      <p:pic>
        <p:nvPicPr>
          <p:cNvPr id="9" name="Imagem 5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5E45ED11-551F-11CF-1AB7-49BE6C990A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94" y="322704"/>
            <a:ext cx="622719" cy="600016"/>
          </a:xfrm>
          <a:prstGeom prst="rect">
            <a:avLst/>
          </a:prstGeom>
        </p:spPr>
      </p:pic>
      <p:sp>
        <p:nvSpPr>
          <p:cNvPr id="11" name="CaixaDeTexto 1">
            <a:extLst>
              <a:ext uri="{FF2B5EF4-FFF2-40B4-BE49-F238E27FC236}">
                <a16:creationId xmlns:a16="http://schemas.microsoft.com/office/drawing/2014/main" id="{9DA30FF7-C2CD-6C7E-250F-E3A41C33A4DF}"/>
              </a:ext>
            </a:extLst>
          </p:cNvPr>
          <p:cNvSpPr txBox="1"/>
          <p:nvPr/>
        </p:nvSpPr>
        <p:spPr>
          <a:xfrm>
            <a:off x="39778" y="5231827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Solicitação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{{ds}}</a:t>
            </a:r>
            <a:endParaRPr lang="pt-BR" sz="1400" b="1" dirty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4" name="CaixaDeTexto 1">
            <a:extLst>
              <a:ext uri="{FF2B5EF4-FFF2-40B4-BE49-F238E27FC236}">
                <a16:creationId xmlns:a16="http://schemas.microsoft.com/office/drawing/2014/main" id="{EEE31523-ED73-6D22-D5F4-9E6CFBE74EFB}"/>
              </a:ext>
            </a:extLst>
          </p:cNvPr>
          <p:cNvSpPr txBox="1"/>
          <p:nvPr/>
        </p:nvSpPr>
        <p:spPr>
          <a:xfrm>
            <a:off x="39778" y="6032391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Envio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{{de}}</a:t>
            </a:r>
            <a:endParaRPr lang="pt-BR" sz="1400" b="1" dirty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6" name="CaixaDeTexto 10">
            <a:extLst>
              <a:ext uri="{FF2B5EF4-FFF2-40B4-BE49-F238E27FC236}">
                <a16:creationId xmlns:a16="http://schemas.microsoft.com/office/drawing/2014/main" id="{DC41D5EC-02E2-7F6F-3769-E5872176726F}"/>
              </a:ext>
            </a:extLst>
          </p:cNvPr>
          <p:cNvSpPr txBox="1"/>
          <p:nvPr/>
        </p:nvSpPr>
        <p:spPr>
          <a:xfrm>
            <a:off x="39778" y="1911638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Projeto</a:t>
            </a:r>
          </a:p>
        </p:txBody>
      </p:sp>
      <p:sp>
        <p:nvSpPr>
          <p:cNvPr id="25" name="CaixaDeTexto 10">
            <a:extLst>
              <a:ext uri="{FF2B5EF4-FFF2-40B4-BE49-F238E27FC236}">
                <a16:creationId xmlns:a16="http://schemas.microsoft.com/office/drawing/2014/main" id="{62F80A09-23F1-B88A-7A6D-BFB22C440B58}"/>
              </a:ext>
            </a:extLst>
          </p:cNvPr>
          <p:cNvSpPr txBox="1"/>
          <p:nvPr/>
        </p:nvSpPr>
        <p:spPr>
          <a:xfrm>
            <a:off x="39778" y="2660340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Pagamento</a:t>
            </a:r>
          </a:p>
        </p:txBody>
      </p:sp>
      <p:sp>
        <p:nvSpPr>
          <p:cNvPr id="27" name="CaixaDeTexto 10">
            <a:extLst>
              <a:ext uri="{FF2B5EF4-FFF2-40B4-BE49-F238E27FC236}">
                <a16:creationId xmlns:a16="http://schemas.microsoft.com/office/drawing/2014/main" id="{4B54C42D-3BA6-DF7B-6C1B-7F49AD94F5FB}"/>
              </a:ext>
            </a:extLst>
          </p:cNvPr>
          <p:cNvSpPr txBox="1"/>
          <p:nvPr/>
        </p:nvSpPr>
        <p:spPr>
          <a:xfrm>
            <a:off x="39778" y="2285989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Investimento</a:t>
            </a:r>
          </a:p>
        </p:txBody>
      </p:sp>
      <p:sp>
        <p:nvSpPr>
          <p:cNvPr id="29" name="CaixaDeTexto 10">
            <a:extLst>
              <a:ext uri="{FF2B5EF4-FFF2-40B4-BE49-F238E27FC236}">
                <a16:creationId xmlns:a16="http://schemas.microsoft.com/office/drawing/2014/main" id="{AACCF493-F558-BAE5-272E-CAA2E3DFC704}"/>
              </a:ext>
            </a:extLst>
          </p:cNvPr>
          <p:cNvSpPr txBox="1"/>
          <p:nvPr/>
        </p:nvSpPr>
        <p:spPr>
          <a:xfrm>
            <a:off x="39778" y="3034691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Prazos</a:t>
            </a:r>
          </a:p>
        </p:txBody>
      </p:sp>
      <p:sp>
        <p:nvSpPr>
          <p:cNvPr id="31" name="CaixaDeTexto 10">
            <a:extLst>
              <a:ext uri="{FF2B5EF4-FFF2-40B4-BE49-F238E27FC236}">
                <a16:creationId xmlns:a16="http://schemas.microsoft.com/office/drawing/2014/main" id="{7AB6DD79-829E-9918-345A-E5CEC2739DE0}"/>
              </a:ext>
            </a:extLst>
          </p:cNvPr>
          <p:cNvSpPr txBox="1"/>
          <p:nvPr/>
        </p:nvSpPr>
        <p:spPr>
          <a:xfrm>
            <a:off x="39778" y="3409042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Garantia</a:t>
            </a:r>
          </a:p>
        </p:txBody>
      </p:sp>
      <p:sp>
        <p:nvSpPr>
          <p:cNvPr id="33" name="CaixaDeTexto 10">
            <a:extLst>
              <a:ext uri="{FF2B5EF4-FFF2-40B4-BE49-F238E27FC236}">
                <a16:creationId xmlns:a16="http://schemas.microsoft.com/office/drawing/2014/main" id="{A0FC4F39-43F0-F1E3-9E5F-6CCC73DC2E1D}"/>
              </a:ext>
            </a:extLst>
          </p:cNvPr>
          <p:cNvSpPr txBox="1"/>
          <p:nvPr/>
        </p:nvSpPr>
        <p:spPr>
          <a:xfrm>
            <a:off x="39778" y="3783395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Regras </a:t>
            </a:r>
          </a:p>
        </p:txBody>
      </p:sp>
    </p:spTree>
    <p:extLst>
      <p:ext uri="{BB962C8B-B14F-4D97-AF65-F5344CB8AC3E}">
        <p14:creationId xmlns:p14="http://schemas.microsoft.com/office/powerpoint/2010/main" val="23641041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79</cp:revision>
  <dcterms:created xsi:type="dcterms:W3CDTF">2026-05-18T17:47:10Z</dcterms:created>
  <dcterms:modified xsi:type="dcterms:W3CDTF">2026-05-26T19:22:41Z</dcterms:modified>
</cp:coreProperties>
</file>