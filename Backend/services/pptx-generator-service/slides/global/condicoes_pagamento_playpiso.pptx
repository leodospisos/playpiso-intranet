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8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B9A96-E10D-0D75-75EE-444517B64839}" v="44" dt="2026-05-18T17:52:29.156"/>
    <p1510:client id="{500DB933-E33D-C64E-46A5-AA127D80DE03}" v="331" dt="2026-05-18T18:09:46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28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62780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3. Condições de pagamento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09048" y="1647499"/>
            <a:ext cx="4059753" cy="4579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Faturamento de materiais, matérias-primas e frete direto dos fornecedores contra a CONTRATANTE, com prazo de </a:t>
            </a:r>
            <a:r>
              <a:rPr lang="pt-BR" sz="1200" u="sng">
                <a:latin typeface="Poppins" panose="00000500000000000000" pitchFamily="2" charset="0"/>
                <a:cs typeface="Poppins" panose="00000500000000000000" pitchFamily="2" charset="0"/>
              </a:rPr>
              <a:t>28dd</a:t>
            </a: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 para pagamento em caso de CNPJ ou </a:t>
            </a:r>
            <a:r>
              <a:rPr lang="pt-BR" sz="1200" u="sng">
                <a:latin typeface="Poppins" panose="00000500000000000000" pitchFamily="2" charset="0"/>
                <a:cs typeface="Poppins" panose="00000500000000000000" pitchFamily="2" charset="0"/>
              </a:rPr>
              <a:t>à vista</a:t>
            </a: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 em caso de CPF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Todas as liberações deverão ser autorizadas pela CONTRATANTE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Todo faturamento direto será deduzido após aprovação do pedido de compra e emissão da NF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Não sendo possível atingir o valor limite de faturamento direto, a diferença deverá ser faturada em nome da CONTRATADA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26774-6E93-6675-6C45-E1AFA0189F76}"/>
              </a:ext>
            </a:extLst>
          </p:cNvPr>
          <p:cNvSpPr txBox="1"/>
          <p:nvPr/>
        </p:nvSpPr>
        <p:spPr>
          <a:xfrm>
            <a:off x="2100129" y="1015052"/>
            <a:ext cx="27875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b="1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Faturamento direto </a:t>
            </a:r>
          </a:p>
          <a:p>
            <a:pPr lvl="0"/>
            <a:r>
              <a:rPr lang="pt-BR" sz="1200" b="1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Até R$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CC397F-4620-C121-B70C-557C978D8704}"/>
              </a:ext>
            </a:extLst>
          </p:cNvPr>
          <p:cNvSpPr txBox="1"/>
          <p:nvPr/>
        </p:nvSpPr>
        <p:spPr>
          <a:xfrm>
            <a:off x="6518847" y="1015052"/>
            <a:ext cx="40597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b="1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Faturamento </a:t>
            </a:r>
            <a:r>
              <a:rPr lang="pt-BR" b="1" err="1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Playpiso</a:t>
            </a:r>
            <a:endParaRPr lang="pt-BR" b="1">
              <a:solidFill>
                <a:srgbClr val="FF0000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200" b="1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Mínimo R$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44587D-5EBA-E260-A206-970E36FA9B7A}"/>
              </a:ext>
            </a:extLst>
          </p:cNvPr>
          <p:cNvSpPr txBox="1">
            <a:spLocks/>
          </p:cNvSpPr>
          <p:nvPr/>
        </p:nvSpPr>
        <p:spPr>
          <a:xfrm>
            <a:off x="6518846" y="1569050"/>
            <a:ext cx="5126550" cy="2346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Condição contratual 65% materiais e 35% mão de obra. Haverá retenção de INSS e ISS (notas emitidas diretamente pela Playpiso)</a:t>
            </a:r>
          </a:p>
          <a:p>
            <a:pPr marL="742950" lvl="1" indent="-285750" algn="just">
              <a:lnSpc>
                <a:spcPct val="100000"/>
              </a:lnSpc>
              <a:spcAft>
                <a:spcPts val="1000"/>
              </a:spcAft>
              <a:buClr>
                <a:srgbClr val="FF0000"/>
              </a:buClr>
              <a:buFont typeface="+mj-lt"/>
              <a:buAutoNum type="romanUcPeriod"/>
            </a:pP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30% após assinatura do contrato (sinal)</a:t>
            </a:r>
          </a:p>
          <a:p>
            <a:pPr marL="742950" lvl="1" indent="-285750" algn="just">
              <a:lnSpc>
                <a:spcPct val="100000"/>
              </a:lnSpc>
              <a:spcAft>
                <a:spcPts val="1000"/>
              </a:spcAft>
              <a:buClr>
                <a:srgbClr val="FF0000"/>
              </a:buClr>
              <a:buFont typeface="+mj-lt"/>
              <a:buAutoNum type="romanUcPeriod"/>
            </a:pP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25% no início da obra</a:t>
            </a:r>
          </a:p>
          <a:p>
            <a:pPr marL="742950" lvl="1" indent="-285750" algn="just">
              <a:lnSpc>
                <a:spcPct val="100000"/>
              </a:lnSpc>
              <a:spcAft>
                <a:spcPts val="1000"/>
              </a:spcAft>
              <a:buClr>
                <a:srgbClr val="FF0000"/>
              </a:buClr>
              <a:buFont typeface="+mj-lt"/>
              <a:buAutoNum type="romanUcPeriod"/>
            </a:pP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25% a 30 </a:t>
            </a:r>
            <a:r>
              <a:rPr lang="pt-BR" sz="1100" err="1">
                <a:latin typeface="Poppins" panose="00000500000000000000" pitchFamily="2" charset="0"/>
                <a:cs typeface="Poppins" panose="00000500000000000000" pitchFamily="2" charset="0"/>
              </a:rPr>
              <a:t>dd</a:t>
            </a: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 do inicio da obra</a:t>
            </a:r>
          </a:p>
          <a:p>
            <a:pPr marL="742950" lvl="1" indent="-285750" algn="just">
              <a:lnSpc>
                <a:spcPct val="100000"/>
              </a:lnSpc>
              <a:spcAft>
                <a:spcPts val="1000"/>
              </a:spcAft>
              <a:buClr>
                <a:srgbClr val="FF0000"/>
              </a:buClr>
              <a:buFont typeface="+mj-lt"/>
              <a:buAutoNum type="romanUcPeriod"/>
            </a:pP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20% a 60 </a:t>
            </a:r>
            <a:r>
              <a:rPr lang="pt-BR" sz="1100" err="1">
                <a:latin typeface="Poppins" panose="00000500000000000000" pitchFamily="2" charset="0"/>
                <a:cs typeface="Poppins" panose="00000500000000000000" pitchFamily="2" charset="0"/>
              </a:rPr>
              <a:t>dd</a:t>
            </a:r>
            <a:r>
              <a:rPr lang="pt-BR" sz="1100">
                <a:latin typeface="Poppins" panose="00000500000000000000" pitchFamily="2" charset="0"/>
                <a:cs typeface="Poppins" panose="00000500000000000000" pitchFamily="2" charset="0"/>
              </a:rPr>
              <a:t> do inicio da obra</a:t>
            </a: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5B3D7B2E-D2C5-2C1E-3010-AAB530F5BFF9}"/>
              </a:ext>
            </a:extLst>
          </p:cNvPr>
          <p:cNvSpPr txBox="1"/>
          <p:nvPr/>
        </p:nvSpPr>
        <p:spPr>
          <a:xfrm>
            <a:off x="6518846" y="4207573"/>
            <a:ext cx="5126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Documentos para faturamento direto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3FD31A-A37D-3A5F-9E46-65FE35700BEF}"/>
              </a:ext>
            </a:extLst>
          </p:cNvPr>
          <p:cNvSpPr txBox="1">
            <a:spLocks/>
          </p:cNvSpPr>
          <p:nvPr/>
        </p:nvSpPr>
        <p:spPr>
          <a:xfrm>
            <a:off x="6518846" y="4576905"/>
            <a:ext cx="2718461" cy="1650161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Cartão CNPJ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Informações bancárias e comerciais (Ficha Cadastral)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Três notas fiscais recentes de valores expressivos com respectivos boletos pagos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DE7681-B84C-AE39-6901-4F8DC9BF453A}"/>
              </a:ext>
            </a:extLst>
          </p:cNvPr>
          <p:cNvSpPr txBox="1">
            <a:spLocks/>
          </p:cNvSpPr>
          <p:nvPr/>
        </p:nvSpPr>
        <p:spPr>
          <a:xfrm>
            <a:off x="9455766" y="4576906"/>
            <a:ext cx="2342943" cy="165016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Balanço Patrimonial /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Balancete atualizado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prstClr val="black"/>
                </a:solidFill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DRE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defRPr/>
            </a:pPr>
            <a:r>
              <a:rPr lang="pt-BR" sz="12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Contrato Social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Informações do aprovador do faturamento direto (nome, email e telefone)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" name="Retângulo 1">
            <a:extLst>
              <a:ext uri="{FF2B5EF4-FFF2-40B4-BE49-F238E27FC236}">
                <a16:creationId xmlns:a16="http://schemas.microsoft.com/office/drawing/2014/main" id="{EDFCBC6A-2091-F762-BCDC-74EA8C089853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0493784-004E-EBED-946E-FF60EE91CFA8}"/>
              </a:ext>
            </a:extLst>
          </p:cNvPr>
          <p:cNvSpPr txBox="1"/>
          <p:nvPr/>
        </p:nvSpPr>
        <p:spPr>
          <a:xfrm>
            <a:off x="39778" y="4431263"/>
            <a:ext cx="1063214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 </a:t>
            </a:r>
          </a:p>
        </p:txBody>
      </p:sp>
      <p:pic>
        <p:nvPicPr>
          <p:cNvPr id="2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2873A43C-C2A9-6782-0EC7-45ABD9E54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28" name="CaixaDeTexto 1">
            <a:extLst>
              <a:ext uri="{FF2B5EF4-FFF2-40B4-BE49-F238E27FC236}">
                <a16:creationId xmlns:a16="http://schemas.microsoft.com/office/drawing/2014/main" id="{63FD8381-99C1-EA31-9143-96C64D3CFF08}"/>
              </a:ext>
            </a:extLst>
          </p:cNvPr>
          <p:cNvSpPr txBox="1"/>
          <p:nvPr/>
        </p:nvSpPr>
        <p:spPr>
          <a:xfrm>
            <a:off x="39778" y="5231827"/>
            <a:ext cx="123913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Solicitação</a:t>
            </a:r>
          </a:p>
          <a:p>
            <a:pPr algn="just">
              <a:lnSpc>
                <a:spcPct val="150000"/>
              </a:lnSpc>
            </a:pP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CaixaDeTexto 1">
            <a:extLst>
              <a:ext uri="{FF2B5EF4-FFF2-40B4-BE49-F238E27FC236}">
                <a16:creationId xmlns:a16="http://schemas.microsoft.com/office/drawing/2014/main" id="{945CD529-C76A-DAFB-C1E3-E36D62276AFB}"/>
              </a:ext>
            </a:extLst>
          </p:cNvPr>
          <p:cNvSpPr txBox="1"/>
          <p:nvPr/>
        </p:nvSpPr>
        <p:spPr>
          <a:xfrm>
            <a:off x="39778" y="6032391"/>
            <a:ext cx="123913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Envio</a:t>
            </a:r>
          </a:p>
          <a:p>
            <a:pPr algn="just">
              <a:lnSpc>
                <a:spcPct val="150000"/>
              </a:lnSpc>
            </a:pP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CaixaDeTexto 10">
            <a:extLst>
              <a:ext uri="{FF2B5EF4-FFF2-40B4-BE49-F238E27FC236}">
                <a16:creationId xmlns:a16="http://schemas.microsoft.com/office/drawing/2014/main" id="{03B61F90-1B73-BFBF-9C6A-CCC2159BB422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34" name="CaixaDeTexto 10">
            <a:extLst>
              <a:ext uri="{FF2B5EF4-FFF2-40B4-BE49-F238E27FC236}">
                <a16:creationId xmlns:a16="http://schemas.microsoft.com/office/drawing/2014/main" id="{9E0A3664-AB13-AE8D-01F7-D10115DFD003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36" name="CaixaDeTexto 10">
            <a:extLst>
              <a:ext uri="{FF2B5EF4-FFF2-40B4-BE49-F238E27FC236}">
                <a16:creationId xmlns:a16="http://schemas.microsoft.com/office/drawing/2014/main" id="{0BFAFEC8-EB47-68FB-276D-F845ABF8D4B8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38" name="CaixaDeTexto 10">
            <a:extLst>
              <a:ext uri="{FF2B5EF4-FFF2-40B4-BE49-F238E27FC236}">
                <a16:creationId xmlns:a16="http://schemas.microsoft.com/office/drawing/2014/main" id="{CF3AFB59-1316-F5A3-06D3-879A7A6998AA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40" name="CaixaDeTexto 10">
            <a:extLst>
              <a:ext uri="{FF2B5EF4-FFF2-40B4-BE49-F238E27FC236}">
                <a16:creationId xmlns:a16="http://schemas.microsoft.com/office/drawing/2014/main" id="{2EF246C9-C4FB-BE34-8BDF-D33281398BD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42" name="CaixaDeTexto 10">
            <a:extLst>
              <a:ext uri="{FF2B5EF4-FFF2-40B4-BE49-F238E27FC236}">
                <a16:creationId xmlns:a16="http://schemas.microsoft.com/office/drawing/2014/main" id="{B4F3E2B2-EA73-7033-BEFC-C804A3DBF24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962970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</cp:revision>
  <dcterms:created xsi:type="dcterms:W3CDTF">2026-05-18T17:47:10Z</dcterms:created>
  <dcterms:modified xsi:type="dcterms:W3CDTF">2026-05-18T18:10:30Z</dcterms:modified>
</cp:coreProperties>
</file>