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44" dt="2026-05-18T17:52:29.156"/>
    <p1510:client id="{500DB933-E33D-C64E-46A5-AA127D80DE03}" v="356" dt="2026-05-18T18:13:17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NO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54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1">
            <a:extLst>
              <a:ext uri="{FF2B5EF4-FFF2-40B4-BE49-F238E27FC236}">
                <a16:creationId xmlns:a16="http://schemas.microsoft.com/office/drawing/2014/main" id="{A02C88E3-5A65-CE48-0F0C-EE3484C1DD96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38F07DF-1203-7C47-E1C4-4580B01622C2}"/>
              </a:ext>
            </a:extLst>
          </p:cNvPr>
          <p:cNvSpPr txBox="1"/>
          <p:nvPr/>
        </p:nvSpPr>
        <p:spPr>
          <a:xfrm>
            <a:off x="2104811" y="1148913"/>
            <a:ext cx="8061744" cy="116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tabLst>
                <a:tab pos="1530350" algn="l"/>
                <a:tab pos="1710690" algn="l"/>
              </a:tabLst>
            </a:pPr>
            <a:r>
              <a:rPr lang="pt-BR" sz="12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Início dos trabalhos:			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Até 90 dias após assinatura do contrato e pagamento do sinal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tabLst>
                <a:tab pos="1530350" algn="l"/>
                <a:tab pos="1710690" algn="l"/>
              </a:tabLst>
            </a:pPr>
            <a:r>
              <a:rPr lang="pt-BR" sz="12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Prazo de execução:				</a:t>
            </a:r>
            <a:r>
              <a:rPr lang="pt-BR" sz="1200" err="1">
                <a:latin typeface="Poppins" panose="00000500000000000000" pitchFamily="2" charset="0"/>
                <a:cs typeface="Poppins" panose="00000500000000000000" pitchFamily="2" charset="0"/>
              </a:rPr>
              <a:t>xx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 dias trabalhados (sem ocorrência de chuvas)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tabLst>
                <a:tab pos="1530350" algn="l"/>
                <a:tab pos="1710690" algn="l"/>
              </a:tabLst>
            </a:pPr>
            <a:r>
              <a:rPr lang="pt-BR" sz="12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Validade da proposta:</a:t>
            </a:r>
            <a:r>
              <a:rPr lang="pt-BR" sz="14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15 dias</a:t>
            </a:r>
            <a:endParaRPr lang="pt-BR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CaixaDeTexto 15">
            <a:extLst>
              <a:ext uri="{FF2B5EF4-FFF2-40B4-BE49-F238E27FC236}">
                <a16:creationId xmlns:a16="http://schemas.microsoft.com/office/drawing/2014/main" id="{8F3FB37C-F907-3A06-E2E7-FE2B8BA97046}"/>
              </a:ext>
            </a:extLst>
          </p:cNvPr>
          <p:cNvSpPr txBox="1"/>
          <p:nvPr/>
        </p:nvSpPr>
        <p:spPr>
          <a:xfrm>
            <a:off x="2104811" y="475163"/>
            <a:ext cx="6278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4. Prazos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aixaDeTexto 13">
            <a:extLst>
              <a:ext uri="{FF2B5EF4-FFF2-40B4-BE49-F238E27FC236}">
                <a16:creationId xmlns:a16="http://schemas.microsoft.com/office/drawing/2014/main" id="{FFFD8E35-E1D9-3DE8-70F5-9B13D542D9BF}"/>
              </a:ext>
            </a:extLst>
          </p:cNvPr>
          <p:cNvSpPr txBox="1"/>
          <p:nvPr/>
        </p:nvSpPr>
        <p:spPr>
          <a:xfrm>
            <a:off x="2104810" y="3409042"/>
            <a:ext cx="9723396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t-PT" sz="1200" b="0" i="0">
                <a:effectLst/>
                <a:latin typeface="Poppins" pitchFamily="2" charset="77"/>
                <a:cs typeface="Poppins" pitchFamily="2" charset="77"/>
              </a:rPr>
              <a:t>A Playpiso fornece uma garantia de 5 anos a partir da entrega da obra, assegurando a alta qualidade da mão de obra e dos materiais utilizados, os quais devem manter suas características originais. </a:t>
            </a:r>
          </a:p>
          <a:p>
            <a:pPr algn="just">
              <a:lnSpc>
                <a:spcPct val="200000"/>
              </a:lnSpc>
            </a:pPr>
            <a:endParaRPr lang="pt-PT" sz="1200">
              <a:latin typeface="Poppins" pitchFamily="2" charset="77"/>
              <a:cs typeface="Poppins" pitchFamily="2" charset="77"/>
            </a:endParaRPr>
          </a:p>
          <a:p>
            <a:pPr algn="just">
              <a:lnSpc>
                <a:spcPct val="200000"/>
              </a:lnSpc>
            </a:pPr>
            <a:r>
              <a:rPr lang="pt-PT" sz="1200" b="0" i="0">
                <a:effectLst/>
                <a:latin typeface="Poppins" pitchFamily="2" charset="77"/>
                <a:cs typeface="Poppins" pitchFamily="2" charset="77"/>
              </a:rPr>
              <a:t>No entanto, é importante ressaltar que a </a:t>
            </a:r>
            <a:r>
              <a:rPr lang="pt-PT" sz="1200" b="1" i="0">
                <a:effectLst/>
                <a:latin typeface="Poppins" pitchFamily="2" charset="77"/>
                <a:cs typeface="Poppins" pitchFamily="2" charset="77"/>
              </a:rPr>
              <a:t>garantia não abrange danos causados pelo uso impróprio, falta de manutenção adequada</a:t>
            </a:r>
            <a:r>
              <a:rPr lang="pt-PT" sz="1200" b="0" i="0">
                <a:effectLst/>
                <a:latin typeface="Poppins" pitchFamily="2" charset="77"/>
                <a:cs typeface="Poppins" pitchFamily="2" charset="77"/>
              </a:rPr>
              <a:t> (conforme as instruções descritas no Manual do Proprietário da Quadra), </a:t>
            </a:r>
            <a:r>
              <a:rPr lang="pt-PT" sz="1200" b="1" i="0">
                <a:effectLst/>
                <a:latin typeface="Poppins" pitchFamily="2" charset="77"/>
                <a:cs typeface="Poppins" pitchFamily="2" charset="77"/>
              </a:rPr>
              <a:t>vandalismo,</a:t>
            </a:r>
            <a:r>
              <a:rPr lang="pt-PT" sz="1200" b="0" i="0">
                <a:effectLst/>
                <a:latin typeface="Poppins" pitchFamily="2" charset="77"/>
                <a:cs typeface="Poppins" pitchFamily="2" charset="77"/>
              </a:rPr>
              <a:t> entre outros fatores similares.</a:t>
            </a:r>
            <a:r>
              <a:rPr lang="pt-PT" sz="1200">
                <a:latin typeface="Poppins" pitchFamily="2" charset="77"/>
                <a:cs typeface="Poppins" pitchFamily="2" charset="77"/>
              </a:rPr>
              <a:t>	</a:t>
            </a:r>
          </a:p>
        </p:txBody>
      </p:sp>
      <p:sp>
        <p:nvSpPr>
          <p:cNvPr id="3" name="CaixaDeTexto 15">
            <a:extLst>
              <a:ext uri="{FF2B5EF4-FFF2-40B4-BE49-F238E27FC236}">
                <a16:creationId xmlns:a16="http://schemas.microsoft.com/office/drawing/2014/main" id="{270CBB01-41A6-898C-8414-2FD011EFFC5C}"/>
              </a:ext>
            </a:extLst>
          </p:cNvPr>
          <p:cNvSpPr txBox="1"/>
          <p:nvPr/>
        </p:nvSpPr>
        <p:spPr>
          <a:xfrm>
            <a:off x="2104811" y="2725666"/>
            <a:ext cx="6278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5. Garantia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AA710E-D274-A93C-73D3-91CEAB98846F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 </a:t>
            </a: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60F9E1D7-C959-76A4-BB96-CB48079F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">
            <a:extLst>
              <a:ext uri="{FF2B5EF4-FFF2-40B4-BE49-F238E27FC236}">
                <a16:creationId xmlns:a16="http://schemas.microsoft.com/office/drawing/2014/main" id="{FA19AFE6-67D0-D488-04CA-F3668BB05194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CaixaDeTexto 1">
            <a:extLst>
              <a:ext uri="{FF2B5EF4-FFF2-40B4-BE49-F238E27FC236}">
                <a16:creationId xmlns:a16="http://schemas.microsoft.com/office/drawing/2014/main" id="{649A5A97-3768-2DA0-9CA3-378B02558932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652F06C8-CCCF-4F6E-5746-BF7BC5C0BCF6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25089CC7-97CD-DD64-D3F2-6C7E37911C1B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27" name="CaixaDeTexto 10">
            <a:extLst>
              <a:ext uri="{FF2B5EF4-FFF2-40B4-BE49-F238E27FC236}">
                <a16:creationId xmlns:a16="http://schemas.microsoft.com/office/drawing/2014/main" id="{69B1803F-9FF8-0CC5-18C0-5D6EFA47E710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29" name="CaixaDeTexto 10">
            <a:extLst>
              <a:ext uri="{FF2B5EF4-FFF2-40B4-BE49-F238E27FC236}">
                <a16:creationId xmlns:a16="http://schemas.microsoft.com/office/drawing/2014/main" id="{5AD68F47-EEC6-E1B7-C4A0-CF0E8B9A0060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1" name="CaixaDeTexto 10">
            <a:extLst>
              <a:ext uri="{FF2B5EF4-FFF2-40B4-BE49-F238E27FC236}">
                <a16:creationId xmlns:a16="http://schemas.microsoft.com/office/drawing/2014/main" id="{6BF29999-DBDB-A493-6442-085086CB858C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923CC9E2-3C36-7B9A-BD76-80ACE0CDA941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1900520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2026-05-18T17:47:10Z</dcterms:created>
  <dcterms:modified xsi:type="dcterms:W3CDTF">2026-05-18T18:13:50Z</dcterms:modified>
</cp:coreProperties>
</file>