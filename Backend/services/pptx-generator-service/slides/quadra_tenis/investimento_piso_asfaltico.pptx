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39" dt="2026-05-18T20:24:12.354"/>
    <p1510:client id="{8084F0E1-F6D8-2F86-D115-BB2C5D49C3F2}" v="304" dt="2026-05-19T13:33:02.594"/>
    <p1510:client id="{D5563243-76B2-9201-63D5-347B4BF96AE9}" v="63" dt="2026-05-20T15:57:25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20/05/2026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33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2D4D552-EC24-83D0-8BD6-35E735F6AE61}"/>
              </a:ext>
            </a:extLst>
          </p:cNvPr>
          <p:cNvSpPr txBox="1"/>
          <p:nvPr/>
        </p:nvSpPr>
        <p:spPr>
          <a:xfrm>
            <a:off x="2104811" y="5778935"/>
            <a:ext cx="6279534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>
                <a:latin typeface="Poppins" panose="00000500000000000000" pitchFamily="2" charset="0"/>
                <a:cs typeface="Poppins" panose="00000500000000000000" pitchFamily="2" charset="0"/>
              </a:rPr>
              <a:t>***Valores válidos somente para contratação simultânea dos serviços.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98415AD4-453C-2C61-8074-33765217D21C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970300F-E250-1F22-96B2-E557FEBB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6" name="CaixaDeTexto 10">
            <a:extLst>
              <a:ext uri="{FF2B5EF4-FFF2-40B4-BE49-F238E27FC236}">
                <a16:creationId xmlns:a16="http://schemas.microsoft.com/office/drawing/2014/main" id="{5FB0C76A-92D8-A462-B856-3F8AC6B113A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0EAF9B9D-DDBE-6D68-4267-55B3D2D13971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9E11D68-CFA7-DE20-79FC-ED7EA652C72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321A007E-2704-52F9-6888-BF8B31D713A8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4D0600C1-6FD1-1AC7-5817-6D6042A8FA0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C8C0389-6754-B764-8786-C5E8DF0F58E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4" name="CaixaDeTexto 15">
            <a:extLst>
              <a:ext uri="{FF2B5EF4-FFF2-40B4-BE49-F238E27FC236}">
                <a16:creationId xmlns:a16="http://schemas.microsoft.com/office/drawing/2014/main" id="{CF4E99DB-D5CF-6669-C4F8-61957610BA69}"/>
              </a:ext>
            </a:extLst>
          </p:cNvPr>
          <p:cNvSpPr txBox="1"/>
          <p:nvPr/>
        </p:nvSpPr>
        <p:spPr>
          <a:xfrm>
            <a:off x="2104811" y="322704"/>
            <a:ext cx="390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graphicFrame>
        <p:nvGraphicFramePr>
          <p:cNvPr id="2" name="Tabela 7">
            <a:extLst>
              <a:ext uri="{FF2B5EF4-FFF2-40B4-BE49-F238E27FC236}">
                <a16:creationId xmlns:a16="http://schemas.microsoft.com/office/drawing/2014/main" id="{BDCC2FDF-F159-B141-A8D3-99D5A6844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526541"/>
              </p:ext>
            </p:extLst>
          </p:nvPr>
        </p:nvGraphicFramePr>
        <p:xfrm>
          <a:off x="2144588" y="907479"/>
          <a:ext cx="9677872" cy="5034394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5363652">
                  <a:extLst>
                    <a:ext uri="{9D8B030D-6E8A-4147-A177-3AD203B41FA5}">
                      <a16:colId xmlns:a16="http://schemas.microsoft.com/office/drawing/2014/main" val="1778375940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4254550965"/>
                    </a:ext>
                  </a:extLst>
                </a:gridCol>
                <a:gridCol w="1240921">
                  <a:extLst>
                    <a:ext uri="{9D8B030D-6E8A-4147-A177-3AD203B41FA5}">
                      <a16:colId xmlns:a16="http://schemas.microsoft.com/office/drawing/2014/main" val="3290749713"/>
                    </a:ext>
                  </a:extLst>
                </a:gridCol>
                <a:gridCol w="1874419">
                  <a:extLst>
                    <a:ext uri="{9D8B030D-6E8A-4147-A177-3AD203B41FA5}">
                      <a16:colId xmlns:a16="http://schemas.microsoft.com/office/drawing/2014/main" val="2787835671"/>
                    </a:ext>
                  </a:extLst>
                </a:gridCol>
              </a:tblGrid>
              <a:tr h="41286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Poppins"/>
                          <a:cs typeface="Poppins"/>
                        </a:rPr>
                        <a:t>Descrição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Poppins"/>
                          <a:cs typeface="Poppins"/>
                        </a:rPr>
                        <a:t>Qtde.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Poppins"/>
                          <a:cs typeface="Poppins"/>
                        </a:rPr>
                        <a:t>Unid.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Poppins"/>
                          <a:cs typeface="Poppins"/>
                        </a:rPr>
                        <a:t>Valor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82095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BR" sz="1200" b="0" dirty="0">
                          <a:latin typeface="Poppins"/>
                          <a:cs typeface="Poppins"/>
                        </a:rPr>
                        <a:t>Piso 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– Q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uadr</a:t>
                      </a:r>
                      <a:r>
                        <a:rPr lang="en-US" sz="1200" b="0" dirty="0">
                          <a:latin typeface="Poppins"/>
                          <a:cs typeface="Poppins"/>
                        </a:rPr>
                        <a:t>a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 de Tênis 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– </a:t>
                      </a:r>
                      <a:r>
                        <a:rPr lang="en-BR" sz="1200" b="0" dirty="0">
                          <a:latin typeface="Poppins"/>
                          <a:cs typeface="Poppins"/>
                        </a:rPr>
                        <a:t>Base Asfáltica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 Playpiso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b="0" dirty="0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Piso oficial da CBT – Confederação Brasileira de Tênis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{{area_total_fmt}}</a:t>
                      </a:r>
                      <a:endParaRPr lang="pt-BR" dirty="0">
                        <a:latin typeface="Poppins"/>
                        <a:cs typeface="Poppi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6728657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BR" sz="1200" b="0" dirty="0">
                          <a:latin typeface="Poppins"/>
                          <a:cs typeface="Poppins"/>
                        </a:rPr>
                        <a:t>Acessório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 Tênis  – Postes galvanizados a fogo, catraca, cabo tensor, faixa central e rede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{{quantity}}</a:t>
                      </a:r>
                      <a:endParaRPr kumimoji="0" lang="pt-B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"/>
                        <a:ea typeface="+mn-ea"/>
                        <a:cs typeface="Poppi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54510695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BR" sz="1200" b="0" dirty="0">
                          <a:latin typeface="Poppins"/>
                          <a:cs typeface="Poppins"/>
                        </a:rPr>
                        <a:t>Alambrado</a:t>
                      </a:r>
                      <a:r>
                        <a:rPr lang="pt-BR" sz="1200" b="0">
                          <a:latin typeface="Poppins"/>
                          <a:cs typeface="Poppins"/>
                        </a:rPr>
                        <a:t> – Sistema {{sistema_alambrado}}, tubos galvanizados {{galvanizacao}}, tela revestida em PVC, {{</a:t>
                      </a:r>
                      <a:r>
                        <a:rPr lang="pt-BR" sz="1200" b="0" err="1">
                          <a:latin typeface="Poppins"/>
                          <a:cs typeface="Poppins"/>
                        </a:rPr>
                        <a:t>travamento_descricao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{{area_alambrado}}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3533209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b="0" dirty="0">
                          <a:latin typeface="Poppins"/>
                          <a:cs typeface="Poppins"/>
                        </a:rPr>
                        <a:t>Iluminação – {{quantidade_projetores}} projetores em Led {{potencia_projetores}}W, {{quantidade_postes_iluminacao}} postes galvanizados com altura de {{altura_postes_iluminacao}}m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{{qtde_iluminacao}}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Conjunto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36935852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BR" sz="1200" b="0" dirty="0">
                          <a:latin typeface="Poppins"/>
                          <a:cs typeface="Poppins"/>
                        </a:rPr>
                        <a:t>P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laycushion  </a:t>
                      </a:r>
                      <a:endParaRPr lang="en-BR" sz="1200" b="0" dirty="0">
                        <a:solidFill>
                          <a:srgbClr val="FF0000"/>
                        </a:solidFill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{{area_playcushion}}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R$                 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9500230"/>
                  </a:ext>
                </a:extLst>
              </a:tr>
              <a:tr h="629758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FF0000"/>
                          </a:solidFill>
                          <a:latin typeface="Poppins"/>
                          <a:cs typeface="Poppins"/>
                        </a:rPr>
                        <a:t>VALOR TOTAL </a:t>
                      </a:r>
                      <a:r>
                        <a:rPr lang="pt-BR" sz="1400" b="1" dirty="0">
                          <a:solidFill>
                            <a:srgbClr val="0070C0"/>
                          </a:solidFill>
                          <a:latin typeface="Poppins"/>
                          <a:cs typeface="Poppins"/>
                        </a:rPr>
                        <a:t> </a:t>
                      </a:r>
                      <a:endParaRPr lang="pt-BR" sz="1400" b="1" dirty="0">
                        <a:solidFill>
                          <a:srgbClr val="FF0000"/>
                        </a:solidFill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7109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784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69</cp:revision>
  <dcterms:created xsi:type="dcterms:W3CDTF">2026-05-18T18:29:53Z</dcterms:created>
  <dcterms:modified xsi:type="dcterms:W3CDTF">2026-05-20T15:57:26Z</dcterms:modified>
</cp:coreProperties>
</file>