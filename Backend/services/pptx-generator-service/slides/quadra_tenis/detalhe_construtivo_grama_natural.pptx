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7859E-631C-378B-7DF3-E3C6EE04A4C3}" v="17" dt="2026-05-22T20:51:34.675"/>
    <p1510:client id="{2560B14C-EBDD-9B38-173D-F6F95B3C02DF}" v="269" dt="2026-05-22T18:14:37.730"/>
    <p1510:client id="{31B5D17B-98B8-ADA8-8C82-B1AACC51A3A4}" v="488" dt="2026-05-22T19:07:07.041"/>
    <p1510:client id="{B7738A13-67A9-9F03-D1D7-B5B4FAFE4904}" v="53" dt="2026-05-22T19:15:29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FCD5F-FF63-207F-3B3F-80B41D45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he definitive guide to the kings and queens of the tennis courts - Los  Angeles Times">
            <a:extLst>
              <a:ext uri="{FF2B5EF4-FFF2-40B4-BE49-F238E27FC236}">
                <a16:creationId xmlns:a16="http://schemas.microsoft.com/office/drawing/2014/main" id="{44ABDA34-A793-C741-2669-2D96F1736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" r="5190" b="-175"/>
          <a:stretch/>
        </p:blipFill>
        <p:spPr>
          <a:xfrm>
            <a:off x="2315542" y="914477"/>
            <a:ext cx="2853572" cy="595340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C5D969-081C-9A60-14DD-10891A7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A3E9-C62C-4344-B3D3-1FBC5A21D098}" type="datetime1">
              <a:rPr lang="en-GB" smtClean="0"/>
              <a:t>22/05/2026</a:t>
            </a:fld>
            <a:endParaRPr lang="pt-BR"/>
          </a:p>
        </p:txBody>
      </p:sp>
      <p:sp>
        <p:nvSpPr>
          <p:cNvPr id="5" name="Retângulo 1">
            <a:extLst>
              <a:ext uri="{FF2B5EF4-FFF2-40B4-BE49-F238E27FC236}">
                <a16:creationId xmlns:a16="http://schemas.microsoft.com/office/drawing/2014/main" id="{01A94F04-A04D-41E1-3BA9-D49B49E12F06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D849435B-DEAB-D702-B823-0C68BF546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F3335572-1572-602F-DB93-49E8E4A1957E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5AD96B2A-D6B5-5E7C-4579-2D4962037770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F14B0A72-3F1F-1C64-E295-F4DF343A0F4F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3CE8E98A-2088-290E-8704-AE3D6646917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1A51CBD0-BEC5-F709-E6F2-45FA9FC92413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723BC491-F7FC-92D5-1318-D7A6CCEEC851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0" name="CaixaDeTexto 15">
            <a:extLst>
              <a:ext uri="{FF2B5EF4-FFF2-40B4-BE49-F238E27FC236}">
                <a16:creationId xmlns:a16="http://schemas.microsoft.com/office/drawing/2014/main" id="{CFAF65CC-7BB3-8930-984B-36F4014C2274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Detalhe construtivo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8" name="CaixaDeTexto 17">
            <a:extLst>
              <a:ext uri="{FF2B5EF4-FFF2-40B4-BE49-F238E27FC236}">
                <a16:creationId xmlns:a16="http://schemas.microsoft.com/office/drawing/2014/main" id="{8FAB17DE-6012-D2BF-9FC2-0A50D4871FAB}"/>
              </a:ext>
            </a:extLst>
          </p:cNvPr>
          <p:cNvSpPr txBox="1"/>
          <p:nvPr/>
        </p:nvSpPr>
        <p:spPr>
          <a:xfrm>
            <a:off x="2104810" y="5713005"/>
            <a:ext cx="9684535" cy="9015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>
                <a:solidFill>
                  <a:srgbClr val="FF0000"/>
                </a:solidFill>
                <a:latin typeface="Poppins"/>
                <a:cs typeface="Poppins"/>
              </a:rPr>
              <a:t>Grama PHD </a:t>
            </a:r>
            <a:r>
              <a:rPr lang="pt-BR" sz="1600" b="1" err="1">
                <a:solidFill>
                  <a:srgbClr val="FF0000"/>
                </a:solidFill>
                <a:latin typeface="Poppins"/>
                <a:cs typeface="Poppins"/>
              </a:rPr>
              <a:t>Perennial</a:t>
            </a:r>
            <a:r>
              <a:rPr lang="pt-BR" sz="1600" b="1">
                <a:solidFill>
                  <a:srgbClr val="FF0000"/>
                </a:solidFill>
                <a:latin typeface="Poppins"/>
                <a:cs typeface="Poppins"/>
              </a:rPr>
              <a:t> </a:t>
            </a:r>
            <a:r>
              <a:rPr lang="pt-BR" sz="1600" b="1" err="1">
                <a:solidFill>
                  <a:srgbClr val="FF0000"/>
                </a:solidFill>
                <a:latin typeface="Poppins"/>
                <a:cs typeface="Poppins"/>
              </a:rPr>
              <a:t>Ryegrass</a:t>
            </a:r>
            <a:r>
              <a:rPr lang="pt-BR" sz="1600" b="1">
                <a:solidFill>
                  <a:srgbClr val="FF0000"/>
                </a:solidFill>
                <a:latin typeface="Poppins"/>
                <a:cs typeface="Poppins"/>
              </a:rPr>
              <a:t> – A grama de </a:t>
            </a:r>
            <a:r>
              <a:rPr lang="pt-BR" sz="1600" b="1">
                <a:solidFill>
                  <a:srgbClr val="7030A0"/>
                </a:solidFill>
                <a:latin typeface="Poppins"/>
                <a:cs typeface="Poppins"/>
              </a:rPr>
              <a:t>Wimbledon</a:t>
            </a:r>
          </a:p>
          <a:p>
            <a:pPr algn="just">
              <a:lnSpc>
                <a:spcPct val="150000"/>
              </a:lnSpc>
            </a:pPr>
            <a:r>
              <a:rPr lang="pt-BR" sz="1000">
                <a:latin typeface="Poppins"/>
                <a:cs typeface="Poppins"/>
              </a:rPr>
              <a:t>Grama de folhas finas, de crescimento vertical e coloração verde intensa, que desenvolve melhor em temperaturas mais amenas. É recomendada tanto para semeadura em gramados já existentes, como para formação em áreas novas, principalmente em locais mais úmidos e sombreados</a:t>
            </a:r>
          </a:p>
        </p:txBody>
      </p:sp>
      <p:sp>
        <p:nvSpPr>
          <p:cNvPr id="6" name="CaixaDeTexto 17">
            <a:extLst>
              <a:ext uri="{FF2B5EF4-FFF2-40B4-BE49-F238E27FC236}">
                <a16:creationId xmlns:a16="http://schemas.microsoft.com/office/drawing/2014/main" id="{AE5DEF72-BEB8-E62F-B5FC-73AA6E7599D3}"/>
              </a:ext>
            </a:extLst>
          </p:cNvPr>
          <p:cNvSpPr txBox="1"/>
          <p:nvPr/>
        </p:nvSpPr>
        <p:spPr>
          <a:xfrm>
            <a:off x="6206162" y="4345887"/>
            <a:ext cx="5213388" cy="5317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000">
                <a:solidFill>
                  <a:srgbClr val="000000"/>
                </a:solidFill>
                <a:latin typeface="Poppins"/>
                <a:cs typeface="Poppins"/>
              </a:rPr>
              <a:t>Base de pedrisco de, no mínimo, 15 cm de espessura, com sistema de drenagem</a:t>
            </a:r>
            <a:endParaRPr lang="pt-BR"/>
          </a:p>
        </p:txBody>
      </p:sp>
      <p:sp>
        <p:nvSpPr>
          <p:cNvPr id="7" name="CaixaDeTexto 17">
            <a:extLst>
              <a:ext uri="{FF2B5EF4-FFF2-40B4-BE49-F238E27FC236}">
                <a16:creationId xmlns:a16="http://schemas.microsoft.com/office/drawing/2014/main" id="{E4CDB787-7B93-0675-5FA5-0B3B36DDF6AB}"/>
              </a:ext>
            </a:extLst>
          </p:cNvPr>
          <p:cNvSpPr txBox="1"/>
          <p:nvPr/>
        </p:nvSpPr>
        <p:spPr>
          <a:xfrm>
            <a:off x="6206162" y="3438210"/>
            <a:ext cx="5213388" cy="300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000">
                <a:solidFill>
                  <a:srgbClr val="000000"/>
                </a:solidFill>
                <a:latin typeface="Poppins"/>
                <a:cs typeface="Poppins"/>
              </a:rPr>
              <a:t>Camada de pó de pedra para compactação de, no mínimo 5cm de espessura</a:t>
            </a:r>
            <a:endParaRPr lang="pt-BR"/>
          </a:p>
        </p:txBody>
      </p:sp>
      <p:sp>
        <p:nvSpPr>
          <p:cNvPr id="9" name="CaixaDeTexto 17">
            <a:extLst>
              <a:ext uri="{FF2B5EF4-FFF2-40B4-BE49-F238E27FC236}">
                <a16:creationId xmlns:a16="http://schemas.microsoft.com/office/drawing/2014/main" id="{5FD151EE-3240-A0AE-E2C0-992CA53220D9}"/>
              </a:ext>
            </a:extLst>
          </p:cNvPr>
          <p:cNvSpPr txBox="1"/>
          <p:nvPr/>
        </p:nvSpPr>
        <p:spPr>
          <a:xfrm>
            <a:off x="6206161" y="2485710"/>
            <a:ext cx="5213388" cy="7625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000">
                <a:solidFill>
                  <a:srgbClr val="000000"/>
                </a:solidFill>
                <a:latin typeface="Poppins"/>
                <a:cs typeface="Poppins"/>
              </a:rPr>
              <a:t>Camada de </a:t>
            </a:r>
            <a:r>
              <a:rPr lang="pt-BR" sz="1000" err="1">
                <a:solidFill>
                  <a:srgbClr val="000000"/>
                </a:solidFill>
                <a:latin typeface="Poppins"/>
                <a:cs typeface="Poppins"/>
              </a:rPr>
              <a:t>topsoil</a:t>
            </a:r>
            <a:r>
              <a:rPr lang="pt-BR" sz="1000">
                <a:solidFill>
                  <a:srgbClr val="000000"/>
                </a:solidFill>
                <a:latin typeface="Poppins"/>
                <a:cs typeface="Poppins"/>
              </a:rPr>
              <a:t> de, no mínimo, 20cm de espessura, é aplicada para estabilizar superfície e permitir que a grama cresça corretamente, sem empossamentos</a:t>
            </a:r>
            <a:endParaRPr lang="pt-BR"/>
          </a:p>
        </p:txBody>
      </p:sp>
      <p:sp>
        <p:nvSpPr>
          <p:cNvPr id="11" name="CaixaDeTexto 17">
            <a:extLst>
              <a:ext uri="{FF2B5EF4-FFF2-40B4-BE49-F238E27FC236}">
                <a16:creationId xmlns:a16="http://schemas.microsoft.com/office/drawing/2014/main" id="{6AA039A3-73C9-3DC8-C543-AE662FC8E012}"/>
              </a:ext>
            </a:extLst>
          </p:cNvPr>
          <p:cNvSpPr txBox="1"/>
          <p:nvPr/>
        </p:nvSpPr>
        <p:spPr>
          <a:xfrm>
            <a:off x="6206162" y="1432357"/>
            <a:ext cx="5213389" cy="5434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000">
                <a:latin typeface="Poppins"/>
                <a:cs typeface="Poppins"/>
              </a:rPr>
              <a:t>Superfície de grama natural, composta pela espécie </a:t>
            </a:r>
            <a:r>
              <a:rPr lang="pt-BR" sz="1000" err="1">
                <a:latin typeface="Poppins"/>
                <a:cs typeface="Poppins"/>
              </a:rPr>
              <a:t>Prennial</a:t>
            </a:r>
            <a:r>
              <a:rPr lang="pt-BR" sz="1000">
                <a:latin typeface="Poppins"/>
                <a:cs typeface="Poppins"/>
              </a:rPr>
              <a:t> </a:t>
            </a:r>
            <a:r>
              <a:rPr lang="pt-BR" sz="1000" err="1">
                <a:latin typeface="Poppins"/>
                <a:cs typeface="Poppins"/>
              </a:rPr>
              <a:t>Ryegrass</a:t>
            </a:r>
            <a:r>
              <a:rPr lang="pt-BR" sz="1000">
                <a:latin typeface="Poppins"/>
                <a:cs typeface="Poppins"/>
              </a:rPr>
              <a:t>, com altura de 8mm - 9mm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8F6482B0-D2F9-9A2B-4002-D9A36B11A891}"/>
              </a:ext>
            </a:extLst>
          </p:cNvPr>
          <p:cNvCxnSpPr/>
          <p:nvPr/>
        </p:nvCxnSpPr>
        <p:spPr>
          <a:xfrm>
            <a:off x="5286757" y="1632669"/>
            <a:ext cx="803667" cy="189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D98B821-3363-FA3D-3FAA-A7A7CBE1F32C}"/>
              </a:ext>
            </a:extLst>
          </p:cNvPr>
          <p:cNvCxnSpPr>
            <a:cxnSpLocks/>
          </p:cNvCxnSpPr>
          <p:nvPr/>
        </p:nvCxnSpPr>
        <p:spPr>
          <a:xfrm>
            <a:off x="5286757" y="2910139"/>
            <a:ext cx="803667" cy="189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38CE6A7-F7A7-BEC6-2E57-BE8BAD6507AB}"/>
              </a:ext>
            </a:extLst>
          </p:cNvPr>
          <p:cNvCxnSpPr>
            <a:cxnSpLocks/>
          </p:cNvCxnSpPr>
          <p:nvPr/>
        </p:nvCxnSpPr>
        <p:spPr>
          <a:xfrm>
            <a:off x="5286756" y="3593697"/>
            <a:ext cx="803667" cy="189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DD7B110-F349-E1F7-471B-92B038A4D553}"/>
              </a:ext>
            </a:extLst>
          </p:cNvPr>
          <p:cNvCxnSpPr>
            <a:cxnSpLocks/>
          </p:cNvCxnSpPr>
          <p:nvPr/>
        </p:nvCxnSpPr>
        <p:spPr>
          <a:xfrm>
            <a:off x="5286757" y="4546198"/>
            <a:ext cx="803667" cy="189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1904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117</cp:revision>
  <dcterms:created xsi:type="dcterms:W3CDTF">2026-05-22T17:34:16Z</dcterms:created>
  <dcterms:modified xsi:type="dcterms:W3CDTF">2026-05-22T20:51:57Z</dcterms:modified>
</cp:coreProperties>
</file>