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411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D7859E-631C-378B-7DF3-E3C6EE04A4C3}" v="15" dt="2026-05-22T20:51:11.220"/>
    <p1510:client id="{2560B14C-EBDD-9B38-173D-F6F95B3C02DF}" v="269" dt="2026-05-22T18:14:37.730"/>
    <p1510:client id="{31B5D17B-98B8-ADA8-8C82-B1AACC51A3A4}" v="488" dt="2026-05-22T19:07:07.041"/>
    <p1510:client id="{B7738A13-67A9-9F03-D1D7-B5B4FAFE4904}" v="53" dt="2026-05-22T19:15:29.5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AEE5A6-6E38-4824-A016-A56169B8FED6}" type="datetimeFigureOut">
              <a:t>22/05/2026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FC023D-0F34-4506-9340-C46A1836566C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915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10812-4243-C728-DA13-7990240EC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36A6094-E63B-07C6-A41F-6D39DB6259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590F3FD-52C6-5A63-8C75-89B2A8D4A4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/>
              <a:t>MEXER APENAS NAS INFORMAÇÕES EM PRETO,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/>
            </a:br>
            <a:r>
              <a:rPr lang="en-BR"/>
              <a:t>NÃO DESCONFIGURAR NADA!</a:t>
            </a:r>
            <a:br>
              <a:rPr lang="en-BR"/>
            </a:br>
            <a:r>
              <a:rPr lang="en-BR"/>
              <a:t>]</a:t>
            </a:r>
          </a:p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F098F8-6720-D08D-07B3-B54C5EF966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C740D-A4AF-9C40-8FFB-99FBBDFCF03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9125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26EF1-A8E2-B66A-A55E-CDFB6CA85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A35D4D7-3228-7BF2-A262-2A1B8B79D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4811" y="907479"/>
            <a:ext cx="9622732" cy="4549892"/>
          </a:xfrm>
        </p:spPr>
        <p:txBody>
          <a:bodyPr vert="horz" lIns="91440" tIns="45720" rIns="91440" bIns="45720" rtlCol="0" anchor="t">
            <a:noAutofit/>
          </a:bodyPr>
          <a:lstStyle/>
          <a:p>
            <a:pPr lvl="0"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>
                <a:effectLst/>
                <a:latin typeface="Poppins"/>
                <a:ea typeface="Times New Roman" panose="02020603050405020304" pitchFamily="18" charset="0"/>
                <a:cs typeface="Poppins"/>
              </a:rPr>
              <a:t>Formação de mureta de alvenaria em todo o perímetro da quadra;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>
                <a:latin typeface="Poppins"/>
                <a:ea typeface="Times New Roman" panose="02020603050405020304" pitchFamily="18" charset="0"/>
                <a:cs typeface="Poppins"/>
              </a:rPr>
              <a:t>Execução de base drenante;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>
                <a:effectLst/>
                <a:latin typeface="Poppins"/>
                <a:ea typeface="Times New Roman" panose="02020603050405020304" pitchFamily="18" charset="0"/>
                <a:cs typeface="Poppins"/>
              </a:rPr>
              <a:t>Aplicação de camada de</a:t>
            </a:r>
            <a:r>
              <a:rPr lang="pt-BR" sz="1200">
                <a:latin typeface="Poppins"/>
                <a:ea typeface="Times New Roman" panose="02020603050405020304" pitchFamily="18" charset="0"/>
                <a:cs typeface="Poppins"/>
              </a:rPr>
              <a:t> pó de pedra</a:t>
            </a:r>
            <a:r>
              <a:rPr lang="pt-BR" sz="1200">
                <a:effectLst/>
                <a:latin typeface="Poppins"/>
                <a:ea typeface="Times New Roman" panose="02020603050405020304" pitchFamily="18" charset="0"/>
                <a:cs typeface="Poppins"/>
              </a:rPr>
              <a:t>;</a:t>
            </a:r>
            <a:endParaRPr lang="pt-BR"/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>
                <a:latin typeface="Poppins"/>
                <a:ea typeface="Times New Roman" panose="02020603050405020304" pitchFamily="18" charset="0"/>
                <a:cs typeface="Poppins"/>
              </a:rPr>
              <a:t>Aplicação de camada de </a:t>
            </a:r>
            <a:r>
              <a:rPr lang="pt-BR" sz="1200" err="1">
                <a:latin typeface="Poppins"/>
                <a:ea typeface="Times New Roman" panose="02020603050405020304" pitchFamily="18" charset="0"/>
                <a:cs typeface="Poppins"/>
              </a:rPr>
              <a:t>topsoil</a:t>
            </a:r>
            <a:r>
              <a:rPr lang="pt-BR" sz="1200">
                <a:latin typeface="Poppins"/>
                <a:ea typeface="Times New Roman" panose="02020603050405020304" pitchFamily="18" charset="0"/>
                <a:cs typeface="Poppins"/>
              </a:rPr>
              <a:t>;</a:t>
            </a:r>
          </a:p>
          <a:p>
            <a:pPr lvl="0"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>
                <a:effectLst/>
                <a:latin typeface="Poppins"/>
                <a:ea typeface="Times New Roman" panose="02020603050405020304" pitchFamily="18" charset="0"/>
                <a:cs typeface="Poppins"/>
              </a:rPr>
              <a:t>Execução de mistura adequada de </a:t>
            </a:r>
            <a:r>
              <a:rPr lang="pt-BR" sz="1200">
                <a:latin typeface="Poppins"/>
                <a:ea typeface="Times New Roman" panose="02020603050405020304" pitchFamily="18" charset="0"/>
                <a:cs typeface="Poppins"/>
              </a:rPr>
              <a:t>adubo</a:t>
            </a:r>
            <a:r>
              <a:rPr lang="pt-BR" sz="1200">
                <a:effectLst/>
                <a:latin typeface="Poppins"/>
                <a:ea typeface="Times New Roman" panose="02020603050405020304" pitchFamily="18" charset="0"/>
                <a:cs typeface="Poppins"/>
              </a:rPr>
              <a:t>;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>
                <a:effectLst/>
                <a:latin typeface="Poppins"/>
                <a:ea typeface="Times New Roman" panose="02020603050405020304" pitchFamily="18" charset="0"/>
                <a:cs typeface="Poppins"/>
              </a:rPr>
              <a:t>Aplicação </a:t>
            </a:r>
            <a:r>
              <a:rPr lang="pt-BR" sz="1200">
                <a:latin typeface="Poppins"/>
                <a:ea typeface="Times New Roman" panose="02020603050405020304" pitchFamily="18" charset="0"/>
                <a:cs typeface="Poppins"/>
              </a:rPr>
              <a:t>mistura específica para grama natural;</a:t>
            </a:r>
            <a:endParaRPr lang="pt-BR" sz="1200">
              <a:effectLst/>
              <a:latin typeface="Poppins" panose="00000500000000000000" pitchFamily="2" charset="0"/>
              <a:ea typeface="Times New Roman" panose="02020603050405020304" pitchFamily="18" charset="0"/>
              <a:cs typeface="Poppins" panose="00000500000000000000" pitchFamily="2" charset="0"/>
            </a:endParaRP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>
                <a:effectLst/>
                <a:latin typeface="Poppins"/>
                <a:ea typeface="Times New Roman" panose="02020603050405020304" pitchFamily="18" charset="0"/>
                <a:cs typeface="Poppins"/>
              </a:rPr>
              <a:t>Execução de nivelamento com equipamentos mecânicos</a:t>
            </a:r>
            <a:r>
              <a:rPr lang="pt-BR" sz="1200">
                <a:latin typeface="Poppins"/>
                <a:ea typeface="Times New Roman" panose="02020603050405020304" pitchFamily="18" charset="0"/>
                <a:cs typeface="Poppins"/>
              </a:rPr>
              <a:t> e manuais ao longo do período de crescimento da grama</a:t>
            </a:r>
            <a:r>
              <a:rPr lang="pt-BR" sz="1200">
                <a:effectLst/>
                <a:latin typeface="Poppins"/>
                <a:ea typeface="Times New Roman" panose="02020603050405020304" pitchFamily="18" charset="0"/>
                <a:cs typeface="Poppins"/>
              </a:rPr>
              <a:t>;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>
                <a:effectLst/>
                <a:latin typeface="Poppins"/>
                <a:ea typeface="Times New Roman" panose="02020603050405020304" pitchFamily="18" charset="0"/>
                <a:cs typeface="Poppins"/>
              </a:rPr>
              <a:t>Após compactação deve-se abrir pequenas valas e executar sapatas de concreto nos locais onde serão fixados os postes de sustentação da rede de tênis;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>
                <a:latin typeface="Poppins"/>
                <a:ea typeface="Times New Roman" panose="02020603050405020304" pitchFamily="18" charset="0"/>
                <a:cs typeface="Poppins"/>
              </a:rPr>
              <a:t>Execução da pintura das linhas demarcatórias da quadra</a:t>
            </a:r>
            <a:r>
              <a:rPr lang="pt-BR" sz="1200">
                <a:effectLst/>
                <a:latin typeface="Poppins"/>
                <a:ea typeface="Times New Roman" panose="02020603050405020304" pitchFamily="18" charset="0"/>
                <a:cs typeface="Poppins"/>
              </a:rPr>
              <a:t>;</a:t>
            </a:r>
            <a:r>
              <a:rPr lang="pt-BR" sz="1200">
                <a:latin typeface="Poppins"/>
                <a:ea typeface="Times New Roman" panose="02020603050405020304" pitchFamily="18" charset="0"/>
                <a:cs typeface="Poppins"/>
              </a:rPr>
              <a:t> e</a:t>
            </a:r>
            <a:endParaRPr lang="pt-BR" sz="1200">
              <a:effectLst/>
              <a:latin typeface="Poppins"/>
              <a:ea typeface="Times New Roman" panose="02020603050405020304" pitchFamily="18" charset="0"/>
              <a:cs typeface="Poppins"/>
            </a:endParaRP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>
                <a:latin typeface="Poppins"/>
                <a:ea typeface="Times New Roman" panose="02020603050405020304" pitchFamily="18" charset="0"/>
                <a:cs typeface="Poppins"/>
              </a:rPr>
              <a:t>Manutenção até a entrega da quadra em condições de jogo.</a:t>
            </a:r>
            <a:endParaRPr lang="pt-BR" sz="1200">
              <a:effectLst/>
              <a:latin typeface="Poppins" panose="00000500000000000000" pitchFamily="2" charset="0"/>
              <a:ea typeface="Times New Roman" panose="02020603050405020304" pitchFamily="18" charset="0"/>
              <a:cs typeface="Poppins" panose="00000500000000000000" pitchFamily="2" charset="0"/>
            </a:endParaRPr>
          </a:p>
        </p:txBody>
      </p:sp>
      <p:sp>
        <p:nvSpPr>
          <p:cNvPr id="4" name="Retângulo 1">
            <a:extLst>
              <a:ext uri="{FF2B5EF4-FFF2-40B4-BE49-F238E27FC236}">
                <a16:creationId xmlns:a16="http://schemas.microsoft.com/office/drawing/2014/main" id="{20D7220E-AFB1-2B4F-961A-725CF8D2AAA4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6CCBD551-CA30-8F9B-24D1-7AFFC6065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4" name="CaixaDeTexto 10">
            <a:extLst>
              <a:ext uri="{FF2B5EF4-FFF2-40B4-BE49-F238E27FC236}">
                <a16:creationId xmlns:a16="http://schemas.microsoft.com/office/drawing/2014/main" id="{DE648848-79F4-9B25-9B0C-A422FAB141DD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15" name="CaixaDeTexto 10">
            <a:extLst>
              <a:ext uri="{FF2B5EF4-FFF2-40B4-BE49-F238E27FC236}">
                <a16:creationId xmlns:a16="http://schemas.microsoft.com/office/drawing/2014/main" id="{56BE39D2-833B-A67E-074B-54BC8DC838AD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16" name="CaixaDeTexto 10">
            <a:extLst>
              <a:ext uri="{FF2B5EF4-FFF2-40B4-BE49-F238E27FC236}">
                <a16:creationId xmlns:a16="http://schemas.microsoft.com/office/drawing/2014/main" id="{DCBBDAEC-1C0C-43BB-1569-A37AAA9A5FC1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17" name="CaixaDeTexto 10">
            <a:extLst>
              <a:ext uri="{FF2B5EF4-FFF2-40B4-BE49-F238E27FC236}">
                <a16:creationId xmlns:a16="http://schemas.microsoft.com/office/drawing/2014/main" id="{66099163-79E5-B240-E0F4-B8AADDE170B2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18" name="CaixaDeTexto 10">
            <a:extLst>
              <a:ext uri="{FF2B5EF4-FFF2-40B4-BE49-F238E27FC236}">
                <a16:creationId xmlns:a16="http://schemas.microsoft.com/office/drawing/2014/main" id="{DEA286D2-E5B8-E6F0-9094-43C5A0794E4D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7D8AA8D2-3BD3-FAEC-064E-01B4482382F7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  <p:sp>
        <p:nvSpPr>
          <p:cNvPr id="25" name="CaixaDeTexto 15">
            <a:extLst>
              <a:ext uri="{FF2B5EF4-FFF2-40B4-BE49-F238E27FC236}">
                <a16:creationId xmlns:a16="http://schemas.microsoft.com/office/drawing/2014/main" id="{9F604A39-DA8E-9BF7-FA14-6DD912897D77}"/>
              </a:ext>
            </a:extLst>
          </p:cNvPr>
          <p:cNvSpPr txBox="1"/>
          <p:nvPr/>
        </p:nvSpPr>
        <p:spPr>
          <a:xfrm>
            <a:off x="2104811" y="322704"/>
            <a:ext cx="5210820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pt-BR" sz="3200" b="1">
                <a:solidFill>
                  <a:srgbClr val="FF0000"/>
                </a:solidFill>
                <a:latin typeface="Poppins Bold"/>
                <a:cs typeface="Poppins Bold"/>
              </a:rPr>
              <a:t>Piso de Grama Natural</a:t>
            </a:r>
            <a:endParaRPr lang="pt-BR" sz="2800" b="1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39306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116</cp:revision>
  <dcterms:created xsi:type="dcterms:W3CDTF">2026-05-22T17:34:16Z</dcterms:created>
  <dcterms:modified xsi:type="dcterms:W3CDTF">2026-05-22T20:51:26Z</dcterms:modified>
</cp:coreProperties>
</file>