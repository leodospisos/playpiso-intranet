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401" r:id="rId2"/>
    <p:sldId id="402" r:id="rId3"/>
    <p:sldId id="375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0B14C-EBDD-9B38-173D-F6F95B3C02DF}" v="6" dt="2026-05-22T17:56:18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5852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9149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352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E8BBABD8-3F4F-E03C-C504-BE4CF82B4A21}"/>
              </a:ext>
            </a:extLst>
          </p:cNvPr>
          <p:cNvSpPr/>
          <p:nvPr/>
        </p:nvSpPr>
        <p:spPr>
          <a:xfrm>
            <a:off x="0" y="0"/>
            <a:ext cx="1891635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3DD7EF7E-1249-1817-BEC7-4C11D867B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74" y="191783"/>
            <a:ext cx="806652" cy="777243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C669B68-9D5D-B3BA-C426-AC5CBBB329A3}"/>
              </a:ext>
            </a:extLst>
          </p:cNvPr>
          <p:cNvSpPr txBox="1"/>
          <p:nvPr/>
        </p:nvSpPr>
        <p:spPr>
          <a:xfrm>
            <a:off x="2104807" y="170099"/>
            <a:ext cx="98157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Grama Sintética  Limonta  TXT</a:t>
            </a:r>
            <a:endParaRPr lang="pt-BR" sz="3200" b="1" dirty="0">
              <a:solidFill>
                <a:srgbClr val="0070C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8" name="CaixaDeTexto 10">
            <a:extLst>
              <a:ext uri="{FF2B5EF4-FFF2-40B4-BE49-F238E27FC236}">
                <a16:creationId xmlns:a16="http://schemas.microsoft.com/office/drawing/2014/main" id="{B7DED548-1732-7FB0-5242-074576F3A9B1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2" name="CaixaDeTexto 10">
            <a:extLst>
              <a:ext uri="{FF2B5EF4-FFF2-40B4-BE49-F238E27FC236}">
                <a16:creationId xmlns:a16="http://schemas.microsoft.com/office/drawing/2014/main" id="{70439244-35C5-C7F1-5187-C912028748B8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3" name="CaixaDeTexto 10">
            <a:extLst>
              <a:ext uri="{FF2B5EF4-FFF2-40B4-BE49-F238E27FC236}">
                <a16:creationId xmlns:a16="http://schemas.microsoft.com/office/drawing/2014/main" id="{DD77FD56-58F6-2C5D-1120-DB0BEFB78475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4" name="CaixaDeTexto 10">
            <a:extLst>
              <a:ext uri="{FF2B5EF4-FFF2-40B4-BE49-F238E27FC236}">
                <a16:creationId xmlns:a16="http://schemas.microsoft.com/office/drawing/2014/main" id="{2A0E45C4-334D-05CD-8E54-E8AF4A812CA7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A4B51A1F-21D9-69EF-EEDB-9FD0FB3CD0B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FD389798-2B64-4D14-5C87-A83F442F0FEA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4360D17-6F00-EEDF-529E-34040DEA10E5}"/>
              </a:ext>
            </a:extLst>
          </p:cNvPr>
          <p:cNvSpPr txBox="1"/>
          <p:nvPr/>
        </p:nvSpPr>
        <p:spPr>
          <a:xfrm>
            <a:off x="2104806" y="832036"/>
            <a:ext cx="9815797" cy="440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400" b="1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Padeliamo</a:t>
            </a:r>
            <a:r>
              <a:rPr lang="pt-BR" sz="1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b="1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TXT</a:t>
            </a:r>
            <a:r>
              <a:rPr lang="pt-BR" sz="1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 </a:t>
            </a:r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uma grama sintética </a:t>
            </a:r>
            <a:r>
              <a:rPr lang="pt-BR" sz="1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muito densa, com fibras </a:t>
            </a:r>
            <a:r>
              <a:rPr lang="pt-BR" sz="1400" b="0" i="0" dirty="0" err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monofilamentares</a:t>
            </a:r>
            <a:r>
              <a:rPr lang="pt-BR" sz="1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texturizadas feitas de 100% polietileno (PE) com uma espessura de 200 mícrons, lubrificada, para minimizar o risco de abrasão em caso de escorregamento durante o jogo;</a:t>
            </a:r>
          </a:p>
          <a:p>
            <a:pPr marL="285750" indent="-285750" algn="just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 forma especial proporciona alta memória elástica, garantindo o retorno imediato das fibras a uma posição vertical após a caminhada;</a:t>
            </a:r>
          </a:p>
          <a:p>
            <a:pPr marL="285750" indent="-285750" algn="just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Garantia de uma superfície de jogo estável com um equilíbrio perfeito entre aderência e deslize, quique de bola perfeito e uma torção e aderência naturais do pé;</a:t>
            </a:r>
          </a:p>
          <a:p>
            <a:pPr marL="285750" indent="-285750" algn="just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4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 produto certo para quem procura um jogo rápido com a máxima segurança.</a:t>
            </a:r>
          </a:p>
        </p:txBody>
      </p:sp>
    </p:spTree>
    <p:extLst>
      <p:ext uri="{BB962C8B-B14F-4D97-AF65-F5344CB8AC3E}">
        <p14:creationId xmlns:p14="http://schemas.microsoft.com/office/powerpoint/2010/main" val="3559478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E8BBABD8-3F4F-E03C-C504-BE4CF82B4A21}"/>
              </a:ext>
            </a:extLst>
          </p:cNvPr>
          <p:cNvSpPr/>
          <p:nvPr/>
        </p:nvSpPr>
        <p:spPr>
          <a:xfrm>
            <a:off x="0" y="0"/>
            <a:ext cx="1891635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3DD7EF7E-1249-1817-BEC7-4C11D867B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74" y="191783"/>
            <a:ext cx="806652" cy="777243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2BB2EFA-029E-9A46-F944-7CA81818B385}"/>
              </a:ext>
            </a:extLst>
          </p:cNvPr>
          <p:cNvSpPr txBox="1"/>
          <p:nvPr/>
        </p:nvSpPr>
        <p:spPr>
          <a:xfrm>
            <a:off x="1988757" y="750424"/>
            <a:ext cx="10163465" cy="555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Grama Sintética </a:t>
            </a:r>
            <a:r>
              <a:rPr lang="pt-BR" sz="1400" dirty="0" err="1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Padeliamo</a:t>
            </a: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 TXT;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P</a:t>
            </a: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olietileno </a:t>
            </a:r>
            <a:r>
              <a:rPr lang="pt-BR" sz="1400" dirty="0" err="1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TenCate</a:t>
            </a: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 </a:t>
            </a:r>
            <a:r>
              <a:rPr lang="pt-BR" sz="1400" dirty="0" err="1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Thiolon</a:t>
            </a:r>
            <a:r>
              <a:rPr lang="pt-BR" sz="1400" dirty="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;</a:t>
            </a:r>
            <a:endParaRPr lang="pt-BR" sz="1400" dirty="0">
              <a:effectLst/>
              <a:latin typeface="Poppins "/>
              <a:ea typeface="Times New Roman" panose="02020603050405020304" pitchFamily="18" charset="0"/>
              <a:cs typeface="Poppins Light" panose="00000400000000000000" pitchFamily="2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M</a:t>
            </a: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onofilamento, texturizada;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Espessura de </a:t>
            </a: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11mm;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 7.500 </a:t>
            </a:r>
            <a:r>
              <a:rPr lang="pt-BR" sz="1400" dirty="0" err="1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dtex</a:t>
            </a:r>
            <a:r>
              <a:rPr lang="pt-BR" sz="1400" dirty="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;</a:t>
            </a:r>
            <a:endParaRPr lang="pt-BR" sz="1400" dirty="0">
              <a:effectLst/>
              <a:latin typeface="Poppins "/>
              <a:ea typeface="Times New Roman" panose="02020603050405020304" pitchFamily="18" charset="0"/>
              <a:cs typeface="Poppins Light" panose="00000400000000000000" pitchFamily="2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 50.200 pontos/m²;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Incluso cola em poliuretano, areia de sílica;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Cor azul e linhas brancas de material com as mesmas especificações;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05 anos de garantia;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Produto Homologado pela Federação Espanhola de Padel, uma homologação que garante parâmetros de desempenho, jogabilidade e proteção do atleta de acordo com a norma </a:t>
            </a:r>
            <a:r>
              <a:rPr lang="pt-BR" sz="1400" b="1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UNE147301: 2018;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Todos os produtos da gama </a:t>
            </a:r>
            <a:r>
              <a:rPr lang="pt-BR" sz="1400" dirty="0" err="1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Padeliamo</a:t>
            </a: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 obtiveram o certificado de reação ao fogo de acordo com a </a:t>
            </a:r>
            <a:r>
              <a:rPr lang="pt-BR" sz="1400" b="1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UNI EN 13501-1:2019.</a:t>
            </a:r>
            <a:endParaRPr lang="pt-BR" sz="1400" b="1" dirty="0">
              <a:latin typeface="Poppins "/>
              <a:ea typeface="Times New Roman" panose="02020603050405020304" pitchFamily="18" charset="0"/>
              <a:cs typeface="Poppins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pt-BR" sz="1400" b="1" dirty="0">
              <a:latin typeface="Poppins "/>
              <a:ea typeface="Times New Roman" panose="02020603050405020304" pitchFamily="18" charset="0"/>
              <a:cs typeface="Poppins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BR" sz="1400" b="1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	Altura do filamento:</a:t>
            </a: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 11 mm			</a:t>
            </a:r>
            <a:r>
              <a:rPr lang="pt-BR" sz="1400" b="1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Pontos /m²: </a:t>
            </a: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50.200</a:t>
            </a:r>
          </a:p>
          <a:p>
            <a:pPr algn="just">
              <a:lnSpc>
                <a:spcPct val="150000"/>
              </a:lnSpc>
            </a:pPr>
            <a:r>
              <a:rPr lang="pt-BR" sz="1400" b="1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	</a:t>
            </a:r>
            <a:r>
              <a:rPr lang="pt-BR" sz="1400" b="1" dirty="0" err="1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Dtex</a:t>
            </a:r>
            <a:r>
              <a:rPr lang="pt-BR" sz="1400" b="1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:</a:t>
            </a: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 </a:t>
            </a:r>
            <a:r>
              <a:rPr lang="pt-BR" sz="1400" dirty="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7500</a:t>
            </a: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 </a:t>
            </a:r>
            <a:r>
              <a:rPr lang="pt-BR" sz="1400" dirty="0" err="1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Dtex</a:t>
            </a: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				</a:t>
            </a:r>
            <a:r>
              <a:rPr lang="pt-BR" sz="1400" b="1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Enchimento:</a:t>
            </a: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 Areia de sílica		</a:t>
            </a:r>
          </a:p>
          <a:p>
            <a:pPr algn="just">
              <a:lnSpc>
                <a:spcPct val="150000"/>
              </a:lnSpc>
            </a:pPr>
            <a:r>
              <a:rPr lang="pt-BR" sz="1400" b="1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	Composição do fio</a:t>
            </a:r>
            <a:r>
              <a:rPr lang="pt-BR" sz="14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: 100% polietileno</a:t>
            </a:r>
          </a:p>
        </p:txBody>
      </p:sp>
      <p:sp>
        <p:nvSpPr>
          <p:cNvPr id="8" name="CaixaDeTexto 10">
            <a:extLst>
              <a:ext uri="{FF2B5EF4-FFF2-40B4-BE49-F238E27FC236}">
                <a16:creationId xmlns:a16="http://schemas.microsoft.com/office/drawing/2014/main" id="{B7DED548-1732-7FB0-5242-074576F3A9B1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2" name="CaixaDeTexto 10">
            <a:extLst>
              <a:ext uri="{FF2B5EF4-FFF2-40B4-BE49-F238E27FC236}">
                <a16:creationId xmlns:a16="http://schemas.microsoft.com/office/drawing/2014/main" id="{70439244-35C5-C7F1-5187-C912028748B8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3" name="CaixaDeTexto 10">
            <a:extLst>
              <a:ext uri="{FF2B5EF4-FFF2-40B4-BE49-F238E27FC236}">
                <a16:creationId xmlns:a16="http://schemas.microsoft.com/office/drawing/2014/main" id="{DD77FD56-58F6-2C5D-1120-DB0BEFB78475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4" name="CaixaDeTexto 10">
            <a:extLst>
              <a:ext uri="{FF2B5EF4-FFF2-40B4-BE49-F238E27FC236}">
                <a16:creationId xmlns:a16="http://schemas.microsoft.com/office/drawing/2014/main" id="{2A0E45C4-334D-05CD-8E54-E8AF4A812CA7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A4B51A1F-21D9-69EF-EEDB-9FD0FB3CD0B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FD389798-2B64-4D14-5C87-A83F442F0FEA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5EF2772-5518-068A-5B5D-B313D4C71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9976" y="165650"/>
            <a:ext cx="3234902" cy="205376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7658777-6B1C-A762-D423-A4CE7A4D38AE}"/>
              </a:ext>
            </a:extLst>
          </p:cNvPr>
          <p:cNvSpPr txBox="1"/>
          <p:nvPr/>
        </p:nvSpPr>
        <p:spPr>
          <a:xfrm>
            <a:off x="1891635" y="78657"/>
            <a:ext cx="98157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Grama Sintética  Limonta  TXT</a:t>
            </a:r>
            <a:endParaRPr lang="pt-BR" sz="3200" b="1" dirty="0">
              <a:solidFill>
                <a:srgbClr val="0070C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387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1914524" y="6074"/>
            <a:ext cx="100000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Estrutura de Vidro – Padel</a:t>
            </a:r>
            <a:endParaRPr lang="pt-BR" sz="2800" b="1" dirty="0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D5CB4F6-742C-9581-C181-3EFD22B49E24}"/>
              </a:ext>
            </a:extLst>
          </p:cNvPr>
          <p:cNvSpPr txBox="1"/>
          <p:nvPr/>
        </p:nvSpPr>
        <p:spPr>
          <a:xfrm>
            <a:off x="1914524" y="590849"/>
            <a:ext cx="9736860" cy="6714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dirty="0">
                <a:latin typeface="Poppins "/>
                <a:cs typeface="Poppins Light" panose="00000400000000000000" pitchFamily="2" charset="0"/>
              </a:rPr>
              <a:t>Estrutura tubular com altura de 04 m nos fundos e laterais; 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pt-BR" sz="1000" dirty="0">
              <a:latin typeface="Poppins "/>
              <a:cs typeface="Poppins Light" panose="00000400000000000000" pitchFamily="2" charset="0"/>
            </a:endParaRP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dirty="0">
                <a:latin typeface="Poppins "/>
                <a:cs typeface="Poppins Light" panose="00000400000000000000" pitchFamily="2" charset="0"/>
              </a:rPr>
              <a:t>Suportes metálicos (sapatas de aço) fixados ao concreto da viga baldrame, executada pelo cliente, com chumbadores CBA 5/16”x3.1/4”; 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pt-BR" sz="1000" dirty="0">
              <a:latin typeface="Poppins "/>
              <a:cs typeface="Poppins Light" panose="00000400000000000000" pitchFamily="2" charset="0"/>
            </a:endParaRP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dirty="0">
                <a:latin typeface="Poppins "/>
                <a:cs typeface="Poppins Light" panose="00000400000000000000" pitchFamily="2" charset="0"/>
              </a:rPr>
              <a:t> Estrutura metálica de cercamento para vidro temperado de 12 mm de espessura (18 chapas de 1995x2995 mm) em tubos 50x100x2 mm e 50x100x3 mm, tubos 30x70x1,55 mm, 20x30x1,55 mm e barras chatas 3’X1/8” na parte telada, aço galvanizado com pintura eletrostática, confeccionada em módulos parafusados entre si;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pt-BR" sz="1000" dirty="0">
              <a:latin typeface="Poppins "/>
              <a:cs typeface="Poppins Light" panose="00000400000000000000" pitchFamily="2" charset="0"/>
            </a:endParaRP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dirty="0">
                <a:latin typeface="Poppins "/>
                <a:cs typeface="Poppins Light" panose="00000400000000000000" pitchFamily="2" charset="0"/>
              </a:rPr>
              <a:t>Junções entre peças metálicas COM parafusos sextavados M8x25 mm; 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pt-BR" sz="1000" dirty="0">
              <a:latin typeface="Poppins "/>
              <a:cs typeface="Poppins Light" panose="00000400000000000000" pitchFamily="2" charset="0"/>
            </a:endParaRP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dirty="0">
                <a:latin typeface="Poppins "/>
                <a:cs typeface="Poppins Light" panose="00000400000000000000" pitchFamily="2" charset="0"/>
              </a:rPr>
              <a:t>Tela eletro soldada, malha 50x50x4 mm, galvanizada, já fixada nos painéis estruturais, pintura eletrostática, dimensões de 2 m de largura e 3 m de altura e as telas superiores laterais com 2 m de largura e 1 m de altura sobre os vidros, com mesma especificação; 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pt-BR" sz="1000" dirty="0">
              <a:latin typeface="Poppins "/>
              <a:cs typeface="Poppins Light" panose="00000400000000000000" pitchFamily="2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dirty="0">
                <a:latin typeface="Poppins "/>
                <a:cs typeface="Poppins Light" panose="00000400000000000000" pitchFamily="2" charset="0"/>
              </a:rPr>
              <a:t> As chapas de vidro temperado 12 mm (18 unidades de 1995x2995 mm) serão presas à estrutura por </a:t>
            </a:r>
            <a:r>
              <a:rPr lang="pt-BR" sz="1200" dirty="0" err="1">
                <a:latin typeface="Poppins "/>
                <a:cs typeface="Poppins Light" panose="00000400000000000000" pitchFamily="2" charset="0"/>
              </a:rPr>
              <a:t>encaixilhamento</a:t>
            </a:r>
            <a:r>
              <a:rPr lang="pt-BR" sz="1200" dirty="0">
                <a:latin typeface="Poppins "/>
                <a:cs typeface="Poppins Light" panose="00000400000000000000" pitchFamily="2" charset="0"/>
              </a:rPr>
              <a:t> na parte inferior e na parte superior por 03 parafusos Allen, cabeça cônica em aço inoxidável, guarnecidos com buchas de nylon e amortecidos com perfil adesivo de borracha </a:t>
            </a:r>
            <a:r>
              <a:rPr lang="pt-BR" sz="1200" dirty="0" err="1">
                <a:latin typeface="Poppins "/>
                <a:cs typeface="Poppins Light" panose="00000400000000000000" pitchFamily="2" charset="0"/>
              </a:rPr>
              <a:t>epdm</a:t>
            </a:r>
            <a:r>
              <a:rPr lang="pt-BR" sz="1200" dirty="0">
                <a:latin typeface="Poppins "/>
                <a:cs typeface="Poppins Light" panose="00000400000000000000" pitchFamily="2" charset="0"/>
              </a:rPr>
              <a:t>, de forma que em momento algum vidros e metais tem contato direto; 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pt-BR" sz="1000" dirty="0">
              <a:latin typeface="Poppins "/>
              <a:cs typeface="Poppins Light" panose="00000400000000000000" pitchFamily="2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dirty="0">
                <a:latin typeface="Poppins "/>
                <a:cs typeface="Poppins Light" panose="00000400000000000000" pitchFamily="2" charset="0"/>
              </a:rPr>
              <a:t>Nivelamento e isolamento entre vidros em silicone mono componente de cura acética, isento de solventes orgânicos; 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pt-BR" sz="1000" dirty="0">
              <a:latin typeface="Poppins "/>
              <a:cs typeface="Poppins Light" panose="00000400000000000000" pitchFamily="2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dirty="0">
                <a:latin typeface="Poppins "/>
                <a:cs typeface="Poppins Light" panose="00000400000000000000" pitchFamily="2" charset="0"/>
              </a:rPr>
              <a:t> Galvanização e pintura eletrostática em toda a estrutura.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pt-BR" sz="1200" dirty="0">
              <a:latin typeface="Poppins "/>
              <a:cs typeface="Poppins Light" panose="00000400000000000000" pitchFamily="2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pt-BR" sz="1200" dirty="0">
              <a:latin typeface="Poppins 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2461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4" baseType="lpstr"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2026-05-22T17:34:16Z</dcterms:created>
  <dcterms:modified xsi:type="dcterms:W3CDTF">2026-05-22T17:56:36Z</dcterms:modified>
</cp:coreProperties>
</file>