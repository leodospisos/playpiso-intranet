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00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64" dt="2026-05-22T18:09:13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9E356-31DB-57F9-2430-ABF2FADF6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CED71-2CDE-4A13-4B67-713E47460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58B97-0A43-7824-BBD0-603E0C1DC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5660A-C976-64BD-19B5-72D71BA46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588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FBD4C-7137-7600-C753-7070158D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B470572-1BE9-4163-C1DB-83B80333B21F}"/>
              </a:ext>
            </a:extLst>
          </p:cNvPr>
          <p:cNvSpPr txBox="1"/>
          <p:nvPr/>
        </p:nvSpPr>
        <p:spPr>
          <a:xfrm>
            <a:off x="4058487" y="5864810"/>
            <a:ext cx="6362765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***Valores válidos somente para contratação simultânea dos serviços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D158312-2AA4-7575-2AB1-29752B147D81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73CCB4-B53C-E484-6C53-FF06C5259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6" name="CaixaDeTexto 10">
            <a:extLst>
              <a:ext uri="{FF2B5EF4-FFF2-40B4-BE49-F238E27FC236}">
                <a16:creationId xmlns:a16="http://schemas.microsoft.com/office/drawing/2014/main" id="{472F7F18-C5F6-35CE-A4A2-58762DA8BA5C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2AD3836-CD24-6C27-5B17-43C0EEC0F340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8CD28F52-FD93-D294-5B7B-C59AF28BA994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C5449B5-9211-DC63-1CE9-08D13F913909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122C87FD-DB1E-9C2B-A0CA-B45A6B045F0C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8121A062-4C3B-318A-1731-4D1DDCA572D1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graphicFrame>
        <p:nvGraphicFramePr>
          <p:cNvPr id="2" name="Tabela 7">
            <a:extLst>
              <a:ext uri="{FF2B5EF4-FFF2-40B4-BE49-F238E27FC236}">
                <a16:creationId xmlns:a16="http://schemas.microsoft.com/office/drawing/2014/main" id="{80C14054-A527-4D85-AE4A-80C87D11C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71057"/>
              </p:ext>
            </p:extLst>
          </p:nvPr>
        </p:nvGraphicFramePr>
        <p:xfrm>
          <a:off x="2144588" y="821604"/>
          <a:ext cx="9682300" cy="4733949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5882474">
                  <a:extLst>
                    <a:ext uri="{9D8B030D-6E8A-4147-A177-3AD203B41FA5}">
                      <a16:colId xmlns:a16="http://schemas.microsoft.com/office/drawing/2014/main" val="1778375940"/>
                    </a:ext>
                  </a:extLst>
                </a:gridCol>
                <a:gridCol w="945700">
                  <a:extLst>
                    <a:ext uri="{9D8B030D-6E8A-4147-A177-3AD203B41FA5}">
                      <a16:colId xmlns:a16="http://schemas.microsoft.com/office/drawing/2014/main" val="4254550965"/>
                    </a:ext>
                  </a:extLst>
                </a:gridCol>
                <a:gridCol w="1144357">
                  <a:extLst>
                    <a:ext uri="{9D8B030D-6E8A-4147-A177-3AD203B41FA5}">
                      <a16:colId xmlns:a16="http://schemas.microsoft.com/office/drawing/2014/main" val="3290749713"/>
                    </a:ext>
                  </a:extLst>
                </a:gridCol>
                <a:gridCol w="1709769">
                  <a:extLst>
                    <a:ext uri="{9D8B030D-6E8A-4147-A177-3AD203B41FA5}">
                      <a16:colId xmlns:a16="http://schemas.microsoft.com/office/drawing/2014/main" val="2787835671"/>
                    </a:ext>
                  </a:extLst>
                </a:gridCol>
              </a:tblGrid>
              <a:tr h="64176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QUADRA DE PADEL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–  GRAMA TXT - LIMONTA</a:t>
                      </a:r>
                      <a:endParaRPr lang="pt-BR" sz="1800" b="1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 err="1">
                          <a:latin typeface="Poppins"/>
                          <a:cs typeface="Poppins"/>
                        </a:rPr>
                        <a:t>Qtde</a:t>
                      </a:r>
                      <a:r>
                        <a:rPr lang="en-US" sz="1800" b="1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b="1" dirty="0">
                        <a:latin typeface="Poppins"/>
                        <a:cs typeface="Poppins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 err="1">
                          <a:latin typeface="Poppins"/>
                          <a:cs typeface="Poppins"/>
                        </a:rPr>
                        <a:t>Unid</a:t>
                      </a:r>
                      <a:r>
                        <a:rPr lang="en-US" sz="1800" b="1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b="1" dirty="0">
                        <a:latin typeface="Poppins"/>
                        <a:cs typeface="Poppins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</a:t>
                      </a:r>
                      <a:endParaRPr lang="pt-BR" sz="18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82095"/>
                  </a:ext>
                </a:extLst>
              </a:tr>
              <a:tr h="88324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300" b="0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Grama Sintética Limonta  - Fornecimento e instalação</a:t>
                      </a:r>
                      <a:endParaRPr lang="pt-BR" sz="400" b="0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</a:txBody>
                  <a:tcPr marL="34290" marR="342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/>
                        </a:rPr>
                        <a:t>{{</a:t>
                      </a:r>
                      <a:r>
                        <a:rPr lang="pt-BR" sz="1200" b="0" err="1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/>
                        </a:rPr>
                        <a:t>area_total_fmt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/>
                        </a:rPr>
                        <a:t>}}</a:t>
                      </a:r>
                      <a:endParaRPr lang="pt-BR" sz="1200" b="0" dirty="0">
                        <a:solidFill>
                          <a:schemeClr val="tx1"/>
                        </a:solidFill>
                        <a:effectLst/>
                        <a:latin typeface="Poppins "/>
                        <a:ea typeface="Times New Roman" panose="02020603050405020304" pitchFamily="18" charset="0"/>
                        <a:cs typeface="Poppins Light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 panose="00000400000000000000" pitchFamily="2" charset="0"/>
                        </a:rPr>
                        <a:t>m²</a:t>
                      </a: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 panose="00000400000000000000" pitchFamily="2" charset="0"/>
                        </a:rPr>
                        <a:t>R$                                    </a:t>
                      </a:r>
                    </a:p>
                  </a:txBody>
                  <a:tcPr marL="34290" marR="3429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6728657"/>
                  </a:ext>
                </a:extLst>
              </a:tr>
              <a:tr h="121463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400" b="0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ea typeface="Times New Roman" panose="02020603050405020304" pitchFamily="18" charset="0"/>
                        <a:cs typeface="Poppins" panose="00000500000000000000" pitchFamily="2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Estrutura de Vidro + Iluminação + Acessórios - Estrutura metálica com vidro temperado, 04 postes de iluminação fixados na estrutura, 08 projetores led 200W </a:t>
                      </a:r>
                    </a:p>
                  </a:txBody>
                  <a:tcPr marL="34290" marR="342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/>
                        </a:rPr>
                        <a:t>{{</a:t>
                      </a:r>
                      <a:r>
                        <a:rPr lang="pt-BR" sz="1200" b="0" dirty="0" err="1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/>
                        </a:rPr>
                        <a:t>area_alambrado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/>
                        </a:rPr>
                        <a:t>}}</a:t>
                      </a: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 panose="00000400000000000000" pitchFamily="2" charset="0"/>
                        </a:rPr>
                        <a:t>Unid.</a:t>
                      </a: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 panose="00000400000000000000" pitchFamily="2" charset="0"/>
                        </a:rPr>
                        <a:t>R$                  </a:t>
                      </a:r>
                    </a:p>
                  </a:txBody>
                  <a:tcPr marL="34290" marR="3429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33993100"/>
                  </a:ext>
                </a:extLst>
              </a:tr>
              <a:tr h="105533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Acessório – Suporte da rede e rede de nylon </a:t>
                      </a:r>
                    </a:p>
                  </a:txBody>
                  <a:tcPr marL="34290" marR="342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/>
                        </a:rPr>
                        <a:t>{{</a:t>
                      </a:r>
                      <a:r>
                        <a:rPr lang="pt-BR" sz="1200" b="0" dirty="0" err="1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/>
                        </a:rPr>
                        <a:t>quantity</a:t>
                      </a: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/>
                        </a:rPr>
                        <a:t>}}</a:t>
                      </a:r>
                      <a:endParaRPr lang="pt-BR" sz="1200" b="0" dirty="0">
                        <a:solidFill>
                          <a:schemeClr val="tx1"/>
                        </a:solidFill>
                        <a:effectLst/>
                        <a:latin typeface="Poppins "/>
                        <a:ea typeface="Times New Roman" panose="02020603050405020304" pitchFamily="18" charset="0"/>
                        <a:cs typeface="Poppins Light" panose="00000400000000000000" pitchFamily="2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 panose="00000400000000000000" pitchFamily="2" charset="0"/>
                        </a:rPr>
                        <a:t>Unid.</a:t>
                      </a: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 panose="00000400000000000000" pitchFamily="2" charset="0"/>
                        </a:rPr>
                        <a:t>R$                  </a:t>
                      </a:r>
                    </a:p>
                  </a:txBody>
                  <a:tcPr marL="34290" marR="3429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5611914"/>
                  </a:ext>
                </a:extLst>
              </a:tr>
              <a:tr h="93895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VALOR TOTAL</a:t>
                      </a:r>
                    </a:p>
                  </a:txBody>
                  <a:tcPr marL="34290" marR="342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endParaRPr lang="pt-BR" sz="1200" b="1">
                        <a:solidFill>
                          <a:srgbClr val="FF0000"/>
                        </a:solidFill>
                        <a:effectLst/>
                        <a:latin typeface="Poppins "/>
                        <a:ea typeface="Times New Roman" panose="02020603050405020304" pitchFamily="18" charset="0"/>
                        <a:cs typeface="Poppins Light" panose="00000400000000000000" pitchFamily="2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endParaRPr lang="pt-BR" sz="1200" b="1">
                        <a:solidFill>
                          <a:srgbClr val="FF0000"/>
                        </a:solidFill>
                        <a:effectLst/>
                        <a:latin typeface="Poppins "/>
                        <a:ea typeface="Times New Roman" panose="02020603050405020304" pitchFamily="18" charset="0"/>
                        <a:cs typeface="Poppins Light" panose="00000400000000000000" pitchFamily="2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  <a:effectLst/>
                          <a:latin typeface="Poppins "/>
                          <a:ea typeface="Times New Roman" panose="02020603050405020304" pitchFamily="18" charset="0"/>
                          <a:cs typeface="Poppins Light" panose="00000400000000000000" pitchFamily="2" charset="0"/>
                        </a:rPr>
                        <a:t>R$                  </a:t>
                      </a:r>
                    </a:p>
                  </a:txBody>
                  <a:tcPr marL="34290" marR="3429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63940819"/>
                  </a:ext>
                </a:extLst>
              </a:tr>
            </a:tbl>
          </a:graphicData>
        </a:graphic>
      </p:graphicFrame>
      <p:sp>
        <p:nvSpPr>
          <p:cNvPr id="6" name="CaixaDeTexto 15">
            <a:extLst>
              <a:ext uri="{FF2B5EF4-FFF2-40B4-BE49-F238E27FC236}">
                <a16:creationId xmlns:a16="http://schemas.microsoft.com/office/drawing/2014/main" id="{9096F5F7-58EC-B5F7-2C8C-6AFFCE5947FC}"/>
              </a:ext>
            </a:extLst>
          </p:cNvPr>
          <p:cNvSpPr txBox="1"/>
          <p:nvPr/>
        </p:nvSpPr>
        <p:spPr>
          <a:xfrm>
            <a:off x="2104811" y="57439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</a:p>
        </p:txBody>
      </p:sp>
    </p:spTree>
    <p:extLst>
      <p:ext uri="{BB962C8B-B14F-4D97-AF65-F5344CB8AC3E}">
        <p14:creationId xmlns:p14="http://schemas.microsoft.com/office/powerpoint/2010/main" val="40880053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40</cp:revision>
  <dcterms:created xsi:type="dcterms:W3CDTF">2026-05-22T17:34:16Z</dcterms:created>
  <dcterms:modified xsi:type="dcterms:W3CDTF">2026-05-22T18:09:13Z</dcterms:modified>
</cp:coreProperties>
</file>