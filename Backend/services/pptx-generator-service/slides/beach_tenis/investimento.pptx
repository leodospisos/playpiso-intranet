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63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5A5768-ABB3-B2D6-2C40-2E9D19F2A142}" v="273" dt="2026-05-19T13:50:22.098"/>
    <p1510:client id="{6CD53C63-FED2-8C4B-4834-10693650F88C}" v="17" dt="2026-05-18T19:09:47.7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1580D6-032D-4822-AD4A-76F2845CC23C}" type="datetimeFigureOut">
              <a:t>19/05/2026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FF361-08AD-4EB0-8EFB-404F4DAD588A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8138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/>
              <a:t>MEXER APENAS NAS INFORMAÇÕES EM PRETO,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/>
            </a:br>
            <a:r>
              <a:rPr lang="en-BR"/>
              <a:t>NÃO DESCONFIGURAR NADA!</a:t>
            </a:r>
            <a:br>
              <a:rPr lang="en-BR"/>
            </a:br>
            <a:r>
              <a:rPr lang="en-BR"/>
              <a:t>]</a:t>
            </a:r>
          </a:p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5336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2D4D552-EC24-83D0-8BD6-35E735F6AE61}"/>
              </a:ext>
            </a:extLst>
          </p:cNvPr>
          <p:cNvSpPr txBox="1"/>
          <p:nvPr/>
        </p:nvSpPr>
        <p:spPr>
          <a:xfrm>
            <a:off x="2104811" y="5846366"/>
            <a:ext cx="9107962" cy="343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200">
                <a:latin typeface="Poppins" panose="00000500000000000000" pitchFamily="2" charset="0"/>
                <a:cs typeface="Poppins" panose="00000500000000000000" pitchFamily="2" charset="0"/>
              </a:rPr>
              <a:t>***Valores válidos somente para contratação simultânea dos serviços.</a:t>
            </a:r>
          </a:p>
        </p:txBody>
      </p:sp>
      <p:sp>
        <p:nvSpPr>
          <p:cNvPr id="4" name="Retângulo 1">
            <a:extLst>
              <a:ext uri="{FF2B5EF4-FFF2-40B4-BE49-F238E27FC236}">
                <a16:creationId xmlns:a16="http://schemas.microsoft.com/office/drawing/2014/main" id="{98415AD4-453C-2C61-8074-33765217D21C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9970300F-E250-1F22-96B2-E557FEBB5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6" name="CaixaDeTexto 10">
            <a:extLst>
              <a:ext uri="{FF2B5EF4-FFF2-40B4-BE49-F238E27FC236}">
                <a16:creationId xmlns:a16="http://schemas.microsoft.com/office/drawing/2014/main" id="{5FB0C76A-92D8-A462-B856-3F8AC6B113A0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0EAF9B9D-DDBE-6D68-4267-55B3D2D13971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18" name="CaixaDeTexto 10">
            <a:extLst>
              <a:ext uri="{FF2B5EF4-FFF2-40B4-BE49-F238E27FC236}">
                <a16:creationId xmlns:a16="http://schemas.microsoft.com/office/drawing/2014/main" id="{09E11D68-CFA7-DE20-79FC-ED7EA652C72B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321A007E-2704-52F9-6888-BF8B31D713A8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20" name="CaixaDeTexto 10">
            <a:extLst>
              <a:ext uri="{FF2B5EF4-FFF2-40B4-BE49-F238E27FC236}">
                <a16:creationId xmlns:a16="http://schemas.microsoft.com/office/drawing/2014/main" id="{4D0600C1-6FD1-1AC7-5817-6D6042A8FA0E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21" name="CaixaDeTexto 10">
            <a:extLst>
              <a:ext uri="{FF2B5EF4-FFF2-40B4-BE49-F238E27FC236}">
                <a16:creationId xmlns:a16="http://schemas.microsoft.com/office/drawing/2014/main" id="{CC8C0389-6754-B764-8786-C5E8DF0F58E5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sp>
        <p:nvSpPr>
          <p:cNvPr id="24" name="CaixaDeTexto 15">
            <a:extLst>
              <a:ext uri="{FF2B5EF4-FFF2-40B4-BE49-F238E27FC236}">
                <a16:creationId xmlns:a16="http://schemas.microsoft.com/office/drawing/2014/main" id="{CF4E99DB-D5CF-6669-C4F8-61957610BA69}"/>
              </a:ext>
            </a:extLst>
          </p:cNvPr>
          <p:cNvSpPr txBox="1"/>
          <p:nvPr/>
        </p:nvSpPr>
        <p:spPr>
          <a:xfrm>
            <a:off x="2104811" y="414207"/>
            <a:ext cx="39073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2. Investimento</a:t>
            </a:r>
            <a:endParaRPr lang="pt-BR" sz="2800" b="1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graphicFrame>
        <p:nvGraphicFramePr>
          <p:cNvPr id="2" name="Tabela 7">
            <a:extLst>
              <a:ext uri="{FF2B5EF4-FFF2-40B4-BE49-F238E27FC236}">
                <a16:creationId xmlns:a16="http://schemas.microsoft.com/office/drawing/2014/main" id="{BDCC2FDF-F159-B141-A8D3-99D5A6844A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358490"/>
              </p:ext>
            </p:extLst>
          </p:nvPr>
        </p:nvGraphicFramePr>
        <p:xfrm>
          <a:off x="2144588" y="1086292"/>
          <a:ext cx="9677872" cy="4511662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5534406">
                  <a:extLst>
                    <a:ext uri="{9D8B030D-6E8A-4147-A177-3AD203B41FA5}">
                      <a16:colId xmlns:a16="http://schemas.microsoft.com/office/drawing/2014/main" val="1778375940"/>
                    </a:ext>
                  </a:extLst>
                </a:gridCol>
                <a:gridCol w="1081548">
                  <a:extLst>
                    <a:ext uri="{9D8B030D-6E8A-4147-A177-3AD203B41FA5}">
                      <a16:colId xmlns:a16="http://schemas.microsoft.com/office/drawing/2014/main" val="4254550965"/>
                    </a:ext>
                  </a:extLst>
                </a:gridCol>
                <a:gridCol w="1264321">
                  <a:extLst>
                    <a:ext uri="{9D8B030D-6E8A-4147-A177-3AD203B41FA5}">
                      <a16:colId xmlns:a16="http://schemas.microsoft.com/office/drawing/2014/main" val="3290749713"/>
                    </a:ext>
                  </a:extLst>
                </a:gridCol>
                <a:gridCol w="1797597">
                  <a:extLst>
                    <a:ext uri="{9D8B030D-6E8A-4147-A177-3AD203B41FA5}">
                      <a16:colId xmlns:a16="http://schemas.microsoft.com/office/drawing/2014/main" val="2787835671"/>
                    </a:ext>
                  </a:extLst>
                </a:gridCol>
              </a:tblGrid>
              <a:tr h="412866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800" dirty="0" err="1">
                          <a:latin typeface="Poppins"/>
                          <a:cs typeface="Poppins"/>
                        </a:rPr>
                        <a:t>Descrição</a:t>
                      </a:r>
                      <a:endParaRPr lang="pt-BR" sz="1800" dirty="0" err="1">
                        <a:latin typeface="Poppins"/>
                        <a:cs typeface="Poppins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 err="1">
                          <a:latin typeface="Poppins"/>
                          <a:cs typeface="Poppins"/>
                        </a:rPr>
                        <a:t>Qtde</a:t>
                      </a:r>
                      <a:r>
                        <a:rPr lang="en-US" sz="1800" dirty="0">
                          <a:latin typeface="Poppins"/>
                          <a:cs typeface="Poppins"/>
                        </a:rPr>
                        <a:t>.</a:t>
                      </a:r>
                      <a:endParaRPr lang="pt-BR" sz="1800" dirty="0">
                        <a:latin typeface="Poppins"/>
                        <a:cs typeface="Poppins"/>
                      </a:endParaRPr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 err="1">
                          <a:latin typeface="Poppins"/>
                          <a:cs typeface="Poppins"/>
                        </a:rPr>
                        <a:t>Unid</a:t>
                      </a:r>
                      <a:r>
                        <a:rPr lang="en-US" sz="1800" dirty="0">
                          <a:latin typeface="Poppins"/>
                          <a:cs typeface="Poppins"/>
                        </a:rPr>
                        <a:t>.</a:t>
                      </a:r>
                      <a:endParaRPr lang="pt-BR" sz="1800" dirty="0">
                        <a:latin typeface="Poppins"/>
                        <a:cs typeface="Poppins"/>
                      </a:endParaRPr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Poppins"/>
                          <a:cs typeface="Poppins"/>
                        </a:rPr>
                        <a:t>Valor</a:t>
                      </a:r>
                      <a:endParaRPr lang="pt-BR" sz="1800" dirty="0">
                        <a:latin typeface="Poppins"/>
                        <a:cs typeface="Poppins"/>
                      </a:endParaRPr>
                    </a:p>
                  </a:txBody>
                  <a:tcPr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582095"/>
                  </a:ext>
                </a:extLst>
              </a:tr>
              <a:tr h="62975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200" b="0" dirty="0">
                          <a:latin typeface="Poppins"/>
                          <a:cs typeface="Poppins"/>
                        </a:rPr>
                        <a:t>Q</a:t>
                      </a:r>
                      <a:r>
                        <a:rPr lang="en-BR" sz="1200" b="0" dirty="0">
                          <a:latin typeface="Poppins"/>
                          <a:cs typeface="Poppins"/>
                        </a:rPr>
                        <a:t>uadr</a:t>
                      </a:r>
                      <a:r>
                        <a:rPr lang="en-US" sz="1200" b="0" dirty="0">
                          <a:latin typeface="Poppins"/>
                          <a:cs typeface="Poppins"/>
                        </a:rPr>
                        <a:t>a</a:t>
                      </a:r>
                      <a:r>
                        <a:rPr lang="en-BR" sz="1200" b="0" dirty="0">
                          <a:latin typeface="Poppins"/>
                          <a:cs typeface="Poppins"/>
                        </a:rPr>
                        <a:t> de </a:t>
                      </a:r>
                      <a:r>
                        <a:rPr lang="en-US" sz="1200" b="0" dirty="0">
                          <a:latin typeface="Poppins"/>
                          <a:cs typeface="Poppins"/>
                        </a:rPr>
                        <a:t>Beach </a:t>
                      </a:r>
                      <a:r>
                        <a:rPr lang="en-BR" sz="1200" b="0" dirty="0">
                          <a:latin typeface="Poppins"/>
                          <a:cs typeface="Poppins"/>
                        </a:rPr>
                        <a:t>T</a:t>
                      </a:r>
                      <a:r>
                        <a:rPr lang="en-US" sz="1200" b="0" dirty="0">
                          <a:latin typeface="Poppins"/>
                          <a:cs typeface="Poppins"/>
                        </a:rPr>
                        <a:t>e</a:t>
                      </a:r>
                      <a:r>
                        <a:rPr lang="en-BR" sz="1200" b="0" dirty="0">
                          <a:latin typeface="Poppins"/>
                          <a:cs typeface="Poppins"/>
                        </a:rPr>
                        <a:t>n</a:t>
                      </a:r>
                      <a:r>
                        <a:rPr lang="en-US" sz="1200" b="0" dirty="0">
                          <a:latin typeface="Poppins"/>
                          <a:cs typeface="Poppins"/>
                        </a:rPr>
                        <a:t>ni</a:t>
                      </a:r>
                      <a:r>
                        <a:rPr lang="en-BR" sz="1200" b="0" dirty="0">
                          <a:latin typeface="Poppins"/>
                          <a:cs typeface="Poppins"/>
                        </a:rPr>
                        <a:t>s</a:t>
                      </a:r>
                      <a:r>
                        <a:rPr lang="en-US" sz="1200" b="0" dirty="0">
                          <a:latin typeface="Poppins"/>
                          <a:cs typeface="Poppins"/>
                        </a:rPr>
                        <a:t> – Sistema de </a:t>
                      </a:r>
                      <a:r>
                        <a:rPr lang="en-US" sz="1200" b="0" dirty="0" err="1">
                          <a:latin typeface="Poppins"/>
                          <a:cs typeface="Poppins"/>
                        </a:rPr>
                        <a:t>drenagem</a:t>
                      </a:r>
                      <a:r>
                        <a:rPr lang="en-US" sz="1200" b="0" dirty="0">
                          <a:latin typeface="Poppins"/>
                          <a:cs typeface="Poppins"/>
                        </a:rPr>
                        <a:t>, </a:t>
                      </a:r>
                      <a:r>
                        <a:rPr lang="en-US" sz="1200" b="0" dirty="0" err="1">
                          <a:latin typeface="Poppins"/>
                          <a:cs typeface="Poppins"/>
                        </a:rPr>
                        <a:t>mureta</a:t>
                      </a:r>
                      <a:r>
                        <a:rPr lang="en-US" sz="1200" b="0" dirty="0">
                          <a:latin typeface="Poppins"/>
                          <a:cs typeface="Poppins"/>
                        </a:rPr>
                        <a:t> e </a:t>
                      </a:r>
                      <a:r>
                        <a:rPr lang="en-US" sz="1200" b="0" dirty="0" err="1">
                          <a:highlight>
                            <a:srgbClr val="FFFF00"/>
                          </a:highlight>
                          <a:latin typeface="Poppins"/>
                          <a:cs typeface="Poppins"/>
                        </a:rPr>
                        <a:t>areia</a:t>
                      </a:r>
                      <a:r>
                        <a:rPr lang="en-US" sz="1200" b="0" dirty="0">
                          <a:highlight>
                            <a:srgbClr val="FFFF00"/>
                          </a:highlight>
                          <a:latin typeface="Poppins"/>
                          <a:cs typeface="Poppins"/>
                        </a:rPr>
                        <a:t> de </a:t>
                      </a:r>
                      <a:r>
                        <a:rPr lang="en-US" sz="1200" b="0" dirty="0" err="1">
                          <a:highlight>
                            <a:srgbClr val="FFFF00"/>
                          </a:highlight>
                          <a:latin typeface="Poppins"/>
                          <a:cs typeface="Poppins"/>
                        </a:rPr>
                        <a:t>quartzo</a:t>
                      </a:r>
                      <a:r>
                        <a:rPr lang="en-US" sz="1200" b="0" dirty="0">
                          <a:highlight>
                            <a:srgbClr val="FFFF00"/>
                          </a:highlight>
                          <a:latin typeface="Poppins"/>
                          <a:cs typeface="Poppins"/>
                        </a:rPr>
                        <a:t> especial </a:t>
                      </a:r>
                      <a:r>
                        <a:rPr lang="en-US" sz="1200" b="0" dirty="0" err="1">
                          <a:highlight>
                            <a:srgbClr val="FFFF00"/>
                          </a:highlight>
                          <a:latin typeface="Poppins"/>
                          <a:cs typeface="Poppins"/>
                        </a:rPr>
                        <a:t>tratada</a:t>
                      </a:r>
                      <a:r>
                        <a:rPr lang="en-US" sz="1200" b="0" dirty="0">
                          <a:highlight>
                            <a:srgbClr val="FFFF00"/>
                          </a:highlight>
                          <a:latin typeface="Poppins"/>
                          <a:cs typeface="Poppins"/>
                        </a:rPr>
                        <a:t> </a:t>
                      </a:r>
                      <a:r>
                        <a:rPr lang="en-US" sz="1200" b="0" dirty="0" err="1">
                          <a:highlight>
                            <a:srgbClr val="FFFF00"/>
                          </a:highlight>
                          <a:latin typeface="Poppins"/>
                          <a:cs typeface="Poppins"/>
                        </a:rPr>
                        <a:t>ou</a:t>
                      </a:r>
                      <a:r>
                        <a:rPr lang="en-US" sz="1200" b="0" dirty="0">
                          <a:highlight>
                            <a:srgbClr val="FFFF00"/>
                          </a:highlight>
                          <a:latin typeface="Poppins"/>
                          <a:cs typeface="Poppins"/>
                        </a:rPr>
                        <a:t> </a:t>
                      </a:r>
                      <a:r>
                        <a:rPr lang="en-US" sz="1200" b="0" dirty="0" err="1">
                          <a:highlight>
                            <a:srgbClr val="FFFF00"/>
                          </a:highlight>
                          <a:latin typeface="Poppins"/>
                          <a:cs typeface="Poppins"/>
                        </a:rPr>
                        <a:t>areia</a:t>
                      </a:r>
                      <a:r>
                        <a:rPr lang="en-US" sz="1200" b="0" dirty="0">
                          <a:highlight>
                            <a:srgbClr val="FFFF00"/>
                          </a:highlight>
                          <a:latin typeface="Poppins"/>
                          <a:cs typeface="Poppins"/>
                        </a:rPr>
                        <a:t> de  </a:t>
                      </a:r>
                      <a:r>
                        <a:rPr lang="en-US" sz="1200" b="0" dirty="0" err="1">
                          <a:highlight>
                            <a:srgbClr val="FFFF00"/>
                          </a:highlight>
                          <a:latin typeface="Poppins"/>
                          <a:cs typeface="Poppins"/>
                        </a:rPr>
                        <a:t>rio</a:t>
                      </a:r>
                      <a:r>
                        <a:rPr lang="en-US" sz="1200" b="0" dirty="0">
                          <a:highlight>
                            <a:srgbClr val="FFFF00"/>
                          </a:highlight>
                          <a:latin typeface="Poppins"/>
                          <a:cs typeface="Poppins"/>
                        </a:rPr>
                        <a:t> Lavada 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Poppins"/>
                          <a:cs typeface="Poppins"/>
                        </a:rPr>
                        <a:t>Piso oficial da CBT – Confederação Brasileira de Tênis e Beach Tennis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Poppins"/>
                          <a:cs typeface="Poppins"/>
                        </a:rPr>
                        <a:t>{{</a:t>
                      </a:r>
                      <a:r>
                        <a:rPr lang="pt-BR" sz="1200" dirty="0" err="1">
                          <a:latin typeface="Poppins"/>
                          <a:cs typeface="Poppins"/>
                        </a:rPr>
                        <a:t>area_total_fmt</a:t>
                      </a:r>
                      <a:r>
                        <a:rPr lang="pt-BR" sz="1200" dirty="0">
                          <a:latin typeface="Poppins"/>
                          <a:cs typeface="Poppins"/>
                        </a:rPr>
                        <a:t>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Poppins"/>
                          <a:cs typeface="Poppins"/>
                        </a:rPr>
                        <a:t>m²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dirty="0">
                          <a:latin typeface="Poppins"/>
                          <a:cs typeface="Poppins"/>
                        </a:rPr>
                        <a:t>R$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46728657"/>
                  </a:ext>
                </a:extLst>
              </a:tr>
              <a:tr h="629758">
                <a:tc>
                  <a:txBody>
                    <a:bodyPr/>
                    <a:lstStyle/>
                    <a:p>
                      <a:pPr lvl="0">
                        <a:lnSpc>
                          <a:spcPct val="150000"/>
                        </a:lnSpc>
                        <a:buNone/>
                      </a:pPr>
                      <a:r>
                        <a:rPr lang="pt-BR" sz="1200" b="0" i="0" u="none" strike="noStrike" noProof="0" dirty="0">
                          <a:solidFill>
                            <a:srgbClr val="000000"/>
                          </a:solidFill>
                          <a:latin typeface="Poppins"/>
                          <a:cs typeface="Poppins"/>
                        </a:rPr>
                        <a:t>Alambrado – Sistema {{</a:t>
                      </a:r>
                      <a:r>
                        <a:rPr lang="pt-BR" sz="1200" b="0" i="0" u="none" strike="noStrike" noProof="0" dirty="0" err="1">
                          <a:solidFill>
                            <a:srgbClr val="000000"/>
                          </a:solidFill>
                          <a:latin typeface="Poppins"/>
                          <a:cs typeface="Poppins"/>
                        </a:rPr>
                        <a:t>sistema_alambrado</a:t>
                      </a:r>
                      <a:r>
                        <a:rPr lang="pt-BR" sz="1200" b="0" i="0" u="none" strike="noStrike" noProof="0" dirty="0">
                          <a:solidFill>
                            <a:srgbClr val="000000"/>
                          </a:solidFill>
                          <a:latin typeface="Poppins"/>
                          <a:cs typeface="Poppins"/>
                        </a:rPr>
                        <a:t>}}, tubos galvanizados {{</a:t>
                      </a:r>
                      <a:r>
                        <a:rPr lang="pt-BR" sz="1200" b="0" i="0" u="none" strike="noStrike" noProof="0" dirty="0" err="1">
                          <a:solidFill>
                            <a:srgbClr val="000000"/>
                          </a:solidFill>
                          <a:latin typeface="Poppins"/>
                          <a:cs typeface="Poppins"/>
                        </a:rPr>
                        <a:t>galvanizacao</a:t>
                      </a:r>
                      <a:r>
                        <a:rPr lang="pt-BR" sz="1200" b="0" i="0" u="none" strike="noStrike" noProof="0" dirty="0">
                          <a:solidFill>
                            <a:srgbClr val="000000"/>
                          </a:solidFill>
                          <a:latin typeface="Poppins"/>
                          <a:cs typeface="Poppins"/>
                        </a:rPr>
                        <a:t>}}, tela revestida em PVC, {{</a:t>
                      </a:r>
                      <a:r>
                        <a:rPr lang="pt-BR" sz="1200" b="0" i="0" u="none" strike="noStrike" noProof="0" dirty="0" err="1">
                          <a:solidFill>
                            <a:srgbClr val="000000"/>
                          </a:solidFill>
                          <a:latin typeface="Poppins"/>
                          <a:cs typeface="Poppins"/>
                        </a:rPr>
                        <a:t>travamento_descricao</a:t>
                      </a:r>
                      <a:r>
                        <a:rPr lang="pt-BR" sz="1200" b="0" i="0" u="none" strike="noStrike" noProof="0" dirty="0">
                          <a:solidFill>
                            <a:srgbClr val="000000"/>
                          </a:solidFill>
                          <a:latin typeface="Poppins"/>
                          <a:cs typeface="Poppins"/>
                        </a:rPr>
                        <a:t>}}</a:t>
                      </a:r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Poppins"/>
                          <a:cs typeface="Poppins"/>
                        </a:rPr>
                        <a:t>{{</a:t>
                      </a:r>
                      <a:r>
                        <a:rPr lang="pt-BR" sz="1200" dirty="0" err="1">
                          <a:latin typeface="Poppins"/>
                          <a:cs typeface="Poppins"/>
                        </a:rPr>
                        <a:t>area_alambrado</a:t>
                      </a:r>
                      <a:r>
                        <a:rPr lang="pt-BR" sz="1200" dirty="0">
                          <a:latin typeface="Poppins"/>
                          <a:cs typeface="Poppins"/>
                        </a:rPr>
                        <a:t>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R$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63533209"/>
                  </a:ext>
                </a:extLst>
              </a:tr>
              <a:tr h="62975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BR" sz="1200" b="0" i="0" u="none" strike="noStrike" noProof="0" dirty="0">
                          <a:latin typeface="Poppins"/>
                          <a:cs typeface="Poppins"/>
                        </a:rPr>
                        <a:t>{{</a:t>
                      </a:r>
                      <a:r>
                        <a:rPr lang="pt-BR" sz="1200" b="0" i="0" u="none" strike="noStrike" noProof="0" dirty="0" err="1">
                          <a:latin typeface="Poppins"/>
                          <a:cs typeface="Poppins"/>
                        </a:rPr>
                        <a:t>quantidade_projetores</a:t>
                      </a:r>
                      <a:r>
                        <a:rPr lang="pt-BR" sz="1200" b="0" i="0" u="none" strike="noStrike" noProof="0" dirty="0">
                          <a:latin typeface="Poppins"/>
                          <a:cs typeface="Poppins"/>
                        </a:rPr>
                        <a:t>}} projetores em Led {{</a:t>
                      </a:r>
                      <a:r>
                        <a:rPr lang="pt-BR" sz="1200" b="0" i="0" u="none" strike="noStrike" noProof="0" dirty="0" err="1">
                          <a:latin typeface="Poppins"/>
                          <a:cs typeface="Poppins"/>
                        </a:rPr>
                        <a:t>potencia_projetores</a:t>
                      </a:r>
                      <a:r>
                        <a:rPr lang="pt-BR" sz="1200" b="0" i="0" u="none" strike="noStrike" noProof="0" dirty="0">
                          <a:latin typeface="Poppins"/>
                          <a:cs typeface="Poppins"/>
                        </a:rPr>
                        <a:t>}}W, {{</a:t>
                      </a:r>
                      <a:r>
                        <a:rPr lang="pt-BR" sz="1200" b="0" i="0" u="none" strike="noStrike" noProof="0" dirty="0" err="1">
                          <a:latin typeface="Poppins"/>
                          <a:cs typeface="Poppins"/>
                        </a:rPr>
                        <a:t>quantidade_postes_iluminacao</a:t>
                      </a:r>
                      <a:r>
                        <a:rPr lang="pt-BR" sz="1200" b="0" i="0" u="none" strike="noStrike" noProof="0" dirty="0">
                          <a:latin typeface="Poppins"/>
                          <a:cs typeface="Poppins"/>
                        </a:rPr>
                        <a:t>}} postes galvanizados com altura de {{</a:t>
                      </a:r>
                      <a:r>
                        <a:rPr lang="pt-BR" sz="1200" b="0" i="0" u="none" strike="noStrike" noProof="0" dirty="0" err="1">
                          <a:latin typeface="Poppins"/>
                          <a:cs typeface="Poppins"/>
                        </a:rPr>
                        <a:t>altura_postes_iluminacao</a:t>
                      </a:r>
                      <a:r>
                        <a:rPr lang="pt-BR" sz="1200" b="0" i="0" u="none" strike="noStrike" noProof="0" dirty="0">
                          <a:latin typeface="Poppins"/>
                          <a:cs typeface="Poppins"/>
                        </a:rPr>
                        <a:t>}}m</a:t>
                      </a:r>
                      <a:r>
                        <a:rPr lang="pt-BR" sz="1200" b="0" dirty="0">
                          <a:latin typeface="Poppins"/>
                          <a:cs typeface="Poppins"/>
                        </a:rPr>
                        <a:t> 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0" i="0" u="none" strike="noStrike" noProof="0">
                          <a:solidFill>
                            <a:srgbClr val="000000"/>
                          </a:solidFill>
                          <a:latin typeface="Poppins"/>
                          <a:cs typeface="Poppins"/>
                        </a:rPr>
                        <a:t>{{</a:t>
                      </a:r>
                      <a:r>
                        <a:rPr lang="pt-BR" sz="1200" b="0" i="0" u="none" strike="noStrike" noProof="0" err="1">
                          <a:solidFill>
                            <a:srgbClr val="000000"/>
                          </a:solidFill>
                          <a:latin typeface="Poppins"/>
                          <a:cs typeface="Poppins"/>
                        </a:rPr>
                        <a:t>qtde_iluminacao</a:t>
                      </a:r>
                      <a:r>
                        <a:rPr lang="pt-BR" sz="1200" b="0" i="0" u="none" strike="noStrike" noProof="0">
                          <a:solidFill>
                            <a:srgbClr val="000000"/>
                          </a:solidFill>
                          <a:latin typeface="Poppins"/>
                          <a:cs typeface="Poppins"/>
                        </a:rPr>
                        <a:t>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Poppins"/>
                          <a:cs typeface="Poppins"/>
                        </a:rPr>
                        <a:t>Conjunto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R$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36935852"/>
                  </a:ext>
                </a:extLst>
              </a:tr>
              <a:tr h="62975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BR" sz="1200" b="0" dirty="0" err="1">
                          <a:latin typeface="Poppins"/>
                          <a:cs typeface="Poppins"/>
                        </a:rPr>
                        <a:t>Acessório</a:t>
                      </a:r>
                      <a:r>
                        <a:rPr lang="pt-BR" sz="1200" b="0" dirty="0">
                          <a:latin typeface="Poppins"/>
                          <a:cs typeface="Poppins"/>
                        </a:rPr>
                        <a:t>s com/sem sistema de regulagem, postes galvanizados a fogo, catraca, cabo tensor e rede</a:t>
                      </a:r>
                      <a:endParaRPr lang="en-BR" sz="1200" b="0" dirty="0">
                        <a:latin typeface="Poppins"/>
                        <a:cs typeface="Poppin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pt-B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Poppins"/>
                        </a:rPr>
                        <a:t>{{</a:t>
                      </a:r>
                      <a:r>
                        <a:rPr lang="pt-BR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Poppins"/>
                        </a:rPr>
                        <a:t>quantity</a:t>
                      </a:r>
                      <a:r>
                        <a:rPr lang="pt-B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Poppins"/>
                        </a:rPr>
                        <a:t>}}</a:t>
                      </a:r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Conjunto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R$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33993100"/>
                  </a:ext>
                </a:extLst>
              </a:tr>
              <a:tr h="6297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 err="1">
                          <a:latin typeface="Poppins"/>
                          <a:cs typeface="Poppins"/>
                        </a:rPr>
                        <a:t>Proteção</a:t>
                      </a:r>
                      <a:r>
                        <a:rPr lang="en-US" sz="1200" b="0" dirty="0">
                          <a:latin typeface="Poppins"/>
                          <a:cs typeface="Poppins"/>
                        </a:rPr>
                        <a:t> EVA</a:t>
                      </a:r>
                      <a:r>
                        <a:rPr lang="pt-BR" sz="1200" b="0" dirty="0">
                          <a:latin typeface="Poppins"/>
                          <a:cs typeface="Poppins"/>
                        </a:rPr>
                        <a:t> – </a:t>
                      </a:r>
                      <a:r>
                        <a:rPr lang="pt-BR" sz="1200" b="0" dirty="0">
                          <a:solidFill>
                            <a:srgbClr val="FF0000"/>
                          </a:solidFill>
                          <a:latin typeface="Poppins"/>
                          <a:cs typeface="Poppins"/>
                        </a:rPr>
                        <a:t>Opcional</a:t>
                      </a:r>
                      <a:endParaRPr lang="en-BR" sz="1200" b="0" dirty="0">
                        <a:solidFill>
                          <a:srgbClr val="FF0000"/>
                        </a:solidFill>
                        <a:latin typeface="Poppins"/>
                        <a:cs typeface="Poppin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Poppins"/>
                          <a:cs typeface="Poppins"/>
                        </a:rPr>
                        <a:t>{{</a:t>
                      </a:r>
                      <a:r>
                        <a:rPr lang="pt-BR" sz="1200" dirty="0" err="1">
                          <a:latin typeface="Poppins"/>
                          <a:cs typeface="Poppins"/>
                        </a:rPr>
                        <a:t>qtde_eva</a:t>
                      </a:r>
                      <a:r>
                        <a:rPr lang="pt-BR" sz="1200" dirty="0">
                          <a:latin typeface="Poppins"/>
                          <a:cs typeface="Poppins"/>
                        </a:rPr>
                        <a:t>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Poppins"/>
                          <a:cs typeface="Poppins"/>
                        </a:rPr>
                        <a:t>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dirty="0">
                          <a:latin typeface="Poppins"/>
                          <a:cs typeface="Poppins"/>
                        </a:rPr>
                        <a:t>R$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9500230"/>
                  </a:ext>
                </a:extLst>
              </a:tr>
              <a:tr h="629758">
                <a:tc>
                  <a:txBody>
                    <a:bodyPr/>
                    <a:lstStyle/>
                    <a:p>
                      <a:r>
                        <a:rPr lang="pt-BR" sz="1400" b="1" dirty="0">
                          <a:solidFill>
                            <a:srgbClr val="FF0000"/>
                          </a:solidFill>
                          <a:latin typeface="Poppins"/>
                          <a:cs typeface="Poppins"/>
                        </a:rPr>
                        <a:t>VALOR TOTAL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 b="1">
                        <a:solidFill>
                          <a:srgbClr val="FF0000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b="1">
                        <a:solidFill>
                          <a:srgbClr val="FF0000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R$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725771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57842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45</cp:revision>
  <dcterms:created xsi:type="dcterms:W3CDTF">2026-05-18T18:29:53Z</dcterms:created>
  <dcterms:modified xsi:type="dcterms:W3CDTF">2026-05-19T13:50:22Z</dcterms:modified>
</cp:coreProperties>
</file>