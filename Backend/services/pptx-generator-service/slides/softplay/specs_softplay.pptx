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82" r:id="rId2"/>
    <p:sldId id="383" r:id="rId3"/>
    <p:sldId id="374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7859E-631C-378B-7DF3-E3C6EE04A4C3}" v="5" dt="2026-05-22T19:19:52.218"/>
    <p1510:client id="{2560B14C-EBDD-9B38-173D-F6F95B3C02DF}" v="269" dt="2026-05-22T18:14:37.730"/>
    <p1510:client id="{31B5D17B-98B8-ADA8-8C82-B1AACC51A3A4}" v="488" dt="2026-05-22T19:07:07.041"/>
    <p1510:client id="{B7738A13-67A9-9F03-D1D7-B5B4FAFE4904}" v="53" dt="2026-05-22T19:15:29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30E-FA0A-2D86-1BE8-71C41D79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728A8-7CCB-8FA8-BAA5-7C504A19F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DB3F8-A833-98D4-551B-BC8CAB7B9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 dirty="0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 dirty="0"/>
            </a:br>
            <a:r>
              <a:rPr lang="en-BR" dirty="0"/>
              <a:t>NÃO DESCONFIGURAR NADA!</a:t>
            </a:r>
            <a:br>
              <a:rPr lang="en-BR" dirty="0"/>
            </a:br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B2F1-66DA-6966-F917-DA4794FC8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761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30E-FA0A-2D86-1BE8-71C41D79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728A8-7CCB-8FA8-BAA5-7C504A19F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DB3F8-A833-98D4-551B-BC8CAB7B9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 dirty="0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 dirty="0"/>
            </a:br>
            <a:r>
              <a:rPr lang="en-BR" dirty="0"/>
              <a:t>NÃO DESCONFIGURAR NADA!</a:t>
            </a:r>
            <a:br>
              <a:rPr lang="en-BR" dirty="0"/>
            </a:br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B2F1-66DA-6966-F917-DA4794FC8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988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180D2-B1F8-5F99-20E9-F2201694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1">
            <a:extLst>
              <a:ext uri="{FF2B5EF4-FFF2-40B4-BE49-F238E27FC236}">
                <a16:creationId xmlns:a16="http://schemas.microsoft.com/office/drawing/2014/main" id="{E3D44835-B97E-6A1B-055C-775ED108D8F2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730DD897-B0E2-9865-5145-47F9F8209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5" name="CaixaDeTexto 10">
            <a:extLst>
              <a:ext uri="{FF2B5EF4-FFF2-40B4-BE49-F238E27FC236}">
                <a16:creationId xmlns:a16="http://schemas.microsoft.com/office/drawing/2014/main" id="{90840C06-3210-2C31-09CD-C4EB3E47353C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EC0A9C12-0FFA-6AEE-FE94-E19DD2F790A3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F067A26D-1DEF-13FD-E3B5-5EDCC7188F32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D4337C1E-FCCE-9154-ECC3-C8547BFAB8ED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3FF76436-8C4F-3B1E-D1F1-65FF638F1A90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EB9A7A08-6409-BB80-8867-58DDB68743BB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D3978C5-1C40-D979-DA16-2B9B11380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1" y="927922"/>
            <a:ext cx="9735736" cy="1882721"/>
          </a:xfr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Sistema de piso flexível drenante, moldado 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“in loco” 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em duas camadas sendo: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1ª camada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 – Aproximadamente 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/>
              </a:rPr>
              <a:t>{{</a:t>
            </a:r>
            <a:r>
              <a:rPr lang="pt-BR" sz="1200" b="1">
                <a:latin typeface="Poppins "/>
                <a:ea typeface="Times New Roman" panose="02020603050405020304" pitchFamily="18" charset="0"/>
                <a:cs typeface="Poppins Light"/>
              </a:rPr>
              <a:t>espessura_sbr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/>
              </a:rPr>
              <a:t>}}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cm 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de borracha 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SBR 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fiapão, acrescida</a:t>
            </a: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s com cerca de 1/3 de grânulos de borracha de 2,00 a 4,00mm com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 granulometria controlada, aglomerados com resina de poliuretano;</a:t>
            </a:r>
            <a:endParaRPr lang="pt-BR" sz="1200" dirty="0">
              <a:latin typeface="Poppins "/>
              <a:cs typeface="Poppins Light"/>
            </a:endParaRP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2ª 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/>
              </a:rPr>
              <a:t>c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amada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 – Aproximadamente</a:t>
            </a: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 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/>
              </a:rPr>
              <a:t>{{</a:t>
            </a:r>
            <a:r>
              <a:rPr lang="pt-BR" sz="1200" b="1">
                <a:latin typeface="Poppins "/>
                <a:ea typeface="Times New Roman" panose="02020603050405020304" pitchFamily="18" charset="0"/>
                <a:cs typeface="Poppins Light"/>
              </a:rPr>
              <a:t>espessura_epdm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/>
              </a:rPr>
              <a:t>}}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cm 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de granulado de borracha 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EPDM 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com grãos de espessura de 2,00 a 4,00mm, 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na cor a ser definida pelo cliente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.</a:t>
            </a:r>
          </a:p>
        </p:txBody>
      </p:sp>
      <p:sp>
        <p:nvSpPr>
          <p:cNvPr id="4" name="CaixaDeTexto 15">
            <a:extLst>
              <a:ext uri="{FF2B5EF4-FFF2-40B4-BE49-F238E27FC236}">
                <a16:creationId xmlns:a16="http://schemas.microsoft.com/office/drawing/2014/main" id="{4F4F121F-6C11-2478-C230-3C6B0BB334A4}"/>
              </a:ext>
            </a:extLst>
          </p:cNvPr>
          <p:cNvSpPr txBox="1"/>
          <p:nvPr/>
        </p:nvSpPr>
        <p:spPr>
          <a:xfrm>
            <a:off x="2104811" y="322704"/>
            <a:ext cx="4282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Sistema Softplay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41180A73-1B25-AC41-D45C-800BF56438F0}"/>
              </a:ext>
            </a:extLst>
          </p:cNvPr>
          <p:cNvSpPr/>
          <p:nvPr/>
        </p:nvSpPr>
        <p:spPr>
          <a:xfrm>
            <a:off x="4664341" y="3342233"/>
            <a:ext cx="4957980" cy="20652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77494C0-EB53-2435-73D9-D7798E3F5CB7}"/>
              </a:ext>
            </a:extLst>
          </p:cNvPr>
          <p:cNvSpPr txBox="1"/>
          <p:nvPr/>
        </p:nvSpPr>
        <p:spPr>
          <a:xfrm>
            <a:off x="4903822" y="3663042"/>
            <a:ext cx="4718499" cy="15204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ctr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Superfície drenant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e, a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ntiderrapante, sem juntas, permeável, de alta resistência, macio, atóxico e de fácil limpeza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.</a:t>
            </a:r>
          </a:p>
          <a:p>
            <a:pPr algn="ctr">
              <a:lnSpc>
                <a:spcPct val="200000"/>
              </a:lnSpc>
              <a:buClr>
                <a:srgbClr val="FF0000"/>
              </a:buClr>
            </a:pPr>
            <a:r>
              <a:rPr lang="pt-BR" sz="1200" b="1" dirty="0">
                <a:solidFill>
                  <a:srgbClr val="FF0000"/>
                </a:solidFill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Espessura total: </a:t>
            </a:r>
            <a:r>
              <a:rPr lang="pt-BR" sz="1200" b="1" dirty="0">
                <a:solidFill>
                  <a:srgbClr val="FF0000"/>
                </a:solidFill>
                <a:latin typeface="Poppins "/>
                <a:ea typeface="Times New Roman" panose="02020603050405020304" pitchFamily="18" charset="0"/>
                <a:cs typeface="Poppins Light"/>
              </a:rPr>
              <a:t>{{</a:t>
            </a:r>
            <a:r>
              <a:rPr lang="pt-BR" sz="1200" b="1">
                <a:solidFill>
                  <a:srgbClr val="FF0000"/>
                </a:solidFill>
                <a:latin typeface="Poppins "/>
                <a:ea typeface="Times New Roman" panose="02020603050405020304" pitchFamily="18" charset="0"/>
                <a:cs typeface="Poppins Light"/>
              </a:rPr>
              <a:t>espessura_total</a:t>
            </a:r>
            <a:r>
              <a:rPr lang="pt-BR" sz="1200" b="1" dirty="0">
                <a:solidFill>
                  <a:srgbClr val="FF0000"/>
                </a:solidFill>
                <a:latin typeface="Poppins "/>
                <a:ea typeface="Times New Roman" panose="02020603050405020304" pitchFamily="18" charset="0"/>
                <a:cs typeface="Poppins Light"/>
              </a:rPr>
              <a:t>}}</a:t>
            </a:r>
            <a:r>
              <a:rPr lang="pt-BR" sz="1200" b="1" dirty="0">
                <a:solidFill>
                  <a:srgbClr val="FF0000"/>
                </a:solidFill>
                <a:highlight>
                  <a:srgbClr val="FFFF00"/>
                </a:highlight>
                <a:latin typeface="Poppins "/>
                <a:ea typeface="Times New Roman" panose="02020603050405020304" pitchFamily="18" charset="0"/>
                <a:cs typeface="Poppins Light"/>
              </a:rPr>
              <a:t> </a:t>
            </a:r>
            <a:r>
              <a:rPr lang="pt-BR" sz="1200" b="1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Poppins "/>
                <a:ea typeface="Times New Roman" panose="02020603050405020304" pitchFamily="18" charset="0"/>
                <a:cs typeface="Poppins Light"/>
              </a:rPr>
              <a:t>cm</a:t>
            </a:r>
          </a:p>
        </p:txBody>
      </p:sp>
    </p:spTree>
    <p:extLst>
      <p:ext uri="{BB962C8B-B14F-4D97-AF65-F5344CB8AC3E}">
        <p14:creationId xmlns:p14="http://schemas.microsoft.com/office/powerpoint/2010/main" val="114099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180D2-B1F8-5F99-20E9-F2201694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1">
            <a:extLst>
              <a:ext uri="{FF2B5EF4-FFF2-40B4-BE49-F238E27FC236}">
                <a16:creationId xmlns:a16="http://schemas.microsoft.com/office/drawing/2014/main" id="{E3D44835-B97E-6A1B-055C-775ED108D8F2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730DD897-B0E2-9865-5145-47F9F8209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5" name="CaixaDeTexto 10">
            <a:extLst>
              <a:ext uri="{FF2B5EF4-FFF2-40B4-BE49-F238E27FC236}">
                <a16:creationId xmlns:a16="http://schemas.microsoft.com/office/drawing/2014/main" id="{90840C06-3210-2C31-09CD-C4EB3E47353C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EC0A9C12-0FFA-6AEE-FE94-E19DD2F790A3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F067A26D-1DEF-13FD-E3B5-5EDCC7188F32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D4337C1E-FCCE-9154-ECC3-C8547BFAB8ED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3FF76436-8C4F-3B1E-D1F1-65FF638F1A90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EB9A7A08-6409-BB80-8867-58DDB68743BB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4" name="CaixaDeTexto 15">
            <a:extLst>
              <a:ext uri="{FF2B5EF4-FFF2-40B4-BE49-F238E27FC236}">
                <a16:creationId xmlns:a16="http://schemas.microsoft.com/office/drawing/2014/main" id="{4F4F121F-6C11-2478-C230-3C6B0BB334A4}"/>
              </a:ext>
            </a:extLst>
          </p:cNvPr>
          <p:cNvSpPr txBox="1"/>
          <p:nvPr/>
        </p:nvSpPr>
        <p:spPr>
          <a:xfrm>
            <a:off x="2104811" y="322704"/>
            <a:ext cx="428262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Sistema </a:t>
            </a:r>
            <a:r>
              <a:rPr lang="pt-BR" sz="3200" b="1" dirty="0" err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Softplay</a:t>
            </a:r>
            <a:endParaRPr lang="pt-BR" sz="32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  <a:p>
            <a:pPr>
              <a:defRPr/>
            </a:pPr>
            <a:r>
              <a:rPr lang="pt-BR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Norma ABNT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998ECF7-D978-9587-B1BA-1DE349EC614D}"/>
              </a:ext>
            </a:extLst>
          </p:cNvPr>
          <p:cNvSpPr txBox="1"/>
          <p:nvPr/>
        </p:nvSpPr>
        <p:spPr>
          <a:xfrm>
            <a:off x="7243002" y="4730376"/>
            <a:ext cx="1775032" cy="24622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latin typeface="Poppins "/>
              </a:rPr>
              <a:t>30mm – 3cm 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81F6302-4AD2-046D-98B6-BC651F29D410}"/>
              </a:ext>
            </a:extLst>
          </p:cNvPr>
          <p:cNvSpPr txBox="1"/>
          <p:nvPr/>
        </p:nvSpPr>
        <p:spPr>
          <a:xfrm>
            <a:off x="7243002" y="4227742"/>
            <a:ext cx="1775032" cy="24622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latin typeface="Poppins "/>
              </a:rPr>
              <a:t>50mm – 5cm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6418CF7-6739-4C09-0F2A-A7E45F7FD655}"/>
              </a:ext>
            </a:extLst>
          </p:cNvPr>
          <p:cNvSpPr txBox="1"/>
          <p:nvPr/>
        </p:nvSpPr>
        <p:spPr>
          <a:xfrm rot="5400000">
            <a:off x="3911084" y="3692673"/>
            <a:ext cx="2920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ALTURA DOS BRINQUEDOS EM METROS  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940D770-2FBB-9113-AAF1-6D827E9965F1}"/>
              </a:ext>
            </a:extLst>
          </p:cNvPr>
          <p:cNvSpPr txBox="1"/>
          <p:nvPr/>
        </p:nvSpPr>
        <p:spPr>
          <a:xfrm>
            <a:off x="8106498" y="4291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565F581-BFEF-43BB-CFED-F075B9C97C94}"/>
              </a:ext>
            </a:extLst>
          </p:cNvPr>
          <p:cNvSpPr txBox="1"/>
          <p:nvPr/>
        </p:nvSpPr>
        <p:spPr>
          <a:xfrm>
            <a:off x="7243002" y="3700701"/>
            <a:ext cx="1775032" cy="24622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latin typeface="Poppins "/>
              </a:rPr>
              <a:t>80mm – 8cm 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C65FD2A-9BAC-A7D5-BD38-FAE4FFB111B2}"/>
              </a:ext>
            </a:extLst>
          </p:cNvPr>
          <p:cNvSpPr txBox="1"/>
          <p:nvPr/>
        </p:nvSpPr>
        <p:spPr>
          <a:xfrm>
            <a:off x="7243002" y="3164619"/>
            <a:ext cx="1775032" cy="24622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latin typeface="Poppins "/>
              </a:rPr>
              <a:t>120mm – 12cm</a:t>
            </a:r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342CF050-163C-FEAE-5BF5-877D602C65FA}"/>
              </a:ext>
            </a:extLst>
          </p:cNvPr>
          <p:cNvCxnSpPr>
            <a:cxnSpLocks/>
          </p:cNvCxnSpPr>
          <p:nvPr/>
        </p:nvCxnSpPr>
        <p:spPr>
          <a:xfrm>
            <a:off x="5585084" y="2363326"/>
            <a:ext cx="0" cy="28039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D61835-FB23-5232-143E-C10727A5AC07}"/>
              </a:ext>
            </a:extLst>
          </p:cNvPr>
          <p:cNvSpPr txBox="1"/>
          <p:nvPr/>
        </p:nvSpPr>
        <p:spPr>
          <a:xfrm>
            <a:off x="2104811" y="1184478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Norma ABNT 16071-3 – Relação entre espessura e absorção de impacto</a:t>
            </a:r>
          </a:p>
        </p:txBody>
      </p: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78448836-62FD-D470-0B94-F6AE57B1E121}"/>
              </a:ext>
            </a:extLst>
          </p:cNvPr>
          <p:cNvCxnSpPr>
            <a:cxnSpLocks/>
          </p:cNvCxnSpPr>
          <p:nvPr/>
        </p:nvCxnSpPr>
        <p:spPr>
          <a:xfrm>
            <a:off x="6198203" y="4640798"/>
            <a:ext cx="957943" cy="1919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93123BB1-249D-CCC0-D138-07380A25C127}"/>
              </a:ext>
            </a:extLst>
          </p:cNvPr>
          <p:cNvCxnSpPr>
            <a:cxnSpLocks/>
          </p:cNvCxnSpPr>
          <p:nvPr/>
        </p:nvCxnSpPr>
        <p:spPr>
          <a:xfrm>
            <a:off x="6194408" y="4159101"/>
            <a:ext cx="957943" cy="1919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id="{75CA0FBA-A701-67CA-9BBA-606476CBFAE0}"/>
              </a:ext>
            </a:extLst>
          </p:cNvPr>
          <p:cNvCxnSpPr>
            <a:cxnSpLocks/>
          </p:cNvCxnSpPr>
          <p:nvPr/>
        </p:nvCxnSpPr>
        <p:spPr>
          <a:xfrm>
            <a:off x="6194407" y="3586749"/>
            <a:ext cx="957943" cy="1919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do 30">
            <a:extLst>
              <a:ext uri="{FF2B5EF4-FFF2-40B4-BE49-F238E27FC236}">
                <a16:creationId xmlns:a16="http://schemas.microsoft.com/office/drawing/2014/main" id="{31B71596-E01A-3C6B-FE45-395B7899C020}"/>
              </a:ext>
            </a:extLst>
          </p:cNvPr>
          <p:cNvCxnSpPr>
            <a:cxnSpLocks/>
          </p:cNvCxnSpPr>
          <p:nvPr/>
        </p:nvCxnSpPr>
        <p:spPr>
          <a:xfrm>
            <a:off x="6198204" y="3068620"/>
            <a:ext cx="957943" cy="1919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965A2D8-7B0F-4CE7-897A-0E748D2AD605}"/>
              </a:ext>
            </a:extLst>
          </p:cNvPr>
          <p:cNvSpPr txBox="1"/>
          <p:nvPr/>
        </p:nvSpPr>
        <p:spPr>
          <a:xfrm>
            <a:off x="5715753" y="4517687"/>
            <a:ext cx="4128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latin typeface="Poppins "/>
              </a:rPr>
              <a:t>1,0</a:t>
            </a:r>
            <a:endParaRPr lang="pt-BR" sz="1000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02CCAEA8-CBF8-1F70-A032-07412A4D01E1}"/>
              </a:ext>
            </a:extLst>
          </p:cNvPr>
          <p:cNvSpPr txBox="1"/>
          <p:nvPr/>
        </p:nvSpPr>
        <p:spPr>
          <a:xfrm>
            <a:off x="5715753" y="4034014"/>
            <a:ext cx="4128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latin typeface="Poppins "/>
              </a:rPr>
              <a:t>1,5</a:t>
            </a:r>
            <a:endParaRPr lang="pt-BR" sz="1000" dirty="0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3521E48-44CB-3F29-AF03-B623F8FDF528}"/>
              </a:ext>
            </a:extLst>
          </p:cNvPr>
          <p:cNvSpPr txBox="1"/>
          <p:nvPr/>
        </p:nvSpPr>
        <p:spPr>
          <a:xfrm>
            <a:off x="5706853" y="3463638"/>
            <a:ext cx="4128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latin typeface="Poppins "/>
              </a:rPr>
              <a:t>2,0</a:t>
            </a:r>
            <a:endParaRPr lang="pt-BR" sz="1000" dirty="0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8EFBED7-3D12-3A1C-2BE8-C8A33CFEB584}"/>
              </a:ext>
            </a:extLst>
          </p:cNvPr>
          <p:cNvSpPr txBox="1"/>
          <p:nvPr/>
        </p:nvSpPr>
        <p:spPr>
          <a:xfrm>
            <a:off x="5703742" y="2951682"/>
            <a:ext cx="4128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latin typeface="Poppins "/>
              </a:rPr>
              <a:t>2,5</a:t>
            </a:r>
            <a:endParaRPr lang="pt-BR" sz="1000" dirty="0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6DB900E8-E5F8-F591-5E11-1099B0F2DB7F}"/>
              </a:ext>
            </a:extLst>
          </p:cNvPr>
          <p:cNvSpPr txBox="1"/>
          <p:nvPr/>
        </p:nvSpPr>
        <p:spPr>
          <a:xfrm>
            <a:off x="7243002" y="2671103"/>
            <a:ext cx="1775032" cy="24622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latin typeface="Poppins "/>
              </a:rPr>
              <a:t>130mm – 13 cm </a:t>
            </a:r>
          </a:p>
        </p:txBody>
      </p: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6EEDFFBE-28C0-3641-ABDA-4C4F6F218DBC}"/>
              </a:ext>
            </a:extLst>
          </p:cNvPr>
          <p:cNvCxnSpPr>
            <a:cxnSpLocks/>
          </p:cNvCxnSpPr>
          <p:nvPr/>
        </p:nvCxnSpPr>
        <p:spPr>
          <a:xfrm>
            <a:off x="6198204" y="2602214"/>
            <a:ext cx="957943" cy="1919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10BA7C26-3DD9-A239-20FB-9D79AAE4D89E}"/>
              </a:ext>
            </a:extLst>
          </p:cNvPr>
          <p:cNvSpPr txBox="1"/>
          <p:nvPr/>
        </p:nvSpPr>
        <p:spPr>
          <a:xfrm>
            <a:off x="5729498" y="2478884"/>
            <a:ext cx="4128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latin typeface="Poppins "/>
              </a:rPr>
              <a:t>3,0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91681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8D6DF9-CE6B-3D8F-494E-6D1270A313E5}"/>
              </a:ext>
            </a:extLst>
          </p:cNvPr>
          <p:cNvSpPr txBox="1">
            <a:spLocks/>
          </p:cNvSpPr>
          <p:nvPr/>
        </p:nvSpPr>
        <p:spPr>
          <a:xfrm>
            <a:off x="2079726" y="180366"/>
            <a:ext cx="9727960" cy="10419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Recomendações para execução da base de concreto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76D22A-81F7-483F-9C1A-AD734E65A584}"/>
              </a:ext>
            </a:extLst>
          </p:cNvPr>
          <p:cNvSpPr txBox="1"/>
          <p:nvPr/>
        </p:nvSpPr>
        <p:spPr>
          <a:xfrm>
            <a:off x="2079725" y="1218638"/>
            <a:ext cx="9727961" cy="2628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0400" marR="0" lvl="1" indent="-2304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Entre o terreno e o concreto deverá ser aplicado um filme impermeável de polietileno com mínimo de 20µm (micra) de espessura (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dompgard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ou similar) com sobreposição mínima de 1m para evitar subpressão de vapor e umidade do solo; </a:t>
            </a:r>
          </a:p>
          <a:p>
            <a:pPr marL="230400" marR="0" lvl="1" indent="-2304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Deverá ser colocada uma tela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eletrosoldada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tipo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Telcon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ou similar com malha de 15x15cm e diâmetro de 3,4mm, com espaçadores plásticos evitando furar a manta de polietileno. Esta tela tem a função de absorver movimentos de retração do concreto sem, portanto, ter função estrutural;</a:t>
            </a:r>
          </a:p>
          <a:p>
            <a:pPr marL="230400" marR="0" lvl="1" indent="-2304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 concreto deverá ser executado, desempenado com desempenadeira de aço, fazendo com que o piso esteja uniforme, não vitrificado, isento de umidade e com as juntas de dilatação tratadas.</a:t>
            </a:r>
            <a:endParaRPr kumimoji="0" lang="pt-BR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4502170-55EE-C11D-F57D-2C9827173415}"/>
              </a:ext>
            </a:extLst>
          </p:cNvPr>
          <p:cNvSpPr txBox="1"/>
          <p:nvPr/>
        </p:nvSpPr>
        <p:spPr>
          <a:xfrm>
            <a:off x="2079725" y="4418554"/>
            <a:ext cx="9727960" cy="225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0400" marR="0" lvl="0" indent="-2304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Resistência igual ou maior a 20m.p.a ativado com micro sílica, fibra de polipropileno e incorporador de ar de acordo com especificação do fabricante. Espessura mínima de 10cm;</a:t>
            </a:r>
          </a:p>
          <a:p>
            <a:pPr marL="230400" marR="0" lvl="1" indent="-2286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As juntas deverão obedecer o espaçamento mínimo de norma em função da área ou no máximo a cada 5 metros entre as juntas serradas;</a:t>
            </a:r>
          </a:p>
          <a:p>
            <a:pPr marL="230400" marR="0" lvl="1" indent="-2286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 largura da junta serrada deverá ser de 3mm e sua profundidade correspondente à 1/3 da espessura da base de concreto.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935490-EB4B-E0AB-D7B2-ED878AD8C4C2}"/>
              </a:ext>
            </a:extLst>
          </p:cNvPr>
          <p:cNvSpPr txBox="1">
            <a:spLocks/>
          </p:cNvSpPr>
          <p:nvPr/>
        </p:nvSpPr>
        <p:spPr>
          <a:xfrm>
            <a:off x="2079726" y="3869783"/>
            <a:ext cx="8805988" cy="54827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Características técnicas do concreto</a:t>
            </a:r>
          </a:p>
        </p:txBody>
      </p:sp>
      <p:sp>
        <p:nvSpPr>
          <p:cNvPr id="3" name="Retângulo 1">
            <a:extLst>
              <a:ext uri="{FF2B5EF4-FFF2-40B4-BE49-F238E27FC236}">
                <a16:creationId xmlns:a16="http://schemas.microsoft.com/office/drawing/2014/main" id="{4E71A842-00A8-3723-CC95-594EA50BFB29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D9E7802E-C039-0382-616D-DCBA02EF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C22047A-692F-BA48-F348-FB57CF4C66C3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2" name="CaixaDeTexto 10">
            <a:extLst>
              <a:ext uri="{FF2B5EF4-FFF2-40B4-BE49-F238E27FC236}">
                <a16:creationId xmlns:a16="http://schemas.microsoft.com/office/drawing/2014/main" id="{7CFEA8A3-AB0B-36E7-7C50-DDB8C6D0A127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FB9BCBA0-02DC-92AD-D3B3-42A9A6441D5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14" name="CaixaDeTexto 10">
            <a:extLst>
              <a:ext uri="{FF2B5EF4-FFF2-40B4-BE49-F238E27FC236}">
                <a16:creationId xmlns:a16="http://schemas.microsoft.com/office/drawing/2014/main" id="{E4EEC601-0312-D9C1-D4F5-353F80588EF1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A33A3CD6-BC90-BF47-12C5-DF08CEBD383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E600D84C-2B62-3C85-0050-1A1A6ABFC5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</p:spTree>
    <p:extLst>
      <p:ext uri="{BB962C8B-B14F-4D97-AF65-F5344CB8AC3E}">
        <p14:creationId xmlns:p14="http://schemas.microsoft.com/office/powerpoint/2010/main" val="42691354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108</cp:revision>
  <dcterms:created xsi:type="dcterms:W3CDTF">2026-05-22T17:34:16Z</dcterms:created>
  <dcterms:modified xsi:type="dcterms:W3CDTF">2026-05-22T19:19:57Z</dcterms:modified>
</cp:coreProperties>
</file>