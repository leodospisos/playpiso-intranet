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53" r:id="rId2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D225E7D-40D9-CF44-DB31-1C01038BBA60}" v="944" dt="2026-05-19T16:39:44.884"/>
    <p1510:client id="{CA9C1CE4-50E8-F61C-EC8F-DDE016445BC1}" v="38" dt="2026-05-20T15:59:49.51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61" d="100"/>
          <a:sy n="61" d="100"/>
        </p:scale>
        <p:origin x="84" y="3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7B58FC-6199-4481-AE05-143CE4D4EDAB}" type="datetimeFigureOut">
              <a:t>20/05/2026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BC3D7D-6A6F-4DDA-8EAF-22802233670F}" type="slidenum"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81528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BR" b="1"/>
              <a:t>MEXER APENAS NAS INFORMAÇÕES EM PRETO, NÚMERO DA PROPOSTA E DATAS.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br>
              <a:rPr lang="en-BR" b="1"/>
            </a:br>
            <a:r>
              <a:rPr lang="en-BR"/>
              <a:t>NÃO DESCONFIGURAR NADA!</a:t>
            </a:r>
            <a:br>
              <a:rPr lang="en-BR"/>
            </a:br>
            <a:r>
              <a:rPr lang="en-BR"/>
              <a:t>]</a:t>
            </a:r>
          </a:p>
          <a:p>
            <a:endParaRPr lang="en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27C740D-A4AF-9C40-8FFB-99FBBDFCF035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553365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776838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40052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813757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1246138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6944210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1085334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5782815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7836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45566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46588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063975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de-DE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de-DE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0E51C7C-CEA3-4CAA-BE4B-344879E7C377}" type="datetimeFigureOut">
              <a:rPr lang="de-DE" smtClean="0"/>
              <a:t>20.05.2026</a:t>
            </a:fld>
            <a:endParaRPr lang="de-DE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54FE2FE-B55E-4328-8F5C-2CEB8781A47B}" type="slidenum">
              <a:rPr lang="de-DE" smtClean="0"/>
              <a:t>‹nº›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6757469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 1">
            <a:extLst>
              <a:ext uri="{FF2B5EF4-FFF2-40B4-BE49-F238E27FC236}">
                <a16:creationId xmlns:a16="http://schemas.microsoft.com/office/drawing/2014/main" id="{98415AD4-453C-2C61-8074-33765217D21C}"/>
              </a:ext>
            </a:extLst>
          </p:cNvPr>
          <p:cNvSpPr/>
          <p:nvPr/>
        </p:nvSpPr>
        <p:spPr>
          <a:xfrm>
            <a:off x="1" y="0"/>
            <a:ext cx="1914523" cy="6858000"/>
          </a:xfrm>
          <a:prstGeom prst="rect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11" name="Imagem 5" descr="Desenho de um círculo&#10;&#10;Descrição gerada automaticamente com confiança baixa">
            <a:extLst>
              <a:ext uri="{FF2B5EF4-FFF2-40B4-BE49-F238E27FC236}">
                <a16:creationId xmlns:a16="http://schemas.microsoft.com/office/drawing/2014/main" id="{9970300F-E250-1F22-96B2-E557FEBB5A1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7394" y="322704"/>
            <a:ext cx="622719" cy="600016"/>
          </a:xfrm>
          <a:prstGeom prst="rect">
            <a:avLst/>
          </a:prstGeom>
        </p:spPr>
      </p:pic>
      <p:sp>
        <p:nvSpPr>
          <p:cNvPr id="16" name="CaixaDeTexto 10">
            <a:extLst>
              <a:ext uri="{FF2B5EF4-FFF2-40B4-BE49-F238E27FC236}">
                <a16:creationId xmlns:a16="http://schemas.microsoft.com/office/drawing/2014/main" id="{5FB0C76A-92D8-A462-B856-3F8AC6B113A0}"/>
              </a:ext>
            </a:extLst>
          </p:cNvPr>
          <p:cNvSpPr txBox="1"/>
          <p:nvPr/>
        </p:nvSpPr>
        <p:spPr>
          <a:xfrm>
            <a:off x="39778" y="1911638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Projeto</a:t>
            </a:r>
          </a:p>
        </p:txBody>
      </p:sp>
      <p:sp>
        <p:nvSpPr>
          <p:cNvPr id="17" name="CaixaDeTexto 10">
            <a:extLst>
              <a:ext uri="{FF2B5EF4-FFF2-40B4-BE49-F238E27FC236}">
                <a16:creationId xmlns:a16="http://schemas.microsoft.com/office/drawing/2014/main" id="{0EAF9B9D-DDBE-6D68-4267-55B3D2D13971}"/>
              </a:ext>
            </a:extLst>
          </p:cNvPr>
          <p:cNvSpPr txBox="1"/>
          <p:nvPr/>
        </p:nvSpPr>
        <p:spPr>
          <a:xfrm>
            <a:off x="39778" y="2660340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Pagamento</a:t>
            </a:r>
          </a:p>
        </p:txBody>
      </p:sp>
      <p:sp>
        <p:nvSpPr>
          <p:cNvPr id="18" name="CaixaDeTexto 10">
            <a:extLst>
              <a:ext uri="{FF2B5EF4-FFF2-40B4-BE49-F238E27FC236}">
                <a16:creationId xmlns:a16="http://schemas.microsoft.com/office/drawing/2014/main" id="{09E11D68-CFA7-DE20-79FC-ED7EA652C72B}"/>
              </a:ext>
            </a:extLst>
          </p:cNvPr>
          <p:cNvSpPr txBox="1"/>
          <p:nvPr/>
        </p:nvSpPr>
        <p:spPr>
          <a:xfrm>
            <a:off x="39778" y="2285989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 b="1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Investimento</a:t>
            </a:r>
          </a:p>
        </p:txBody>
      </p:sp>
      <p:sp>
        <p:nvSpPr>
          <p:cNvPr id="19" name="CaixaDeTexto 10">
            <a:extLst>
              <a:ext uri="{FF2B5EF4-FFF2-40B4-BE49-F238E27FC236}">
                <a16:creationId xmlns:a16="http://schemas.microsoft.com/office/drawing/2014/main" id="{321A007E-2704-52F9-6888-BF8B31D713A8}"/>
              </a:ext>
            </a:extLst>
          </p:cNvPr>
          <p:cNvSpPr txBox="1"/>
          <p:nvPr/>
        </p:nvSpPr>
        <p:spPr>
          <a:xfrm>
            <a:off x="39778" y="3034691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Prazos</a:t>
            </a:r>
          </a:p>
        </p:txBody>
      </p:sp>
      <p:sp>
        <p:nvSpPr>
          <p:cNvPr id="20" name="CaixaDeTexto 10">
            <a:extLst>
              <a:ext uri="{FF2B5EF4-FFF2-40B4-BE49-F238E27FC236}">
                <a16:creationId xmlns:a16="http://schemas.microsoft.com/office/drawing/2014/main" id="{4D0600C1-6FD1-1AC7-5817-6D6042A8FA0E}"/>
              </a:ext>
            </a:extLst>
          </p:cNvPr>
          <p:cNvSpPr txBox="1"/>
          <p:nvPr/>
        </p:nvSpPr>
        <p:spPr>
          <a:xfrm>
            <a:off x="39778" y="3409042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Garantia</a:t>
            </a:r>
          </a:p>
        </p:txBody>
      </p:sp>
      <p:sp>
        <p:nvSpPr>
          <p:cNvPr id="21" name="CaixaDeTexto 10">
            <a:extLst>
              <a:ext uri="{FF2B5EF4-FFF2-40B4-BE49-F238E27FC236}">
                <a16:creationId xmlns:a16="http://schemas.microsoft.com/office/drawing/2014/main" id="{CC8C0389-6754-B764-8786-C5E8DF0F58E5}"/>
              </a:ext>
            </a:extLst>
          </p:cNvPr>
          <p:cNvSpPr txBox="1"/>
          <p:nvPr/>
        </p:nvSpPr>
        <p:spPr>
          <a:xfrm>
            <a:off x="39778" y="3783395"/>
            <a:ext cx="206503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PT" sz="1400">
                <a:solidFill>
                  <a:schemeClr val="bg1"/>
                </a:solidFill>
                <a:effectLst/>
                <a:latin typeface="Poppins" pitchFamily="2" charset="77"/>
                <a:cs typeface="Poppins" pitchFamily="2" charset="77"/>
              </a:rPr>
              <a:t>Regras </a:t>
            </a:r>
          </a:p>
        </p:txBody>
      </p:sp>
      <p:sp>
        <p:nvSpPr>
          <p:cNvPr id="24" name="CaixaDeTexto 15">
            <a:extLst>
              <a:ext uri="{FF2B5EF4-FFF2-40B4-BE49-F238E27FC236}">
                <a16:creationId xmlns:a16="http://schemas.microsoft.com/office/drawing/2014/main" id="{CF4E99DB-D5CF-6669-C4F8-61957610BA69}"/>
              </a:ext>
            </a:extLst>
          </p:cNvPr>
          <p:cNvSpPr txBox="1"/>
          <p:nvPr/>
        </p:nvSpPr>
        <p:spPr>
          <a:xfrm>
            <a:off x="2104811" y="322704"/>
            <a:ext cx="390735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/>
            </a:pPr>
            <a:r>
              <a:rPr lang="pt-BR" sz="3200" b="1">
                <a:solidFill>
                  <a:srgbClr val="FF0000"/>
                </a:solidFill>
                <a:latin typeface="Poppins Bold" panose="00000800000000000000" pitchFamily="2" charset="0"/>
                <a:cs typeface="Poppins Bold" panose="00000800000000000000" pitchFamily="2" charset="0"/>
              </a:rPr>
              <a:t>2. Investimento</a:t>
            </a:r>
            <a:endParaRPr lang="pt-BR" sz="2800" b="1">
              <a:solidFill>
                <a:srgbClr val="FF0000"/>
              </a:solidFill>
              <a:latin typeface="Poppins Bold" panose="00000800000000000000" pitchFamily="2" charset="0"/>
              <a:cs typeface="Poppins Bold" panose="00000800000000000000" pitchFamily="2" charset="0"/>
            </a:endParaRPr>
          </a:p>
        </p:txBody>
      </p:sp>
      <p:graphicFrame>
        <p:nvGraphicFramePr>
          <p:cNvPr id="2" name="Tabela 7">
            <a:extLst>
              <a:ext uri="{FF2B5EF4-FFF2-40B4-BE49-F238E27FC236}">
                <a16:creationId xmlns:a16="http://schemas.microsoft.com/office/drawing/2014/main" id="{BDCC2FDF-F159-B141-A8D3-99D5A6844A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8815605"/>
              </p:ext>
            </p:extLst>
          </p:nvPr>
        </p:nvGraphicFramePr>
        <p:xfrm>
          <a:off x="2104811" y="885967"/>
          <a:ext cx="9677872" cy="4709402"/>
        </p:xfrm>
        <a:graphic>
          <a:graphicData uri="http://schemas.openxmlformats.org/drawingml/2006/table">
            <a:tbl>
              <a:tblPr firstRow="1" bandRow="1">
                <a:tableStyleId>{74C1A8A3-306A-4EB7-A6B1-4F7E0EB9C5D6}</a:tableStyleId>
              </a:tblPr>
              <a:tblGrid>
                <a:gridCol w="5101099">
                  <a:extLst>
                    <a:ext uri="{9D8B030D-6E8A-4147-A177-3AD203B41FA5}">
                      <a16:colId xmlns:a16="http://schemas.microsoft.com/office/drawing/2014/main" val="1778375940"/>
                    </a:ext>
                  </a:extLst>
                </a:gridCol>
                <a:gridCol w="1324543">
                  <a:extLst>
                    <a:ext uri="{9D8B030D-6E8A-4147-A177-3AD203B41FA5}">
                      <a16:colId xmlns:a16="http://schemas.microsoft.com/office/drawing/2014/main" val="4254550965"/>
                    </a:ext>
                  </a:extLst>
                </a:gridCol>
                <a:gridCol w="1454633">
                  <a:extLst>
                    <a:ext uri="{9D8B030D-6E8A-4147-A177-3AD203B41FA5}">
                      <a16:colId xmlns:a16="http://schemas.microsoft.com/office/drawing/2014/main" val="3290749713"/>
                    </a:ext>
                  </a:extLst>
                </a:gridCol>
                <a:gridCol w="1797597">
                  <a:extLst>
                    <a:ext uri="{9D8B030D-6E8A-4147-A177-3AD203B41FA5}">
                      <a16:colId xmlns:a16="http://schemas.microsoft.com/office/drawing/2014/main" val="2787835671"/>
                    </a:ext>
                  </a:extLst>
                </a:gridCol>
              </a:tblGrid>
              <a:tr h="345517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800" err="1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Descrição</a:t>
                      </a:r>
                      <a:endParaRPr lang="pt-BR" sz="18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 err="1">
                          <a:latin typeface="Poppins"/>
                          <a:cs typeface="Poppins"/>
                        </a:rPr>
                        <a:t>Qtde</a:t>
                      </a:r>
                      <a:r>
                        <a:rPr lang="en-US" sz="1800" dirty="0">
                          <a:latin typeface="Poppins"/>
                          <a:cs typeface="Poppins"/>
                        </a:rPr>
                        <a:t>.</a:t>
                      </a:r>
                      <a:endParaRPr lang="pt-BR" sz="1800" dirty="0">
                        <a:latin typeface="Poppins"/>
                        <a:cs typeface="Poppins"/>
                      </a:endParaRPr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 dirty="0" err="1">
                          <a:latin typeface="Poppins"/>
                          <a:cs typeface="Poppins"/>
                        </a:rPr>
                        <a:t>Unid</a:t>
                      </a:r>
                      <a:r>
                        <a:rPr lang="en-US" sz="1800" dirty="0">
                          <a:latin typeface="Poppins"/>
                          <a:cs typeface="Poppins"/>
                        </a:rPr>
                        <a:t>.</a:t>
                      </a:r>
                      <a:endParaRPr lang="pt-BR" sz="1800" dirty="0">
                        <a:latin typeface="Poppins"/>
                        <a:cs typeface="Poppins"/>
                      </a:endParaRPr>
                    </a:p>
                  </a:txBody>
                  <a:tcP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sz="18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Valor</a:t>
                      </a:r>
                      <a:endParaRPr lang="pt-BR" sz="1800"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solidFill>
                      <a:schemeClr val="bg1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12582095"/>
                  </a:ext>
                </a:extLst>
              </a:tr>
              <a:tr h="6156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pt-BR" sz="1200" b="0" dirty="0">
                          <a:latin typeface="Poppins"/>
                          <a:cs typeface="Poppins"/>
                        </a:rPr>
                        <a:t>Piso – Quadra Poliesportiva  - Base Asfáltica </a:t>
                      </a:r>
                      <a:r>
                        <a:rPr lang="pt-BR" sz="1200" b="0" dirty="0" err="1">
                          <a:latin typeface="Poppins"/>
                          <a:cs typeface="Poppins"/>
                        </a:rPr>
                        <a:t>Playpiso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{{</a:t>
                      </a:r>
                      <a:r>
                        <a:rPr lang="pt-BR" sz="1200" dirty="0" err="1">
                          <a:latin typeface="Poppins"/>
                          <a:cs typeface="Poppins"/>
                        </a:rPr>
                        <a:t>area_total_fmt</a:t>
                      </a:r>
                      <a:r>
                        <a:rPr lang="pt-BR" sz="1200" dirty="0">
                          <a:latin typeface="Poppins"/>
                          <a:cs typeface="Poppins"/>
                        </a:rPr>
                        <a:t>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R$ 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346728657"/>
                  </a:ext>
                </a:extLst>
              </a:tr>
              <a:tr h="620259">
                <a:tc>
                  <a:txBody>
                    <a:bodyPr/>
                    <a:lstStyle/>
                    <a:p>
                      <a:pPr lvl="0" algn="just">
                        <a:lnSpc>
                          <a:spcPct val="150000"/>
                        </a:lnSpc>
                        <a:buNone/>
                      </a:pPr>
                      <a:r>
                        <a:rPr lang="pt-BR" sz="1100" b="0" i="0" u="none" strike="noStrike" noProof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Poppins"/>
                          <a:cs typeface="Poppins"/>
                        </a:rPr>
                        <a:t>Alambrado – Sistema {{</a:t>
                      </a:r>
                      <a:r>
                        <a:rPr lang="pt-BR" sz="1100" b="0" i="0" u="none" strike="noStrike" noProof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Poppins"/>
                          <a:cs typeface="Poppins"/>
                        </a:rPr>
                        <a:t>sistema_alabrado</a:t>
                      </a:r>
                      <a:r>
                        <a:rPr lang="pt-BR" sz="1100" b="0" i="0" u="none" strike="noStrike" noProof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Poppins"/>
                          <a:cs typeface="Poppins"/>
                        </a:rPr>
                        <a:t>}}, tubos galvanizados {{</a:t>
                      </a:r>
                      <a:r>
                        <a:rPr lang="pt-BR" sz="1100" b="0" i="0" u="none" strike="noStrike" noProof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Poppins"/>
                          <a:cs typeface="Poppins"/>
                        </a:rPr>
                        <a:t>galvanizacao</a:t>
                      </a:r>
                      <a:r>
                        <a:rPr lang="pt-BR" sz="1100" b="0" i="0" u="none" strike="noStrike" noProof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Poppins"/>
                          <a:cs typeface="Poppins"/>
                        </a:rPr>
                        <a:t>}}, tela revestida em PVC, {{</a:t>
                      </a:r>
                      <a:r>
                        <a:rPr lang="pt-BR" sz="1100" b="0" i="0" u="none" strike="noStrike" noProof="0" dirty="0" err="1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Poppins"/>
                          <a:cs typeface="Poppins"/>
                        </a:rPr>
                        <a:t>travamento_descricao</a:t>
                      </a:r>
                      <a:r>
                        <a:rPr lang="pt-BR" sz="1100" b="0" i="0" u="none" strike="noStrike" noProof="0" dirty="0">
                          <a:solidFill>
                            <a:srgbClr val="000000"/>
                          </a:solidFill>
                          <a:highlight>
                            <a:srgbClr val="FFFFFF"/>
                          </a:highlight>
                          <a:latin typeface="Poppins"/>
                          <a:cs typeface="Poppins"/>
                        </a:rPr>
                        <a:t>}}</a:t>
                      </a:r>
                      <a:endParaRPr lang="pt-BR" sz="1100">
                        <a:latin typeface="Poppins"/>
                        <a:cs typeface="Poppins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{{</a:t>
                      </a:r>
                      <a:r>
                        <a:rPr lang="pt-BR" sz="1200" dirty="0" err="1">
                          <a:latin typeface="Poppins"/>
                          <a:cs typeface="Poppins"/>
                        </a:rPr>
                        <a:t>area_alambrado</a:t>
                      </a:r>
                      <a:r>
                        <a:rPr lang="pt-BR" sz="1200" dirty="0">
                          <a:latin typeface="Poppins"/>
                          <a:cs typeface="Poppins"/>
                        </a:rPr>
                        <a:t>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R$ 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163533209"/>
                  </a:ext>
                </a:extLst>
              </a:tr>
              <a:tr h="615600">
                <a:tc>
                  <a:txBody>
                    <a:bodyPr/>
                    <a:lstStyle/>
                    <a:p>
                      <a:pPr lvl="0">
                        <a:lnSpc>
                          <a:spcPct val="150000"/>
                        </a:lnSpc>
                        <a:buNone/>
                      </a:pPr>
                      <a:r>
                        <a:rPr lang="pt-BR" sz="1200" b="0" i="0" u="none" strike="noStrike" noProof="0" dirty="0">
                          <a:latin typeface="Poppins"/>
                          <a:cs typeface="Poppins"/>
                        </a:rPr>
                        <a:t>Iluminação – {{</a:t>
                      </a:r>
                      <a:r>
                        <a:rPr lang="pt-BR" sz="1200" b="0" i="0" u="none" strike="noStrike" noProof="0" dirty="0" err="1">
                          <a:latin typeface="Poppins"/>
                          <a:cs typeface="Poppins"/>
                        </a:rPr>
                        <a:t>quantidade_projetores</a:t>
                      </a:r>
                      <a:r>
                        <a:rPr lang="pt-BR" sz="1200" b="0" i="0" u="none" strike="noStrike" noProof="0" dirty="0">
                          <a:latin typeface="Poppins"/>
                          <a:cs typeface="Poppins"/>
                        </a:rPr>
                        <a:t>}} projetores em Led {{</a:t>
                      </a:r>
                      <a:r>
                        <a:rPr lang="pt-BR" sz="1200" b="0" i="0" u="none" strike="noStrike" noProof="0" dirty="0" err="1">
                          <a:latin typeface="Poppins"/>
                          <a:cs typeface="Poppins"/>
                        </a:rPr>
                        <a:t>potencia_projetores</a:t>
                      </a:r>
                      <a:r>
                        <a:rPr lang="pt-BR" sz="1200" b="0" i="0" u="none" strike="noStrike" noProof="0" dirty="0">
                          <a:latin typeface="Poppins"/>
                          <a:cs typeface="Poppins"/>
                        </a:rPr>
                        <a:t>}}W, {{</a:t>
                      </a:r>
                      <a:r>
                        <a:rPr lang="pt-BR" sz="1200" b="0" i="0" u="none" strike="noStrike" noProof="0" dirty="0" err="1">
                          <a:latin typeface="Poppins"/>
                          <a:cs typeface="Poppins"/>
                        </a:rPr>
                        <a:t>quantidade_postes_iluminacao</a:t>
                      </a:r>
                      <a:r>
                        <a:rPr lang="pt-BR" sz="1200" b="0" i="0" u="none" strike="noStrike" noProof="0" dirty="0">
                          <a:latin typeface="Poppins"/>
                          <a:cs typeface="Poppins"/>
                        </a:rPr>
                        <a:t>}} postes galvanizados com altura de {{</a:t>
                      </a:r>
                      <a:r>
                        <a:rPr lang="pt-BR" sz="1200" b="0" i="0" u="none" strike="noStrike" noProof="0" dirty="0" err="1">
                          <a:latin typeface="Poppins"/>
                          <a:cs typeface="Poppins"/>
                        </a:rPr>
                        <a:t>altura_postes_iluminacao</a:t>
                      </a:r>
                      <a:r>
                        <a:rPr lang="pt-BR" sz="1200" b="0" i="0" u="none" strike="noStrike" noProof="0" dirty="0">
                          <a:latin typeface="Poppins"/>
                          <a:cs typeface="Poppins"/>
                        </a:rPr>
                        <a:t>}}m</a:t>
                      </a:r>
                      <a:r>
                        <a:rPr lang="pt-BR" sz="1200" b="0" i="0" u="none" strike="noStrike" noProof="0" dirty="0"/>
                        <a:t> </a:t>
                      </a:r>
                      <a:endParaRPr lang="pt-BR" dirty="0"/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{{</a:t>
                      </a:r>
                      <a:r>
                        <a:rPr lang="pt-BR" sz="1200" dirty="0" err="1">
                          <a:latin typeface="Poppins"/>
                          <a:cs typeface="Poppins"/>
                        </a:rPr>
                        <a:t>qtde_iluminacao</a:t>
                      </a:r>
                      <a:r>
                        <a:rPr lang="pt-BR" sz="1200" dirty="0">
                          <a:latin typeface="Poppins"/>
                          <a:cs typeface="Poppins"/>
                        </a:rPr>
                        <a:t>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Conjunto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R$ 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3036935852"/>
                  </a:ext>
                </a:extLst>
              </a:tr>
              <a:tr h="615600">
                <a:tc>
                  <a:txBody>
                    <a:bodyPr/>
                    <a:lstStyle/>
                    <a:p>
                      <a:pPr marL="0" marR="0" lvl="0" indent="0" algn="l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r>
                        <a:rPr lang="en-BR" sz="1200" b="0" dirty="0" err="1">
                          <a:latin typeface="Poppins"/>
                          <a:cs typeface="Poppins"/>
                        </a:rPr>
                        <a:t>Acessório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s: {{</a:t>
                      </a:r>
                      <a:r>
                        <a:rPr lang="pt-BR" sz="1200" b="0" dirty="0" err="1">
                          <a:latin typeface="Poppins"/>
                          <a:cs typeface="Poppins"/>
                        </a:rPr>
                        <a:t>acessorios_esportivos_descricao</a:t>
                      </a:r>
                      <a:r>
                        <a:rPr lang="pt-BR" sz="1200" b="0" dirty="0">
                          <a:latin typeface="Poppins"/>
                          <a:cs typeface="Poppins"/>
                        </a:rPr>
                        <a:t>}}</a:t>
                      </a:r>
                      <a:endParaRPr lang="en-BR" sz="1200" b="0" dirty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Poppins"/>
                        </a:rPr>
                        <a:t>{{</a:t>
                      </a:r>
                      <a:r>
                        <a:rPr lang="pt-BR" sz="12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Poppins"/>
                        </a:rPr>
                        <a:t>quantity</a:t>
                      </a:r>
                      <a:r>
                        <a:rPr lang="pt-BR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Poppins"/>
                          <a:ea typeface="+mn-ea"/>
                          <a:cs typeface="Poppins"/>
                        </a:rPr>
                        <a:t>}}</a:t>
                      </a:r>
                      <a:endParaRPr kumimoji="0" lang="pt-BR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Poppins"/>
                        <a:ea typeface="+mn-ea"/>
                        <a:cs typeface="Poppin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Conjunto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R$ 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708948746"/>
                  </a:ext>
                </a:extLst>
              </a:tr>
              <a:tr h="61560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sz="1200" b="0">
                          <a:latin typeface="Poppins" pitchFamily="2" charset="77"/>
                          <a:cs typeface="Poppins" pitchFamily="2" charset="77"/>
                        </a:rPr>
                        <a:t>Tela de proteção superior</a:t>
                      </a:r>
                      <a:endParaRPr lang="en-BR" sz="1200" b="0">
                        <a:latin typeface="Poppins" pitchFamily="2" charset="77"/>
                        <a:cs typeface="Poppins" pitchFamily="2" charset="77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/>
                          <a:cs typeface="Poppins"/>
                        </a:rPr>
                        <a:t>{{</a:t>
                      </a:r>
                      <a:r>
                        <a:rPr lang="pt-BR" sz="1200" dirty="0" err="1">
                          <a:latin typeface="Poppins"/>
                          <a:cs typeface="Poppins"/>
                        </a:rPr>
                        <a:t>area_tela_superior</a:t>
                      </a:r>
                      <a:r>
                        <a:rPr lang="pt-BR" sz="1200" dirty="0">
                          <a:latin typeface="Poppins"/>
                          <a:cs typeface="Poppins"/>
                        </a:rPr>
                        <a:t>}}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pt-BR" sz="120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m²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pt-BR" sz="1200" dirty="0"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R$ 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19500230"/>
                  </a:ext>
                </a:extLst>
              </a:tr>
              <a:tr h="615600">
                <a:tc>
                  <a:txBody>
                    <a:bodyPr/>
                    <a:lstStyle/>
                    <a:p>
                      <a:pPr>
                        <a:lnSpc>
                          <a:spcPct val="150000"/>
                        </a:lnSpc>
                      </a:pPr>
                      <a:r>
                        <a:rPr lang="pt-BR" sz="1400" b="1" dirty="0">
                          <a:solidFill>
                            <a:srgbClr val="FF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VALOR TOTAL</a:t>
                      </a:r>
                    </a:p>
                  </a:txBody>
                  <a:tcPr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pt-BR" sz="1400" b="1">
                        <a:solidFill>
                          <a:srgbClr val="FF0000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pt-BR" sz="1400" b="1">
                        <a:solidFill>
                          <a:srgbClr val="FF0000"/>
                        </a:solidFill>
                        <a:latin typeface="Poppins" panose="00000500000000000000" pitchFamily="2" charset="0"/>
                        <a:cs typeface="Poppins" panose="00000500000000000000" pitchFamily="2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</a:pPr>
                      <a:r>
                        <a:rPr lang="en-US" sz="1400" b="1" dirty="0">
                          <a:solidFill>
                            <a:srgbClr val="FF0000"/>
                          </a:solidFill>
                          <a:latin typeface="Poppins" panose="00000500000000000000" pitchFamily="2" charset="0"/>
                          <a:cs typeface="Poppins" panose="00000500000000000000" pitchFamily="2" charset="0"/>
                        </a:rPr>
                        <a:t>R$ </a:t>
                      </a:r>
                    </a:p>
                  </a:txBody>
                  <a:tcPr anchor="ctr"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272577143"/>
                  </a:ext>
                </a:extLst>
              </a:tr>
            </a:tbl>
          </a:graphicData>
        </a:graphic>
      </p:graphicFrame>
      <p:sp>
        <p:nvSpPr>
          <p:cNvPr id="5" name="CaixaDeTexto 4">
            <a:extLst>
              <a:ext uri="{FF2B5EF4-FFF2-40B4-BE49-F238E27FC236}">
                <a16:creationId xmlns:a16="http://schemas.microsoft.com/office/drawing/2014/main" id="{02CE5105-48C9-C642-2D6C-99B9808B07CE}"/>
              </a:ext>
            </a:extLst>
          </p:cNvPr>
          <p:cNvSpPr txBox="1"/>
          <p:nvPr/>
        </p:nvSpPr>
        <p:spPr>
          <a:xfrm>
            <a:off x="2108089" y="5770806"/>
            <a:ext cx="6362765" cy="3431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pt-BR" sz="1200" dirty="0">
                <a:latin typeface="Poppins" panose="00000500000000000000" pitchFamily="2" charset="0"/>
                <a:cs typeface="Poppins" panose="00000500000000000000" pitchFamily="2" charset="0"/>
              </a:rPr>
              <a:t>***Valores válidos somente para contratação simultânea dos serviços.</a:t>
            </a:r>
          </a:p>
        </p:txBody>
      </p:sp>
    </p:spTree>
    <p:extLst>
      <p:ext uri="{BB962C8B-B14F-4D97-AF65-F5344CB8AC3E}">
        <p14:creationId xmlns:p14="http://schemas.microsoft.com/office/powerpoint/2010/main" val="261578427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Escritório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1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2" baseType="lpstr">
      <vt:lpstr>Tema do Office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103</cp:revision>
  <dcterms:created xsi:type="dcterms:W3CDTF">2026-05-19T16:02:37Z</dcterms:created>
  <dcterms:modified xsi:type="dcterms:W3CDTF">2026-05-20T15:59:53Z</dcterms:modified>
</cp:coreProperties>
</file>