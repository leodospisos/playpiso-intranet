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344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D8E49E3-A5D2-64C6-AE7E-0F2729509334}" v="29" dt="2026-05-19T20:04:35.686"/>
    <p1510:client id="{5D225E7D-40D9-CF44-DB31-1C01038BBA60}" v="132" dt="2026-05-19T16:17:12.92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8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microsoft.com/office/2015/10/relationships/revisionInfo" Target="revisionInfo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7B58FC-6199-4481-AE05-143CE4D4EDAB}" type="datetimeFigureOut">
              <a:t>19/05/2026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BC3D7D-6A6F-4DDA-8EAF-22802233670F}" type="slidenum"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381528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BR" b="1"/>
              <a:t>MEXER APENAS NAS INFORMAÇÕES EM PRETO, NÚMERO DA PROPOSTA E DATAS.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lang="en-BR" b="1"/>
            </a:br>
            <a:r>
              <a:rPr lang="en-BR"/>
              <a:t>NÃO DESCONFIGURAR NADA!</a:t>
            </a:r>
            <a:br>
              <a:rPr lang="en-BR"/>
            </a:br>
            <a:r>
              <a:rPr lang="en-BR"/>
              <a:t>]</a:t>
            </a:r>
          </a:p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7C740D-A4AF-9C40-8FFB-99FBBDFCF035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23954372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19.05.2026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776838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19.05.2026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40052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19.05.2026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813757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19.05.2026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246138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19.05.2026</a:t>
            </a:fld>
            <a:endParaRPr lang="de-DE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944210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19.05.2026</a:t>
            </a:fld>
            <a:endParaRPr lang="de-DE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085334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19.05.2026</a:t>
            </a:fld>
            <a:endParaRPr lang="de-DE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782815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19.05.2026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178365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19.05.2026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455663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19.05.2026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465880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19.05.2026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0639750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E51C7C-CEA3-4CAA-BE4B-344879E7C377}" type="datetimeFigureOut">
              <a:rPr lang="de-DE" smtClean="0"/>
              <a:t>19.05.2026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757469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C4542291-680C-F737-DD7E-762E2ACFE6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80732" y="724605"/>
            <a:ext cx="9688481" cy="2234061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just">
              <a:lnSpc>
                <a:spcPct val="200000"/>
              </a:lnSpc>
              <a:spcBef>
                <a:spcPts val="0"/>
              </a:spcBef>
              <a:buClr>
                <a:srgbClr val="FF0000"/>
              </a:buClr>
              <a:buFont typeface="Arial"/>
            </a:pPr>
            <a:r>
              <a:rPr lang="pt-BR" sz="1200" dirty="0">
                <a:latin typeface="Poppins"/>
                <a:cs typeface="Poppins"/>
              </a:rPr>
              <a:t>{{</a:t>
            </a:r>
            <a:r>
              <a:rPr lang="pt-BR" sz="1200" dirty="0" err="1">
                <a:latin typeface="Poppins"/>
                <a:cs typeface="Poppins"/>
              </a:rPr>
              <a:t>alambrado_descricao</a:t>
            </a:r>
            <a:r>
              <a:rPr lang="pt-BR" sz="1200" dirty="0">
                <a:latin typeface="Poppins"/>
                <a:cs typeface="Poppins"/>
              </a:rPr>
              <a:t>}}</a:t>
            </a:r>
            <a:endParaRPr lang="pt-BR" dirty="0">
              <a:latin typeface="Aptos" panose="020B0004020202020204"/>
              <a:cs typeface="Poppins"/>
            </a:endParaRPr>
          </a:p>
          <a:p>
            <a:pPr algn="just">
              <a:lnSpc>
                <a:spcPct val="200000"/>
              </a:lnSpc>
              <a:spcBef>
                <a:spcPts val="0"/>
              </a:spcBef>
              <a:buClr>
                <a:srgbClr val="FF0000"/>
              </a:buClr>
              <a:buFont typeface="Arial"/>
            </a:pPr>
            <a:r>
              <a:rPr lang="pt-BR" sz="1200" dirty="0">
                <a:latin typeface="Poppins"/>
                <a:cs typeface="Poppins"/>
              </a:rPr>
              <a:t>{{ </a:t>
            </a:r>
            <a:r>
              <a:rPr lang="pt-BR" sz="1200" dirty="0" err="1">
                <a:latin typeface="Poppins"/>
                <a:cs typeface="Poppins"/>
              </a:rPr>
              <a:t>quantidade_portoes</a:t>
            </a:r>
            <a:r>
              <a:rPr lang="pt-BR" sz="1200" dirty="0">
                <a:latin typeface="Poppins"/>
                <a:cs typeface="Poppins"/>
              </a:rPr>
              <a:t> }} portões de acesso com dimensões de {{ </a:t>
            </a:r>
            <a:r>
              <a:rPr lang="pt-BR" sz="1200" dirty="0" err="1">
                <a:latin typeface="Poppins"/>
                <a:cs typeface="Poppins"/>
              </a:rPr>
              <a:t>dimensoes_portoes</a:t>
            </a:r>
            <a:r>
              <a:rPr lang="pt-BR" sz="1200" dirty="0">
                <a:latin typeface="Poppins"/>
                <a:cs typeface="Poppins"/>
              </a:rPr>
              <a:t> }};</a:t>
            </a:r>
            <a:endParaRPr lang="en-US" sz="1200" dirty="0">
              <a:latin typeface="Poppins"/>
              <a:cs typeface="Poppins"/>
            </a:endParaRPr>
          </a:p>
          <a:p>
            <a:pPr algn="just">
              <a:lnSpc>
                <a:spcPct val="200000"/>
              </a:lnSpc>
              <a:spcBef>
                <a:spcPts val="0"/>
              </a:spcBef>
              <a:buClr>
                <a:srgbClr val="FF0000"/>
              </a:buClr>
              <a:buFont typeface="Arial"/>
            </a:pPr>
            <a:r>
              <a:rPr lang="pt-BR" sz="1200" dirty="0">
                <a:latin typeface="Poppins"/>
                <a:cs typeface="Poppins"/>
              </a:rPr>
              <a:t>Tubos galvanizados {{ </a:t>
            </a:r>
            <a:r>
              <a:rPr lang="pt-BR" sz="1200" dirty="0" err="1">
                <a:latin typeface="Poppins"/>
                <a:cs typeface="Poppins"/>
              </a:rPr>
              <a:t>galvanizacao</a:t>
            </a:r>
            <a:r>
              <a:rPr lang="pt-BR" sz="1200" dirty="0">
                <a:latin typeface="Poppins"/>
                <a:cs typeface="Poppins"/>
              </a:rPr>
              <a:t> }}, sendo os tubos verticais com diâmetro de 48,30mm e espessura de 2,25mm e os tubos horizontais com diâmetro de 42,60mm e espessura de 2,00mm pintados na cor verde;</a:t>
            </a:r>
            <a:endParaRPr lang="en-US" sz="1200" dirty="0">
              <a:latin typeface="Poppins"/>
              <a:cs typeface="Poppins"/>
            </a:endParaRPr>
          </a:p>
          <a:p>
            <a:pPr algn="just">
              <a:lnSpc>
                <a:spcPct val="200000"/>
              </a:lnSpc>
              <a:spcBef>
                <a:spcPts val="0"/>
              </a:spcBef>
              <a:buClr>
                <a:srgbClr val="FF0000"/>
              </a:buClr>
              <a:buFont typeface="Arial"/>
            </a:pPr>
            <a:r>
              <a:rPr lang="pt-BR" sz="1200" dirty="0">
                <a:latin typeface="Poppins"/>
                <a:cs typeface="Poppins"/>
              </a:rPr>
              <a:t>Tela malha 3” x 3” fio 12 revestida em PVC verde;</a:t>
            </a:r>
            <a:endParaRPr lang="en-US" sz="1200" dirty="0">
              <a:latin typeface="Poppins"/>
              <a:cs typeface="Poppins"/>
            </a:endParaRPr>
          </a:p>
          <a:p>
            <a:pPr algn="just">
              <a:lnSpc>
                <a:spcPct val="200000"/>
              </a:lnSpc>
              <a:spcBef>
                <a:spcPts val="0"/>
              </a:spcBef>
              <a:buClr>
                <a:srgbClr val="FF0000"/>
              </a:buClr>
              <a:buFont typeface="Arial"/>
            </a:pPr>
            <a:r>
              <a:rPr lang="pt-BR" sz="1200" dirty="0">
                <a:latin typeface="Poppins"/>
                <a:cs typeface="Poppins"/>
              </a:rPr>
              <a:t>{{</a:t>
            </a:r>
            <a:r>
              <a:rPr lang="pt-BR" sz="1200" dirty="0" err="1">
                <a:latin typeface="Poppins"/>
                <a:cs typeface="Poppins"/>
              </a:rPr>
              <a:t>travamento_descricao</a:t>
            </a:r>
            <a:r>
              <a:rPr lang="pt-BR" sz="1200" dirty="0">
                <a:latin typeface="Poppins"/>
                <a:cs typeface="Poppins"/>
              </a:rPr>
              <a:t>}}</a:t>
            </a:r>
            <a:endParaRPr lang="en-US" sz="1200" dirty="0">
              <a:latin typeface="Poppins"/>
              <a:cs typeface="Poppins"/>
            </a:endParaRPr>
          </a:p>
        </p:txBody>
      </p:sp>
      <p:sp>
        <p:nvSpPr>
          <p:cNvPr id="4" name="Retângulo 1">
            <a:extLst>
              <a:ext uri="{FF2B5EF4-FFF2-40B4-BE49-F238E27FC236}">
                <a16:creationId xmlns:a16="http://schemas.microsoft.com/office/drawing/2014/main" id="{E1D86E26-6EAF-86EA-5DA7-B8D07CA80B5F}"/>
              </a:ext>
            </a:extLst>
          </p:cNvPr>
          <p:cNvSpPr/>
          <p:nvPr/>
        </p:nvSpPr>
        <p:spPr>
          <a:xfrm>
            <a:off x="1" y="0"/>
            <a:ext cx="1914523" cy="685800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Imagem 5" descr="Desenho de um círculo&#10;&#10;Descrição gerada automaticamente com confiança baixa">
            <a:extLst>
              <a:ext uri="{FF2B5EF4-FFF2-40B4-BE49-F238E27FC236}">
                <a16:creationId xmlns:a16="http://schemas.microsoft.com/office/drawing/2014/main" id="{44A5654E-3894-177A-BCDF-404204C3F0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394" y="322704"/>
            <a:ext cx="622719" cy="600016"/>
          </a:xfrm>
          <a:prstGeom prst="rect">
            <a:avLst/>
          </a:prstGeom>
        </p:spPr>
      </p:pic>
      <p:sp>
        <p:nvSpPr>
          <p:cNvPr id="14" name="CaixaDeTexto 10">
            <a:extLst>
              <a:ext uri="{FF2B5EF4-FFF2-40B4-BE49-F238E27FC236}">
                <a16:creationId xmlns:a16="http://schemas.microsoft.com/office/drawing/2014/main" id="{2CE7D9D1-76E2-B0E6-D94A-95859237FBF0}"/>
              </a:ext>
            </a:extLst>
          </p:cNvPr>
          <p:cNvSpPr txBox="1"/>
          <p:nvPr/>
        </p:nvSpPr>
        <p:spPr>
          <a:xfrm>
            <a:off x="39778" y="1911638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 b="1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Projeto</a:t>
            </a:r>
          </a:p>
        </p:txBody>
      </p:sp>
      <p:sp>
        <p:nvSpPr>
          <p:cNvPr id="15" name="CaixaDeTexto 10">
            <a:extLst>
              <a:ext uri="{FF2B5EF4-FFF2-40B4-BE49-F238E27FC236}">
                <a16:creationId xmlns:a16="http://schemas.microsoft.com/office/drawing/2014/main" id="{66B6F47B-C56D-E5F7-B282-6525F08B6EDF}"/>
              </a:ext>
            </a:extLst>
          </p:cNvPr>
          <p:cNvSpPr txBox="1"/>
          <p:nvPr/>
        </p:nvSpPr>
        <p:spPr>
          <a:xfrm>
            <a:off x="39778" y="2660340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Pagamento</a:t>
            </a:r>
          </a:p>
        </p:txBody>
      </p:sp>
      <p:sp>
        <p:nvSpPr>
          <p:cNvPr id="16" name="CaixaDeTexto 10">
            <a:extLst>
              <a:ext uri="{FF2B5EF4-FFF2-40B4-BE49-F238E27FC236}">
                <a16:creationId xmlns:a16="http://schemas.microsoft.com/office/drawing/2014/main" id="{D8E99D25-FD99-C096-3673-E340AA9A965E}"/>
              </a:ext>
            </a:extLst>
          </p:cNvPr>
          <p:cNvSpPr txBox="1"/>
          <p:nvPr/>
        </p:nvSpPr>
        <p:spPr>
          <a:xfrm>
            <a:off x="39778" y="2285989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Investimento</a:t>
            </a:r>
          </a:p>
        </p:txBody>
      </p:sp>
      <p:sp>
        <p:nvSpPr>
          <p:cNvPr id="17" name="CaixaDeTexto 10">
            <a:extLst>
              <a:ext uri="{FF2B5EF4-FFF2-40B4-BE49-F238E27FC236}">
                <a16:creationId xmlns:a16="http://schemas.microsoft.com/office/drawing/2014/main" id="{84E6459A-3459-61A3-9A2C-2FF2F77A43C3}"/>
              </a:ext>
            </a:extLst>
          </p:cNvPr>
          <p:cNvSpPr txBox="1"/>
          <p:nvPr/>
        </p:nvSpPr>
        <p:spPr>
          <a:xfrm>
            <a:off x="39778" y="3034691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Prazos</a:t>
            </a:r>
          </a:p>
        </p:txBody>
      </p:sp>
      <p:sp>
        <p:nvSpPr>
          <p:cNvPr id="18" name="CaixaDeTexto 10">
            <a:extLst>
              <a:ext uri="{FF2B5EF4-FFF2-40B4-BE49-F238E27FC236}">
                <a16:creationId xmlns:a16="http://schemas.microsoft.com/office/drawing/2014/main" id="{0E9D7EF3-CCFC-818E-ABCF-0370ECAC8DDD}"/>
              </a:ext>
            </a:extLst>
          </p:cNvPr>
          <p:cNvSpPr txBox="1"/>
          <p:nvPr/>
        </p:nvSpPr>
        <p:spPr>
          <a:xfrm>
            <a:off x="39778" y="3409042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Garantia</a:t>
            </a:r>
          </a:p>
        </p:txBody>
      </p:sp>
      <p:sp>
        <p:nvSpPr>
          <p:cNvPr id="19" name="CaixaDeTexto 10">
            <a:extLst>
              <a:ext uri="{FF2B5EF4-FFF2-40B4-BE49-F238E27FC236}">
                <a16:creationId xmlns:a16="http://schemas.microsoft.com/office/drawing/2014/main" id="{156A5788-1DBD-A503-2001-DE9C2E7E1BD4}"/>
              </a:ext>
            </a:extLst>
          </p:cNvPr>
          <p:cNvSpPr txBox="1"/>
          <p:nvPr/>
        </p:nvSpPr>
        <p:spPr>
          <a:xfrm>
            <a:off x="39778" y="3783395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Regras </a:t>
            </a:r>
          </a:p>
        </p:txBody>
      </p:sp>
      <p:sp>
        <p:nvSpPr>
          <p:cNvPr id="25" name="CaixaDeTexto 15">
            <a:extLst>
              <a:ext uri="{FF2B5EF4-FFF2-40B4-BE49-F238E27FC236}">
                <a16:creationId xmlns:a16="http://schemas.microsoft.com/office/drawing/2014/main" id="{7A56A202-1F77-8127-103F-262A04D5BF5D}"/>
              </a:ext>
            </a:extLst>
          </p:cNvPr>
          <p:cNvSpPr txBox="1"/>
          <p:nvPr/>
        </p:nvSpPr>
        <p:spPr>
          <a:xfrm>
            <a:off x="2080734" y="158320"/>
            <a:ext cx="52108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pt-BR" sz="3200" b="1">
                <a:solidFill>
                  <a:srgbClr val="FF0000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Alambrado</a:t>
            </a:r>
            <a:endParaRPr lang="pt-BR" sz="2800" b="1">
              <a:solidFill>
                <a:srgbClr val="FF0000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C5D293-8B54-F3B5-2B06-AC384075C631}"/>
              </a:ext>
            </a:extLst>
          </p:cNvPr>
          <p:cNvSpPr txBox="1">
            <a:spLocks/>
          </p:cNvSpPr>
          <p:nvPr/>
        </p:nvSpPr>
        <p:spPr>
          <a:xfrm>
            <a:off x="2080735" y="5041486"/>
            <a:ext cx="9688478" cy="148737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200000"/>
              </a:lnSpc>
              <a:spcBef>
                <a:spcPts val="0"/>
              </a:spcBef>
              <a:buClr>
                <a:srgbClr val="FF0000"/>
              </a:buClr>
            </a:pPr>
            <a:r>
              <a:rPr lang="pt-BR" sz="1200" dirty="0">
                <a:latin typeface="Poppins"/>
                <a:cs typeface="Poppins"/>
              </a:rPr>
              <a:t>{{ </a:t>
            </a:r>
            <a:r>
              <a:rPr lang="pt-BR" sz="1200" dirty="0" err="1">
                <a:latin typeface="Poppins"/>
                <a:cs typeface="Poppins"/>
              </a:rPr>
              <a:t>quantidade_projetores</a:t>
            </a:r>
            <a:r>
              <a:rPr lang="pt-BR" sz="1200" dirty="0">
                <a:latin typeface="Poppins"/>
                <a:cs typeface="Poppins"/>
              </a:rPr>
              <a:t> }} projetores em módulo de LED {{ </a:t>
            </a:r>
            <a:r>
              <a:rPr lang="pt-BR" sz="1200" dirty="0" err="1">
                <a:latin typeface="Poppins"/>
                <a:cs typeface="Poppins"/>
              </a:rPr>
              <a:t>potencia_projetores</a:t>
            </a:r>
            <a:r>
              <a:rPr lang="pt-BR" sz="1200" dirty="0">
                <a:latin typeface="Poppins"/>
                <a:cs typeface="Poppins"/>
              </a:rPr>
              <a:t> }}W;</a:t>
            </a:r>
            <a:endParaRPr lang="en-US" sz="1200">
              <a:latin typeface="Poppins"/>
              <a:cs typeface="Poppins"/>
            </a:endParaRPr>
          </a:p>
          <a:p>
            <a:pPr algn="just">
              <a:lnSpc>
                <a:spcPct val="200000"/>
              </a:lnSpc>
              <a:spcBef>
                <a:spcPts val="0"/>
              </a:spcBef>
              <a:buClr>
                <a:srgbClr val="FF0000"/>
              </a:buClr>
            </a:pPr>
            <a:r>
              <a:rPr lang="pt-BR" sz="1200" dirty="0">
                <a:latin typeface="Poppins"/>
                <a:cs typeface="Poppins"/>
              </a:rPr>
              <a:t>{{ </a:t>
            </a:r>
            <a:r>
              <a:rPr lang="pt-BR" sz="1200" dirty="0" err="1">
                <a:latin typeface="Poppins"/>
                <a:cs typeface="Poppins"/>
              </a:rPr>
              <a:t>quantidade_postes_iluminacao</a:t>
            </a:r>
            <a:r>
              <a:rPr lang="pt-BR" sz="1200" dirty="0">
                <a:latin typeface="Poppins"/>
                <a:cs typeface="Poppins"/>
              </a:rPr>
              <a:t> }} postes </a:t>
            </a:r>
            <a:r>
              <a:rPr lang="pt-BR" sz="1200" dirty="0" err="1">
                <a:latin typeface="Poppins"/>
                <a:cs typeface="Poppins"/>
              </a:rPr>
              <a:t>telecônicos</a:t>
            </a:r>
            <a:r>
              <a:rPr lang="pt-BR" sz="1200" dirty="0">
                <a:latin typeface="Poppins"/>
                <a:cs typeface="Poppins"/>
              </a:rPr>
              <a:t> metálicos, galvanizados a fogo, diâmetro de 114,40mm a 76,00mm e espessura de 2,25mm, com altura livre de 8,00m com pintura especial na cor verde;</a:t>
            </a:r>
            <a:endParaRPr lang="en-US" sz="1200" dirty="0">
              <a:latin typeface="Poppins"/>
              <a:cs typeface="Poppins"/>
            </a:endParaRPr>
          </a:p>
          <a:p>
            <a:pPr algn="just">
              <a:lnSpc>
                <a:spcPct val="200000"/>
              </a:lnSpc>
              <a:spcBef>
                <a:spcPts val="0"/>
              </a:spcBef>
              <a:buClr>
                <a:srgbClr val="FF0000"/>
              </a:buClr>
            </a:pPr>
            <a:r>
              <a:rPr lang="pt-BR" sz="1200" dirty="0">
                <a:latin typeface="Poppins"/>
                <a:cs typeface="Poppins"/>
              </a:rPr>
              <a:t>{{ </a:t>
            </a:r>
            <a:r>
              <a:rPr lang="pt-BR" sz="1200" dirty="0" err="1">
                <a:latin typeface="Poppins"/>
                <a:cs typeface="Poppins"/>
              </a:rPr>
              <a:t>quantidade_cruzetas</a:t>
            </a:r>
            <a:r>
              <a:rPr lang="pt-BR" sz="1200" dirty="0">
                <a:latin typeface="Poppins"/>
                <a:cs typeface="Poppins"/>
              </a:rPr>
              <a:t> }} cruzetas simples para </a:t>
            </a:r>
            <a:r>
              <a:rPr lang="pt-BR" sz="1200" dirty="0" err="1">
                <a:latin typeface="Poppins"/>
                <a:cs typeface="Poppins"/>
              </a:rPr>
              <a:t>xx</a:t>
            </a:r>
            <a:r>
              <a:rPr lang="pt-BR" sz="1200" dirty="0">
                <a:latin typeface="Poppins"/>
                <a:cs typeface="Poppins"/>
              </a:rPr>
              <a:t> projetores, galvanizadas a fogo, com pintura especial na cor verde.</a:t>
            </a:r>
            <a:endParaRPr lang="en-US" sz="1200" dirty="0">
              <a:latin typeface="Poppins"/>
              <a:cs typeface="Poppins"/>
            </a:endParaRPr>
          </a:p>
        </p:txBody>
      </p:sp>
      <p:sp>
        <p:nvSpPr>
          <p:cNvPr id="5" name="CaixaDeTexto 15">
            <a:extLst>
              <a:ext uri="{FF2B5EF4-FFF2-40B4-BE49-F238E27FC236}">
                <a16:creationId xmlns:a16="http://schemas.microsoft.com/office/drawing/2014/main" id="{361091E6-987F-4B57-83D1-8511A27F632F}"/>
              </a:ext>
            </a:extLst>
          </p:cNvPr>
          <p:cNvSpPr txBox="1"/>
          <p:nvPr/>
        </p:nvSpPr>
        <p:spPr>
          <a:xfrm>
            <a:off x="2080733" y="4456711"/>
            <a:ext cx="52108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pt-BR" sz="3200" b="1">
                <a:solidFill>
                  <a:srgbClr val="FF0000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Iluminação</a:t>
            </a:r>
            <a:endParaRPr lang="pt-BR" sz="2800" b="1">
              <a:solidFill>
                <a:srgbClr val="FF0000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sp>
        <p:nvSpPr>
          <p:cNvPr id="2" name="CaixaDeTexto 15">
            <a:extLst>
              <a:ext uri="{FF2B5EF4-FFF2-40B4-BE49-F238E27FC236}">
                <a16:creationId xmlns:a16="http://schemas.microsoft.com/office/drawing/2014/main" id="{7A11B827-5F64-AFF2-D0B2-94E7D10B215C}"/>
              </a:ext>
            </a:extLst>
          </p:cNvPr>
          <p:cNvSpPr txBox="1"/>
          <p:nvPr/>
        </p:nvSpPr>
        <p:spPr>
          <a:xfrm>
            <a:off x="2104811" y="3065367"/>
            <a:ext cx="645908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pt-BR" sz="3200" b="1" dirty="0">
                <a:solidFill>
                  <a:srgbClr val="FF0000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Tela de proteção superior</a:t>
            </a:r>
            <a:endParaRPr lang="pt-BR" sz="2800" b="1" dirty="0">
              <a:solidFill>
                <a:srgbClr val="FF0000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13E2FD3B-C389-61DD-EC5A-11F5CF727DFF}"/>
              </a:ext>
            </a:extLst>
          </p:cNvPr>
          <p:cNvSpPr txBox="1"/>
          <p:nvPr/>
        </p:nvSpPr>
        <p:spPr>
          <a:xfrm>
            <a:off x="2080732" y="3612243"/>
            <a:ext cx="9688481" cy="78175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229870" indent="-229870" algn="just">
              <a:lnSpc>
                <a:spcPct val="200000"/>
              </a:lnSpc>
              <a:spcAft>
                <a:spcPts val="1000"/>
              </a:spcAft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pt-BR" sz="1200" b="0" dirty="0">
                <a:effectLst/>
                <a:latin typeface="Poppins "/>
                <a:ea typeface="Times New Roman" panose="02020603050405020304" pitchFamily="18" charset="0"/>
                <a:cs typeface="Poppins Light"/>
              </a:rPr>
              <a:t>Rede de cobertura 100% polipropileno, malha 10 x 10, fio 2mm, na cor </a:t>
            </a:r>
            <a:r>
              <a:rPr lang="pt-BR" sz="1200" dirty="0">
                <a:latin typeface="Poppins "/>
                <a:ea typeface="Times New Roman" panose="02020603050405020304" pitchFamily="18" charset="0"/>
                <a:cs typeface="Poppins Light"/>
              </a:rPr>
              <a:t>{{ </a:t>
            </a:r>
            <a:r>
              <a:rPr lang="pt-BR" sz="1200" dirty="0" err="1">
                <a:latin typeface="Poppins "/>
                <a:ea typeface="Times New Roman" panose="02020603050405020304" pitchFamily="18" charset="0"/>
                <a:cs typeface="Poppins Light"/>
              </a:rPr>
              <a:t>cor_tela_superior</a:t>
            </a:r>
            <a:r>
              <a:rPr lang="pt-BR" sz="1200" dirty="0">
                <a:latin typeface="Poppins "/>
                <a:ea typeface="Times New Roman" panose="02020603050405020304" pitchFamily="18" charset="0"/>
                <a:cs typeface="Poppins Light"/>
              </a:rPr>
              <a:t> }},</a:t>
            </a:r>
            <a:r>
              <a:rPr lang="pt-BR" sz="1200" b="0" dirty="0">
                <a:effectLst/>
                <a:latin typeface="Poppins "/>
                <a:ea typeface="Times New Roman" panose="02020603050405020304" pitchFamily="18" charset="0"/>
                <a:cs typeface="Poppins Light"/>
              </a:rPr>
              <a:t> sustentada por cabos metálicos interligando os vértices formando um X.</a:t>
            </a:r>
            <a:endParaRPr lang="pt-BR" sz="1200" b="1" dirty="0">
              <a:effectLst/>
              <a:latin typeface="Poppins "/>
              <a:ea typeface="Times New Roman" panose="02020603050405020304" pitchFamily="18" charset="0"/>
              <a:cs typeface="Poppins Light"/>
            </a:endParaRPr>
          </a:p>
        </p:txBody>
      </p:sp>
    </p:spTree>
    <p:extLst>
      <p:ext uri="{BB962C8B-B14F-4D97-AF65-F5344CB8AC3E}">
        <p14:creationId xmlns:p14="http://schemas.microsoft.com/office/powerpoint/2010/main" val="210994071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Escritório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1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2" baseType="lpstr"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39</cp:revision>
  <dcterms:created xsi:type="dcterms:W3CDTF">2026-05-19T16:02:37Z</dcterms:created>
  <dcterms:modified xsi:type="dcterms:W3CDTF">2026-05-19T20:04:36Z</dcterms:modified>
</cp:coreProperties>
</file>