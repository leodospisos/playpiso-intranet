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797675" cy="9926625"/>
  <p:embeddedFontLst>
    <p:embeddedFont>
      <p:font typeface="Poppi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n1VrivDvMlgJsyJ+SO7dn+fKw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F9D514-35C9-4ACE-B1D1-B11D8DC65CD4}">
  <a:tblStyle styleId="{59F9D514-35C9-4ACE-B1D1-B11D8DC65CD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customschemas.google.com/relationships/presentationmetadata" Target="meta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5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15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6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16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7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17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8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8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9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pt-BR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pt-BR"/>
            </a:br>
            <a:r>
              <a:rPr lang="pt-BR"/>
              <a:t>NÃO DESCONFIGURAR NADA!</a:t>
            </a:r>
            <a:br>
              <a:rPr lang="pt-BR"/>
            </a:br>
            <a:r>
              <a:rPr lang="pt-BR"/>
              <a:t>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9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20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pt-BR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pt-BR"/>
            </a:br>
            <a:r>
              <a:rPr lang="pt-BR"/>
              <a:t>NÃO DESCONFIGURAR NADA!</a:t>
            </a:r>
            <a:br>
              <a:rPr lang="pt-BR"/>
            </a:br>
            <a:r>
              <a:rPr lang="pt-BR"/>
              <a:t>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20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enho de um cachorro&#10;&#10;Descrição gerada automaticamente" id="88" name="Google Shape;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6192" y="6259630"/>
            <a:ext cx="1344059" cy="315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írculo&#10;&#10;Descrição gerada automaticamente com confiança baixa" id="89" name="Google Shape;8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85348" y="0"/>
            <a:ext cx="806652" cy="7772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achorro&#10;&#10;Descrição gerada automaticamente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8592" y="6412030"/>
            <a:ext cx="1344059" cy="315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/>
          <p:cNvPicPr preferRelativeResize="0"/>
          <p:nvPr/>
        </p:nvPicPr>
        <p:blipFill rotWithShape="1">
          <a:blip r:embed="rId5">
            <a:alphaModFix/>
          </a:blip>
          <a:srcRect b="4995" l="764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1027434" y="2921168"/>
            <a:ext cx="10137132" cy="101566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oppins"/>
              <a:buNone/>
            </a:pPr>
            <a:r>
              <a:rPr b="1" i="0" lang="pt-BR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QUADRA DE PADEL TENNIS</a:t>
            </a:r>
            <a:endParaRPr b="1" i="0" sz="6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Desenho de um círculo&#10;&#10;Descrição gerada automaticamente com confiança baixa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671" y="175510"/>
            <a:ext cx="806652" cy="7772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achorro&#10;&#10;Descrição gerada automaticamente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4431" y="6205252"/>
            <a:ext cx="1344059" cy="315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2106428" y="922720"/>
            <a:ext cx="9693685" cy="384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</a:pPr>
            <a:r>
              <a:rPr b="1" lang="pt-BR" sz="1200">
                <a:latin typeface="Poppins"/>
                <a:ea typeface="Poppins"/>
                <a:cs typeface="Poppins"/>
                <a:sym typeface="Poppins"/>
              </a:rPr>
              <a:t>EXECUÇÃO DE DRENOS SUBTERRÂNEOS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Abertura de valas (Responsabilidade Contratante) para execução de drenos subterrâneos com largura e profundidade variáveis para boa captação das águas pluviais;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Aplicação de manta de bidim para envelopar as pedras sobre as valas.</a:t>
            </a:r>
            <a:endParaRPr/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</a:pPr>
            <a:r>
              <a:rPr b="1" lang="pt-BR" sz="1200">
                <a:latin typeface="Poppins"/>
                <a:ea typeface="Poppins"/>
                <a:cs typeface="Poppins"/>
                <a:sym typeface="Poppins"/>
              </a:rPr>
              <a:t>BASE ASFÁLTICA DRENANTE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Execução da base drenante executada em camadas de britas nº 01 e pedrisco, que serão niveladas, compactadas e agregadas com emulsão asfáltica;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Este piso asfáltico com alta capacidade de drenagem das águas pluviais garantirá, além de maior conforto na prática de padel, a melhor conservação do “backing” da grama sintética e aumento de sua durabilidade.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2104811" y="319726"/>
            <a:ext cx="853369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Poppins"/>
              <a:buNone/>
            </a:pPr>
            <a:r>
              <a:rPr b="1" i="0" lang="pt-BR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Sistema de drenagem e base drenante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2104811" y="322704"/>
            <a:ext cx="896874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Poppins"/>
              <a:buNone/>
            </a:pPr>
            <a:r>
              <a:rPr b="1" i="0" lang="pt-BR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Grama sintética Padeliamo Víbora 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2104811" y="922720"/>
            <a:ext cx="9611983" cy="299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Padeliamo Víbora TXT, uma grama sintética muito densa, com fibras monofilamentares, texturizadas feitas de 100% polietileno (PE) com uma espessura de 200 mícrons, lubrificada, para minimizar o risco de abrasão em caso de escorregamento durante o jogo;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forma especial proporciona alta memória elástica, garantindo o retorno imediato das fibras a uma posição vertical após a caminhada;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Garantia de uma superfície de jogo estável com um equilíbrio perfeito entre aderência e deslize, quique de bola perfeito e uma torção e aderência naturais do pé;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produto certo para quem procura um jogo rápido com a máxima segurança.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2104811" y="323281"/>
            <a:ext cx="896874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Poppins"/>
              <a:buNone/>
            </a:pPr>
            <a:r>
              <a:rPr b="1" i="0" lang="pt-BR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Informações Técnicas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2104811" y="922720"/>
            <a:ext cx="9568441" cy="4290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Poppins"/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PADELIAMO VÍBORA 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Calibri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Polietileno TenCate Thiolon;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Monofilamento, texturizada;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Espessura de 11mm;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7.500 dtex; 50.200 pontos/m²;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Incluso cola em poliuretano e areia de sílica;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 azul e linhas brancas de material com as mesmas especificações;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Produto homologado pela Federação Espanhola de Padel, uma homologação que garante parâmetros de desempenho, jogabilidade e proteção do atleta de acordo com a norma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UNE147301: 2018.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Todos os produtos da gama Padeliamo obtiveram o certificado de reação ao fogo de acordo com a </a:t>
            </a:r>
            <a:r>
              <a:rPr b="1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 EN 13501-1:2019.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3727614" y="5227789"/>
            <a:ext cx="2551266" cy="1150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Poppins"/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Altura do filamento:</a:t>
            </a: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11 mm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Poppins"/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Dtex:</a:t>
            </a: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7.000 Dtex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Poppins"/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Enchimento:</a:t>
            </a: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Areia de sílica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7136755" y="5332558"/>
            <a:ext cx="3294743" cy="78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Poppins"/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Pontos /m²: </a:t>
            </a: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50.200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Poppins"/>
              <a:buNone/>
            </a:pPr>
            <a:r>
              <a:rPr b="1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Composição do fio: </a:t>
            </a: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100% polietileno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7224" r="0" t="11269"/>
          <a:stretch/>
        </p:blipFill>
        <p:spPr>
          <a:xfrm>
            <a:off x="3692989" y="1911638"/>
            <a:ext cx="6466673" cy="392654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9463314" y="2082789"/>
            <a:ext cx="362858" cy="406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2137156" y="337945"/>
            <a:ext cx="896874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Poppins"/>
              <a:buNone/>
            </a:pPr>
            <a:r>
              <a:rPr b="1" i="0" lang="pt-BR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Certificações - Padeliamo Víbora 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2104811" y="316520"/>
            <a:ext cx="461528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Poppins"/>
              <a:buNone/>
            </a:pPr>
            <a:r>
              <a:rPr b="1" i="0" lang="pt-BR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Estrutura de Vidro</a:t>
            </a:r>
            <a:endParaRPr b="1" i="0" sz="28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2104811" y="901295"/>
            <a:ext cx="9736860" cy="5707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0400" lvl="0" marL="2304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Estrutura tubular com altura de 4,00m nos fundos e 3,00m nas laterais;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Suportes metálicos (sapatas de aço) fixados ao concreto da viga baldrame, executada pelo cliente, com chumbadores CBA 5/16”x3.1/4”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Estrutura metálica de cercamento para vidro temperado de 12mm de espessura (18 chapas de 1995mm x 2995mm) em tubos 50 x 100 x 2mm e 50 x 100 x 3mm, tubos 30 x 70 x 1,55mm, 20 x 30 x 1,55mm e barras chatas 3’’ x 1/8” na parte telada, aço galvanizado com pintura eletrostática, confeccionada em módulos parafusados entre si;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Junções entre peças metálicas com parafusos sextavados 8 x 25mm;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Tela eletro soldada, malha 50 x 50 x 4mm, galvanizada, já fixada nos painéis estruturais, pintura eletrostática, dimensões de 2m de largura x 3m de altura e as telas superiores laterais com 2m de largura x 1m de altura sobre os vidros, com mesma especificação;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 chapas de vidro temperado 12mm (18 unidades de 1995mm x 2995 mm) serão presas à estrutura por encaixilhamento na parte inferior e na parte superior por 03 parafusos Allen, cabeça cônica em aço inoxidável, guarnecidos com buchas de nylon e amortecidos com perfil adesivo de borracha EPDM, de forma que em momento algum vidros e metais tem contato direto;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Nivelamento e isolamento entre vidros com silicone mono componente de cura acética, isento de solventes orgânicos;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Galvanização e pintura eletrostática em toda a estrutura;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400" lvl="0" marL="2304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Acompanham 02 suportes de rede, rede de jogo em nylon, 04 postes de iluminação semicirculares com cruzetas para fixação dos refletores e 08 projetores em LED 200W.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/>
        </p:nvSpPr>
        <p:spPr>
          <a:xfrm>
            <a:off x="2104811" y="4367934"/>
            <a:ext cx="6362765" cy="343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***Valores válidos somente para contratação simultânea dos serviços.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pt-BR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7" name="Google Shape;187;p20"/>
          <p:cNvGraphicFramePr/>
          <p:nvPr/>
        </p:nvGraphicFramePr>
        <p:xfrm>
          <a:off x="2104811" y="9479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{59F9D514-35C9-4ACE-B1D1-B11D8DC65CD4}</a:tableStyleId>
              </a:tblPr>
              <a:tblGrid>
                <a:gridCol w="5882475"/>
                <a:gridCol w="1030525"/>
                <a:gridCol w="1059550"/>
                <a:gridCol w="1709775"/>
              </a:tblGrid>
              <a:tr h="41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Descrição – Quadra de Padel Tennis</a:t>
                      </a:r>
                      <a:endParaRPr b="1" sz="1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Qtde.</a:t>
                      </a:r>
                      <a:endParaRPr b="1" sz="1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Unid.</a:t>
                      </a:r>
                      <a:endParaRPr b="1" sz="1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pt-BR" sz="18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</a:t>
                      </a:r>
                      <a:endParaRPr b="1" sz="1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7F7F7F"/>
                    </a:solidFill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Base Drenante – Execução de Base asfáltica drenante e drenos subterrâneos</a:t>
                      </a:r>
                      <a:endParaRPr sz="1400" u="none" cap="none" strike="noStrike"/>
                    </a:p>
                  </a:txBody>
                  <a:tcPr marT="0" marB="0" marR="34300" marL="3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200,00</a:t>
                      </a:r>
                      <a:endParaRPr sz="1400" u="none" cap="none" strike="noStrike"/>
                    </a:p>
                  </a:txBody>
                  <a:tcPr marT="0" marB="0" marR="34300" marL="3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m²</a:t>
                      </a:r>
                      <a:endParaRPr sz="1400" u="none" cap="none" strike="noStrike"/>
                    </a:p>
                  </a:txBody>
                  <a:tcPr marT="0" marB="0" marR="34300" marL="3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R$ 29.800,00</a:t>
                      </a:r>
                      <a:endParaRPr sz="1400" u="none" cap="none" strike="noStrike"/>
                    </a:p>
                  </a:txBody>
                  <a:tcPr marT="0" marB="0" marR="34300" marL="3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Grama Sintética Padeliamo Víbora TXT</a:t>
                      </a:r>
                      <a:endParaRPr sz="14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Poppins"/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- Incluso fornecimento e instalação</a:t>
                      </a:r>
                      <a:endParaRPr sz="1400" u="none" cap="none" strike="noStrike"/>
                    </a:p>
                  </a:txBody>
                  <a:tcPr marT="0" marB="0" marR="34300" marL="3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200,00</a:t>
                      </a:r>
                      <a:endParaRPr sz="1400" u="none" cap="none" strike="noStrike"/>
                    </a:p>
                  </a:txBody>
                  <a:tcPr marT="0" marB="0" marR="34300" marL="3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m²</a:t>
                      </a:r>
                      <a:endParaRPr sz="1400" u="none" cap="none" strike="noStrike"/>
                    </a:p>
                  </a:txBody>
                  <a:tcPr marT="0" marB="0" marR="34300" marL="3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oppins"/>
                        <a:buNone/>
                      </a:pPr>
                      <a:r>
                        <a:rPr b="0" lang="pt-BR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R$ 62.330,00</a:t>
                      </a:r>
                      <a:endParaRPr sz="1400" u="none" cap="none" strike="noStrike"/>
                    </a:p>
                  </a:txBody>
                  <a:tcPr marT="0" marB="0" marR="34300" marL="3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Estrutura de Vidro + Iluminação + Acessórios – Estrutura metálica com vidro temperado; postes para o acessório de padel tennis, rede, 04 postes de iluminação fixados na estrutura e 04 cruzetas simples para 02 projetores, 08 projetores LED 200W</a:t>
                      </a:r>
                      <a:endParaRPr sz="1400" u="none" cap="none" strike="noStrike"/>
                    </a:p>
                  </a:txBody>
                  <a:tcPr marT="0" marB="0" marR="34300" marL="343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1,00</a:t>
                      </a:r>
                      <a:endParaRPr sz="1400" u="none" cap="none" strike="noStrike"/>
                    </a:p>
                  </a:txBody>
                  <a:tcPr marT="0" marB="0" marR="34300" marL="3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Vb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34300" marL="34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pt-BR" sz="1200" u="none" cap="none" strike="noStrike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R$ 160.400,00</a:t>
                      </a:r>
                      <a:endParaRPr sz="1400" u="none" cap="none" strike="noStrike"/>
                    </a:p>
                  </a:txBody>
                  <a:tcPr marT="0" marB="0" marR="34300" marL="343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TOTAL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R$ 252.530,00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88" name="Google Shape;188;p20"/>
          <p:cNvSpPr txBox="1"/>
          <p:nvPr/>
        </p:nvSpPr>
        <p:spPr>
          <a:xfrm>
            <a:off x="2104811" y="320143"/>
            <a:ext cx="503621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Poppins"/>
              <a:buNone/>
            </a:pPr>
            <a:r>
              <a:rPr b="1" i="0" lang="pt-BR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2. Investimento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9778" y="6000220"/>
            <a:ext cx="1063214" cy="68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L163A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2022-07-26T08:40:49Z</dcterms:created>
  <dc:creator>maggie peart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0x0101009D71DFA1BDF10440A7938686F0EC5B46</vt:lpwstr>
  </property>
  <property fmtid="{D5CDD505-2E9C-101B-9397-08002B2CF9AE}" pid="3" name="MediaServiceImageTags">
    <vt:lpwstr/>
  </property>
</Properties>
</file>