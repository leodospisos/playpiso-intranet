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797675" cy="9926625"/>
  <p:embeddedFontLst>
    <p:embeddedFont>
      <p:font typeface="Poppins"/>
      <p:regular r:id="rId26"/>
      <p:bold r:id="rId27"/>
      <p:italic r:id="rId28"/>
      <p:boldItalic r:id="rId29"/>
    </p:embeddedFont>
    <p:embeddedFont>
      <p:font typeface="Poppins Light"/>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C4FDF2-3EB4-4EA4-AF82-7B011E0BD6D1}">
  <a:tblStyle styleId="{14C4FDF2-3EB4-4EA4-AF82-7B011E0BD6D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regular.fntdata"/><Relationship Id="rId25" Type="http://schemas.openxmlformats.org/officeDocument/2006/relationships/slide" Target="slides/slide20.xml"/><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Light-bold.fntdata"/><Relationship Id="rId30" Type="http://schemas.openxmlformats.org/officeDocument/2006/relationships/font" Target="fonts/PoppinsLight-regular.fntdata"/><Relationship Id="rId11" Type="http://schemas.openxmlformats.org/officeDocument/2006/relationships/slide" Target="slides/slide6.xml"/><Relationship Id="rId33" Type="http://schemas.openxmlformats.org/officeDocument/2006/relationships/font" Target="fonts/PoppinsLight-boldItalic.fntdata"/><Relationship Id="rId10" Type="http://schemas.openxmlformats.org/officeDocument/2006/relationships/slide" Target="slides/slide5.xml"/><Relationship Id="rId32" Type="http://schemas.openxmlformats.org/officeDocument/2006/relationships/font" Target="fonts/PoppinsLight-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5520" cy="4978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50560" y="0"/>
            <a:ext cx="2945520" cy="49788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428400"/>
            <a:ext cx="2945520" cy="49788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7: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7: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NAO MEXER NESSE SLIDE - FIXO</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67" name="Google Shape;67;p7: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8: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8: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endParaRPr b="0" sz="1200" strike="noStrike">
              <a:latin typeface="Arial"/>
              <a:ea typeface="Arial"/>
              <a:cs typeface="Arial"/>
              <a:sym typeface="Arial"/>
            </a:endParaRPr>
          </a:p>
        </p:txBody>
      </p:sp>
      <p:sp>
        <p:nvSpPr>
          <p:cNvPr id="82" name="Google Shape;82;p8: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9: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9: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100" name="Google Shape;100;p9: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0: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10: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118" name="Google Shape;118;p10: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11: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137" name="Google Shape;137;p11: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 name="Google Shape;152;p12: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153" name="Google Shape;153;p12: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13: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169" name="Google Shape;169;p13: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4: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186" name="Google Shape;186;p14: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15: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203" name="Google Shape;203;p15: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6: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16: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219" name="Google Shape;219;p16: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7: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17: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239" name="Google Shape;239;p17: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8: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8: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258" name="Google Shape;258;p18: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9: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19: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277" name="Google Shape;277;p19: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0: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20: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294" name="Google Shape;294;p20: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1: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21: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314" name="Google Shape;314;p21: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2: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22: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335" name="Google Shape;335;p22: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3: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p23: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351" name="Google Shape;351;p23: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24: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6" name="Google Shape;366;p24: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367" name="Google Shape;367;p24: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5: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25: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384" name="Google Shape;384;p25: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6:notes"/>
          <p:cNvSpPr/>
          <p:nvPr>
            <p:ph idx="2" type="sldImg"/>
          </p:nvPr>
        </p:nvSpPr>
        <p:spPr>
          <a:xfrm>
            <a:off x="422280" y="1241280"/>
            <a:ext cx="5952960" cy="334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26:notes"/>
          <p:cNvSpPr txBox="1"/>
          <p:nvPr>
            <p:ph idx="1" type="body"/>
          </p:nvPr>
        </p:nvSpPr>
        <p:spPr>
          <a:xfrm>
            <a:off x="679680" y="4777200"/>
            <a:ext cx="5438160" cy="390852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pt-BR" sz="1200" strike="noStrike">
                <a:solidFill>
                  <a:srgbClr val="000000"/>
                </a:solidFill>
                <a:latin typeface="Calibri"/>
                <a:ea typeface="Calibri"/>
                <a:cs typeface="Calibri"/>
                <a:sym typeface="Calibri"/>
              </a:rPr>
              <a:t>MEXER APENAS NAS INFORMAÇÕES EM PRETO, NÚMERO DA PROPOSTA E DATAS.</a:t>
            </a:r>
            <a:endParaRPr b="0" sz="1200" strike="noStrike">
              <a:latin typeface="Arial"/>
              <a:ea typeface="Arial"/>
              <a:cs typeface="Arial"/>
              <a:sym typeface="Arial"/>
            </a:endParaRPr>
          </a:p>
          <a:p>
            <a:pPr indent="0" lvl="0" marL="0" rtl="0" algn="l">
              <a:lnSpc>
                <a:spcPct val="100000"/>
              </a:lnSpc>
              <a:spcBef>
                <a:spcPts val="0"/>
              </a:spcBef>
              <a:spcAft>
                <a:spcPts val="0"/>
              </a:spcAft>
              <a:buNone/>
            </a:pPr>
            <a:br>
              <a:rPr lang="pt-BR"/>
            </a:br>
            <a:r>
              <a:rPr b="0" lang="pt-BR" sz="1200" strike="noStrike">
                <a:solidFill>
                  <a:srgbClr val="000000"/>
                </a:solidFill>
                <a:latin typeface="Calibri"/>
                <a:ea typeface="Calibri"/>
                <a:cs typeface="Calibri"/>
                <a:sym typeface="Calibri"/>
              </a:rPr>
              <a:t>NÃO DESCONFIGURAR NADA!</a:t>
            </a:r>
            <a:br>
              <a:rPr lang="pt-BR"/>
            </a:br>
            <a:r>
              <a:rPr b="0" lang="pt-BR" sz="1200" strike="noStrike">
                <a:solidFill>
                  <a:srgbClr val="000000"/>
                </a:solidFill>
                <a:latin typeface="Calibri"/>
                <a:ea typeface="Calibri"/>
                <a:cs typeface="Calibri"/>
                <a:sym typeface="Calibri"/>
              </a:rPr>
              <a:t>]</a:t>
            </a:r>
            <a:endParaRPr b="0" sz="1200" strike="noStrike">
              <a:latin typeface="Arial"/>
              <a:ea typeface="Arial"/>
              <a:cs typeface="Arial"/>
              <a:sym typeface="Arial"/>
            </a:endParaRPr>
          </a:p>
          <a:p>
            <a:pPr indent="0" lvl="0" marL="0" rtl="0" algn="l">
              <a:lnSpc>
                <a:spcPct val="100000"/>
              </a:lnSpc>
              <a:spcBef>
                <a:spcPts val="0"/>
              </a:spcBef>
              <a:spcAft>
                <a:spcPts val="0"/>
              </a:spcAft>
              <a:buNone/>
            </a:pPr>
            <a:r>
              <a:t/>
            </a:r>
            <a:endParaRPr b="0" sz="1200" strike="noStrike">
              <a:latin typeface="Arial"/>
              <a:ea typeface="Arial"/>
              <a:cs typeface="Arial"/>
              <a:sym typeface="Arial"/>
            </a:endParaRPr>
          </a:p>
        </p:txBody>
      </p:sp>
      <p:sp>
        <p:nvSpPr>
          <p:cNvPr id="402" name="Google Shape;402;p26:notes"/>
          <p:cNvSpPr txBox="1"/>
          <p:nvPr/>
        </p:nvSpPr>
        <p:spPr>
          <a:xfrm>
            <a:off x="3850560" y="9428400"/>
            <a:ext cx="2945520" cy="4978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000000"/>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6" name="Shape 16"/>
        <p:cNvGrpSpPr/>
        <p:nvPr/>
      </p:nvGrpSpPr>
      <p:grpSpPr>
        <a:xfrm>
          <a:off x="0" y="0"/>
          <a:ext cx="0" cy="0"/>
          <a:chOff x="0" y="0"/>
          <a:chExt cx="0" cy="0"/>
        </a:xfrm>
      </p:grpSpPr>
      <p:sp>
        <p:nvSpPr>
          <p:cNvPr id="17" name="Google Shape;17;p2"/>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 name="Google Shape;19;p2"/>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 name="Google Shape;20;p2"/>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 name="Google Shape;21;p2"/>
          <p:cNvSpPr txBox="1"/>
          <p:nvPr>
            <p:ph idx="4"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2" name="Shape 2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 type="subTitle"/>
          </p:nvPr>
        </p:nvSpPr>
        <p:spPr>
          <a:xfrm>
            <a:off x="609480" y="1604520"/>
            <a:ext cx="10972440" cy="3977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2" name="Google Shape;32;p6"/>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7"/>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35" name="Shape 35"/>
        <p:cNvGrpSpPr/>
        <p:nvPr/>
      </p:nvGrpSpPr>
      <p:grpSpPr>
        <a:xfrm>
          <a:off x="0" y="0"/>
          <a:ext cx="0" cy="0"/>
          <a:chOff x="0" y="0"/>
          <a:chExt cx="0" cy="0"/>
        </a:xfrm>
      </p:grpSpPr>
      <p:sp>
        <p:nvSpPr>
          <p:cNvPr id="36" name="Google Shape;36;p8"/>
          <p:cNvSpPr txBox="1"/>
          <p:nvPr>
            <p:ph idx="1" type="subTitle"/>
          </p:nvPr>
        </p:nvSpPr>
        <p:spPr>
          <a:xfrm>
            <a:off x="838080" y="365040"/>
            <a:ext cx="10515600" cy="61455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7" name="Shape 37"/>
        <p:cNvGrpSpPr/>
        <p:nvPr/>
      </p:nvGrpSpPr>
      <p:grpSpPr>
        <a:xfrm>
          <a:off x="0" y="0"/>
          <a:ext cx="0" cy="0"/>
          <a:chOff x="0" y="0"/>
          <a:chExt cx="0" cy="0"/>
        </a:xfrm>
      </p:grpSpPr>
      <p:sp>
        <p:nvSpPr>
          <p:cNvPr id="38" name="Google Shape;38;p9"/>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9"/>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0" name="Google Shape;40;p9"/>
          <p:cNvSpPr txBox="1"/>
          <p:nvPr>
            <p:ph idx="2" type="body"/>
          </p:nvPr>
        </p:nvSpPr>
        <p:spPr>
          <a:xfrm>
            <a:off x="623196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1" name="Google Shape;41;p9"/>
          <p:cNvSpPr txBox="1"/>
          <p:nvPr>
            <p:ph idx="3" type="body"/>
          </p:nvPr>
        </p:nvSpPr>
        <p:spPr>
          <a:xfrm>
            <a:off x="60948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42" name="Shape 42"/>
        <p:cNvGrpSpPr/>
        <p:nvPr/>
      </p:nvGrpSpPr>
      <p:grpSpPr>
        <a:xfrm>
          <a:off x="0" y="0"/>
          <a:ext cx="0" cy="0"/>
          <a:chOff x="0" y="0"/>
          <a:chExt cx="0" cy="0"/>
        </a:xfrm>
      </p:grpSpPr>
      <p:sp>
        <p:nvSpPr>
          <p:cNvPr id="43" name="Google Shape;43;p10"/>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0"/>
          <p:cNvSpPr txBox="1"/>
          <p:nvPr>
            <p:ph idx="1" type="body"/>
          </p:nvPr>
        </p:nvSpPr>
        <p:spPr>
          <a:xfrm>
            <a:off x="609480" y="1604520"/>
            <a:ext cx="5354280" cy="39772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5" name="Google Shape;45;p10"/>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6" name="Google Shape;46;p10"/>
          <p:cNvSpPr txBox="1"/>
          <p:nvPr>
            <p:ph idx="3" type="body"/>
          </p:nvPr>
        </p:nvSpPr>
        <p:spPr>
          <a:xfrm>
            <a:off x="6231960" y="368208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7" name="Shape 47"/>
        <p:cNvGrpSpPr/>
        <p:nvPr/>
      </p:nvGrpSpPr>
      <p:grpSpPr>
        <a:xfrm>
          <a:off x="0" y="0"/>
          <a:ext cx="0" cy="0"/>
          <a:chOff x="0" y="0"/>
          <a:chExt cx="0" cy="0"/>
        </a:xfrm>
      </p:grpSpPr>
      <p:sp>
        <p:nvSpPr>
          <p:cNvPr id="48" name="Google Shape;48;p11"/>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1"/>
          <p:cNvSpPr txBox="1"/>
          <p:nvPr>
            <p:ph idx="1" type="body"/>
          </p:nvPr>
        </p:nvSpPr>
        <p:spPr>
          <a:xfrm>
            <a:off x="60948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0" name="Google Shape;50;p11"/>
          <p:cNvSpPr txBox="1"/>
          <p:nvPr>
            <p:ph idx="2" type="body"/>
          </p:nvPr>
        </p:nvSpPr>
        <p:spPr>
          <a:xfrm>
            <a:off x="6231960" y="1604520"/>
            <a:ext cx="535428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1" name="Google Shape;51;p11"/>
          <p:cNvSpPr txBox="1"/>
          <p:nvPr>
            <p:ph idx="3"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52" name="Shape 52"/>
        <p:cNvGrpSpPr/>
        <p:nvPr/>
      </p:nvGrpSpPr>
      <p:grpSpPr>
        <a:xfrm>
          <a:off x="0" y="0"/>
          <a:ext cx="0" cy="0"/>
          <a:chOff x="0" y="0"/>
          <a:chExt cx="0" cy="0"/>
        </a:xfrm>
      </p:grpSpPr>
      <p:sp>
        <p:nvSpPr>
          <p:cNvPr id="53" name="Google Shape;53;p12"/>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2"/>
          <p:cNvSpPr txBox="1"/>
          <p:nvPr>
            <p:ph idx="1" type="body"/>
          </p:nvPr>
        </p:nvSpPr>
        <p:spPr>
          <a:xfrm>
            <a:off x="609480" y="160452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5" name="Google Shape;55;p12"/>
          <p:cNvSpPr txBox="1"/>
          <p:nvPr>
            <p:ph idx="2" type="body"/>
          </p:nvPr>
        </p:nvSpPr>
        <p:spPr>
          <a:xfrm>
            <a:off x="609480" y="3682080"/>
            <a:ext cx="109724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6" name="Shape 56"/>
        <p:cNvGrpSpPr/>
        <p:nvPr/>
      </p:nvGrpSpPr>
      <p:grpSpPr>
        <a:xfrm>
          <a:off x="0" y="0"/>
          <a:ext cx="0" cy="0"/>
          <a:chOff x="0" y="0"/>
          <a:chExt cx="0" cy="0"/>
        </a:xfrm>
      </p:grpSpPr>
      <p:sp>
        <p:nvSpPr>
          <p:cNvPr id="57" name="Google Shape;57;p13"/>
          <p:cNvSpPr txBox="1"/>
          <p:nvPr>
            <p:ph type="title"/>
          </p:nvPr>
        </p:nvSpPr>
        <p:spPr>
          <a:xfrm>
            <a:off x="838080" y="365040"/>
            <a:ext cx="10515600" cy="13255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3"/>
          <p:cNvSpPr txBox="1"/>
          <p:nvPr>
            <p:ph idx="1" type="body"/>
          </p:nvPr>
        </p:nvSpPr>
        <p:spPr>
          <a:xfrm>
            <a:off x="60948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2" type="body"/>
          </p:nvPr>
        </p:nvSpPr>
        <p:spPr>
          <a:xfrm>
            <a:off x="431964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3" type="body"/>
          </p:nvPr>
        </p:nvSpPr>
        <p:spPr>
          <a:xfrm>
            <a:off x="8029800" y="160452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4" type="body"/>
          </p:nvPr>
        </p:nvSpPr>
        <p:spPr>
          <a:xfrm>
            <a:off x="60948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5" type="body"/>
          </p:nvPr>
        </p:nvSpPr>
        <p:spPr>
          <a:xfrm>
            <a:off x="431964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3" name="Google Shape;63;p13"/>
          <p:cNvSpPr txBox="1"/>
          <p:nvPr>
            <p:ph idx="6" type="body"/>
          </p:nvPr>
        </p:nvSpPr>
        <p:spPr>
          <a:xfrm>
            <a:off x="8029800" y="3682080"/>
            <a:ext cx="3533040" cy="189684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080" y="365040"/>
            <a:ext cx="10515600" cy="132552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2" type="title"/>
          </p:nvPr>
        </p:nvSpPr>
        <p:spPr>
          <a:xfrm>
            <a:off x="838080" y="1825560"/>
            <a:ext cx="10515600" cy="435132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1"/>
          <p:cNvSpPr txBox="1"/>
          <p:nvPr>
            <p:ph idx="10" type="dt"/>
          </p:nvPr>
        </p:nvSpPr>
        <p:spPr>
          <a:xfrm>
            <a:off x="838080" y="6356520"/>
            <a:ext cx="27432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3" name="Google Shape;13;p1"/>
          <p:cNvSpPr txBox="1"/>
          <p:nvPr>
            <p:ph idx="11" type="ftr"/>
          </p:nvPr>
        </p:nvSpPr>
        <p:spPr>
          <a:xfrm>
            <a:off x="4038480" y="6356520"/>
            <a:ext cx="411480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 name="Google Shape;14;p1"/>
          <p:cNvSpPr txBox="1"/>
          <p:nvPr>
            <p:ph idx="12" type="sldNum"/>
          </p:nvPr>
        </p:nvSpPr>
        <p:spPr>
          <a:xfrm>
            <a:off x="8610480" y="6356520"/>
            <a:ext cx="27432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solidFill>
                <a:srgbClr val="000000"/>
              </a:solidFill>
              <a:latin typeface="Times New Roman"/>
              <a:ea typeface="Times New Roman"/>
              <a:cs typeface="Times New Roman"/>
              <a:sym typeface="Times New Roman"/>
            </a:endParaRPr>
          </a:p>
        </p:txBody>
      </p:sp>
      <p:sp>
        <p:nvSpPr>
          <p:cNvPr id="15" name="Google Shape;15;p1"/>
          <p:cNvSpPr txBox="1"/>
          <p:nvPr>
            <p:ph idx="1" type="body"/>
          </p:nvPr>
        </p:nvSpPr>
        <p:spPr>
          <a:xfrm>
            <a:off x="609480" y="1604520"/>
            <a:ext cx="109724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2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68" name="Shape 68"/>
        <p:cNvGrpSpPr/>
        <p:nvPr/>
      </p:nvGrpSpPr>
      <p:grpSpPr>
        <a:xfrm>
          <a:off x="0" y="0"/>
          <a:ext cx="0" cy="0"/>
          <a:chOff x="0" y="0"/>
          <a:chExt cx="0" cy="0"/>
        </a:xfrm>
      </p:grpSpPr>
      <p:sp>
        <p:nvSpPr>
          <p:cNvPr id="69" name="Google Shape;69;p14"/>
          <p:cNvSpPr txBox="1"/>
          <p:nvPr/>
        </p:nvSpPr>
        <p:spPr>
          <a:xfrm>
            <a:off x="624240" y="2905920"/>
            <a:ext cx="4699440" cy="5230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2800" u="none" cap="none" strike="noStrike">
                <a:solidFill>
                  <a:srgbClr val="FFFFFF"/>
                </a:solidFill>
                <a:latin typeface="Poppins"/>
                <a:ea typeface="Poppins"/>
                <a:cs typeface="Poppins"/>
                <a:sym typeface="Poppins"/>
              </a:rPr>
              <a:t>Quem joga com a gente.</a:t>
            </a:r>
            <a:endParaRPr b="0" i="0" sz="2800" u="none" cap="none" strike="noStrike">
              <a:latin typeface="Arial"/>
              <a:ea typeface="Arial"/>
              <a:cs typeface="Arial"/>
              <a:sym typeface="Arial"/>
            </a:endParaRPr>
          </a:p>
        </p:txBody>
      </p:sp>
      <p:sp>
        <p:nvSpPr>
          <p:cNvPr id="70" name="Google Shape;70;p14"/>
          <p:cNvSpPr txBox="1"/>
          <p:nvPr/>
        </p:nvSpPr>
        <p:spPr>
          <a:xfrm>
            <a:off x="8610480" y="6356520"/>
            <a:ext cx="2743200" cy="36504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pt-BR" sz="1200" u="none" cap="none" strike="noStrike">
                <a:solidFill>
                  <a:srgbClr val="898989"/>
                </a:solidFill>
                <a:latin typeface="Calibri"/>
                <a:ea typeface="Calibri"/>
                <a:cs typeface="Calibri"/>
                <a:sym typeface="Calibri"/>
              </a:rPr>
              <a:t>‹#›</a:t>
            </a:fld>
            <a:endParaRPr b="0" i="0" sz="1200" u="none" cap="none" strike="noStrike">
              <a:latin typeface="Times New Roman"/>
              <a:ea typeface="Times New Roman"/>
              <a:cs typeface="Times New Roman"/>
              <a:sym typeface="Times New Roman"/>
            </a:endParaRPr>
          </a:p>
        </p:txBody>
      </p:sp>
      <p:sp>
        <p:nvSpPr>
          <p:cNvPr id="71" name="Google Shape;71;p14"/>
          <p:cNvSpPr/>
          <p:nvPr/>
        </p:nvSpPr>
        <p:spPr>
          <a:xfrm>
            <a:off x="624240" y="5860800"/>
            <a:ext cx="2125080" cy="513360"/>
          </a:xfrm>
          <a:custGeom>
            <a:rect b="b" l="l" r="r" t="t"/>
            <a:pathLst>
              <a:path extrusionOk="0" h="1381125" w="5716905">
                <a:moveTo>
                  <a:pt x="39053" y="95250"/>
                </a:moveTo>
                <a:lnTo>
                  <a:pt x="19050" y="188595"/>
                </a:lnTo>
                <a:lnTo>
                  <a:pt x="5715" y="282892"/>
                </a:lnTo>
                <a:lnTo>
                  <a:pt x="0" y="378142"/>
                </a:lnTo>
                <a:lnTo>
                  <a:pt x="0" y="473392"/>
                </a:lnTo>
                <a:lnTo>
                  <a:pt x="6668" y="568642"/>
                </a:lnTo>
                <a:lnTo>
                  <a:pt x="20003" y="662940"/>
                </a:lnTo>
                <a:lnTo>
                  <a:pt x="40005" y="756285"/>
                </a:lnTo>
                <a:lnTo>
                  <a:pt x="65723" y="847725"/>
                </a:lnTo>
                <a:lnTo>
                  <a:pt x="91440" y="756285"/>
                </a:lnTo>
                <a:lnTo>
                  <a:pt x="110490" y="662940"/>
                </a:lnTo>
                <a:lnTo>
                  <a:pt x="123825" y="568642"/>
                </a:lnTo>
                <a:lnTo>
                  <a:pt x="130492" y="473392"/>
                </a:lnTo>
                <a:lnTo>
                  <a:pt x="130492" y="378142"/>
                </a:lnTo>
                <a:lnTo>
                  <a:pt x="123825" y="283845"/>
                </a:lnTo>
                <a:lnTo>
                  <a:pt x="110490" y="189547"/>
                </a:lnTo>
                <a:lnTo>
                  <a:pt x="91440" y="96203"/>
                </a:lnTo>
                <a:lnTo>
                  <a:pt x="64770" y="3810"/>
                </a:lnTo>
                <a:lnTo>
                  <a:pt x="39053" y="95250"/>
                </a:lnTo>
                <a:close/>
                <a:moveTo>
                  <a:pt x="208598" y="95250"/>
                </a:moveTo>
                <a:lnTo>
                  <a:pt x="188595" y="188595"/>
                </a:lnTo>
                <a:lnTo>
                  <a:pt x="175260" y="282892"/>
                </a:lnTo>
                <a:lnTo>
                  <a:pt x="168592" y="377190"/>
                </a:lnTo>
                <a:lnTo>
                  <a:pt x="168592" y="472440"/>
                </a:lnTo>
                <a:lnTo>
                  <a:pt x="175260" y="567690"/>
                </a:lnTo>
                <a:lnTo>
                  <a:pt x="188595" y="661988"/>
                </a:lnTo>
                <a:lnTo>
                  <a:pt x="208598" y="755332"/>
                </a:lnTo>
                <a:lnTo>
                  <a:pt x="234315" y="846772"/>
                </a:lnTo>
                <a:lnTo>
                  <a:pt x="260033" y="755332"/>
                </a:lnTo>
                <a:lnTo>
                  <a:pt x="279083" y="661988"/>
                </a:lnTo>
                <a:lnTo>
                  <a:pt x="292418" y="567690"/>
                </a:lnTo>
                <a:lnTo>
                  <a:pt x="299085" y="472440"/>
                </a:lnTo>
                <a:lnTo>
                  <a:pt x="299085" y="378142"/>
                </a:lnTo>
                <a:lnTo>
                  <a:pt x="292418" y="283845"/>
                </a:lnTo>
                <a:lnTo>
                  <a:pt x="279083" y="189547"/>
                </a:lnTo>
                <a:lnTo>
                  <a:pt x="260033" y="96203"/>
                </a:lnTo>
                <a:lnTo>
                  <a:pt x="234315" y="3810"/>
                </a:lnTo>
                <a:lnTo>
                  <a:pt x="208598" y="95250"/>
                </a:lnTo>
                <a:close/>
                <a:moveTo>
                  <a:pt x="376238" y="95250"/>
                </a:moveTo>
                <a:lnTo>
                  <a:pt x="357188" y="188595"/>
                </a:lnTo>
                <a:lnTo>
                  <a:pt x="343853" y="282892"/>
                </a:lnTo>
                <a:lnTo>
                  <a:pt x="337185" y="377190"/>
                </a:lnTo>
                <a:lnTo>
                  <a:pt x="337185" y="472440"/>
                </a:lnTo>
                <a:lnTo>
                  <a:pt x="343853" y="567690"/>
                </a:lnTo>
                <a:lnTo>
                  <a:pt x="357188" y="661988"/>
                </a:lnTo>
                <a:lnTo>
                  <a:pt x="376238" y="755332"/>
                </a:lnTo>
                <a:lnTo>
                  <a:pt x="401955" y="846772"/>
                </a:lnTo>
                <a:lnTo>
                  <a:pt x="427673" y="755332"/>
                </a:lnTo>
                <a:lnTo>
                  <a:pt x="447675" y="661988"/>
                </a:lnTo>
                <a:lnTo>
                  <a:pt x="461010" y="567690"/>
                </a:lnTo>
                <a:lnTo>
                  <a:pt x="467678" y="472440"/>
                </a:lnTo>
                <a:lnTo>
                  <a:pt x="467678" y="378142"/>
                </a:lnTo>
                <a:lnTo>
                  <a:pt x="461010" y="283845"/>
                </a:lnTo>
                <a:lnTo>
                  <a:pt x="447675" y="189547"/>
                </a:lnTo>
                <a:lnTo>
                  <a:pt x="427673" y="96203"/>
                </a:lnTo>
                <a:lnTo>
                  <a:pt x="402908" y="3810"/>
                </a:lnTo>
                <a:lnTo>
                  <a:pt x="376238" y="95250"/>
                </a:lnTo>
                <a:close/>
                <a:moveTo>
                  <a:pt x="545783" y="95250"/>
                </a:moveTo>
                <a:lnTo>
                  <a:pt x="526733" y="188595"/>
                </a:lnTo>
                <a:lnTo>
                  <a:pt x="513398" y="282892"/>
                </a:lnTo>
                <a:lnTo>
                  <a:pt x="506730" y="377190"/>
                </a:lnTo>
                <a:lnTo>
                  <a:pt x="506730" y="472440"/>
                </a:lnTo>
                <a:lnTo>
                  <a:pt x="513398" y="567690"/>
                </a:lnTo>
                <a:lnTo>
                  <a:pt x="526733" y="661988"/>
                </a:lnTo>
                <a:lnTo>
                  <a:pt x="545783" y="755332"/>
                </a:lnTo>
                <a:lnTo>
                  <a:pt x="571500" y="846772"/>
                </a:lnTo>
                <a:lnTo>
                  <a:pt x="597218" y="755332"/>
                </a:lnTo>
                <a:lnTo>
                  <a:pt x="617220" y="661988"/>
                </a:lnTo>
                <a:lnTo>
                  <a:pt x="630555" y="567690"/>
                </a:lnTo>
                <a:lnTo>
                  <a:pt x="637223" y="472440"/>
                </a:lnTo>
                <a:lnTo>
                  <a:pt x="637223" y="378142"/>
                </a:lnTo>
                <a:lnTo>
                  <a:pt x="630555" y="283845"/>
                </a:lnTo>
                <a:lnTo>
                  <a:pt x="617220" y="189547"/>
                </a:lnTo>
                <a:lnTo>
                  <a:pt x="597218" y="96203"/>
                </a:lnTo>
                <a:lnTo>
                  <a:pt x="571500" y="3810"/>
                </a:lnTo>
                <a:lnTo>
                  <a:pt x="545783" y="95250"/>
                </a:lnTo>
                <a:close/>
                <a:moveTo>
                  <a:pt x="715328" y="95250"/>
                </a:moveTo>
                <a:lnTo>
                  <a:pt x="695325" y="188595"/>
                </a:lnTo>
                <a:lnTo>
                  <a:pt x="681990" y="282892"/>
                </a:lnTo>
                <a:lnTo>
                  <a:pt x="675323" y="377190"/>
                </a:lnTo>
                <a:lnTo>
                  <a:pt x="675323" y="472440"/>
                </a:lnTo>
                <a:lnTo>
                  <a:pt x="681990" y="567690"/>
                </a:lnTo>
                <a:lnTo>
                  <a:pt x="695325" y="661988"/>
                </a:lnTo>
                <a:lnTo>
                  <a:pt x="715328" y="755332"/>
                </a:lnTo>
                <a:lnTo>
                  <a:pt x="741045" y="846772"/>
                </a:lnTo>
                <a:lnTo>
                  <a:pt x="766763" y="755332"/>
                </a:lnTo>
                <a:lnTo>
                  <a:pt x="786765" y="661988"/>
                </a:lnTo>
                <a:lnTo>
                  <a:pt x="800100" y="567690"/>
                </a:lnTo>
                <a:lnTo>
                  <a:pt x="806768" y="472440"/>
                </a:lnTo>
                <a:lnTo>
                  <a:pt x="806768" y="378142"/>
                </a:lnTo>
                <a:lnTo>
                  <a:pt x="800100" y="283845"/>
                </a:lnTo>
                <a:lnTo>
                  <a:pt x="786765" y="189547"/>
                </a:lnTo>
                <a:lnTo>
                  <a:pt x="766763" y="95250"/>
                </a:lnTo>
                <a:lnTo>
                  <a:pt x="741045" y="3810"/>
                </a:lnTo>
                <a:lnTo>
                  <a:pt x="715328" y="95250"/>
                </a:lnTo>
                <a:close/>
                <a:moveTo>
                  <a:pt x="1636395" y="3810"/>
                </a:moveTo>
                <a:lnTo>
                  <a:pt x="1530668" y="465772"/>
                </a:lnTo>
                <a:lnTo>
                  <a:pt x="1424940" y="3810"/>
                </a:lnTo>
                <a:lnTo>
                  <a:pt x="963930" y="3810"/>
                </a:lnTo>
                <a:lnTo>
                  <a:pt x="963930" y="850582"/>
                </a:lnTo>
                <a:lnTo>
                  <a:pt x="1220153" y="850582"/>
                </a:lnTo>
                <a:lnTo>
                  <a:pt x="1220153" y="256222"/>
                </a:lnTo>
                <a:lnTo>
                  <a:pt x="1389698" y="850582"/>
                </a:lnTo>
                <a:lnTo>
                  <a:pt x="1671638" y="850582"/>
                </a:lnTo>
                <a:lnTo>
                  <a:pt x="1841183" y="256222"/>
                </a:lnTo>
                <a:lnTo>
                  <a:pt x="1841183" y="850582"/>
                </a:lnTo>
                <a:lnTo>
                  <a:pt x="2097405" y="850582"/>
                </a:lnTo>
                <a:lnTo>
                  <a:pt x="2097405" y="3810"/>
                </a:lnTo>
                <a:lnTo>
                  <a:pt x="1636395" y="3810"/>
                </a:lnTo>
                <a:close/>
                <a:moveTo>
                  <a:pt x="2577465" y="681038"/>
                </a:moveTo>
                <a:lnTo>
                  <a:pt x="2558415" y="673417"/>
                </a:lnTo>
                <a:lnTo>
                  <a:pt x="2542223" y="661035"/>
                </a:lnTo>
                <a:lnTo>
                  <a:pt x="2529840" y="644842"/>
                </a:lnTo>
                <a:lnTo>
                  <a:pt x="2522220" y="625792"/>
                </a:lnTo>
                <a:lnTo>
                  <a:pt x="2519363" y="605790"/>
                </a:lnTo>
                <a:lnTo>
                  <a:pt x="2519363" y="246697"/>
                </a:lnTo>
                <a:lnTo>
                  <a:pt x="2522220" y="226695"/>
                </a:lnTo>
                <a:lnTo>
                  <a:pt x="2529840" y="208597"/>
                </a:lnTo>
                <a:lnTo>
                  <a:pt x="2542223" y="192405"/>
                </a:lnTo>
                <a:lnTo>
                  <a:pt x="2558415" y="180022"/>
                </a:lnTo>
                <a:lnTo>
                  <a:pt x="2577465" y="172403"/>
                </a:lnTo>
                <a:lnTo>
                  <a:pt x="2597468" y="169545"/>
                </a:lnTo>
                <a:lnTo>
                  <a:pt x="2617470" y="172403"/>
                </a:lnTo>
                <a:lnTo>
                  <a:pt x="2636520" y="180022"/>
                </a:lnTo>
                <a:lnTo>
                  <a:pt x="2652713" y="192405"/>
                </a:lnTo>
                <a:lnTo>
                  <a:pt x="2665095" y="208597"/>
                </a:lnTo>
                <a:lnTo>
                  <a:pt x="2672715" y="226695"/>
                </a:lnTo>
                <a:lnTo>
                  <a:pt x="2675573" y="246697"/>
                </a:lnTo>
                <a:lnTo>
                  <a:pt x="2675573" y="606742"/>
                </a:lnTo>
                <a:lnTo>
                  <a:pt x="2672715" y="626745"/>
                </a:lnTo>
                <a:lnTo>
                  <a:pt x="2665095" y="645795"/>
                </a:lnTo>
                <a:lnTo>
                  <a:pt x="2652713" y="661988"/>
                </a:lnTo>
                <a:lnTo>
                  <a:pt x="2636520" y="674370"/>
                </a:lnTo>
                <a:lnTo>
                  <a:pt x="2617470" y="681990"/>
                </a:lnTo>
                <a:lnTo>
                  <a:pt x="2597468" y="684847"/>
                </a:lnTo>
                <a:lnTo>
                  <a:pt x="2577465" y="681038"/>
                </a:lnTo>
                <a:close/>
                <a:moveTo>
                  <a:pt x="2520315" y="3810"/>
                </a:moveTo>
                <a:lnTo>
                  <a:pt x="2476500" y="6667"/>
                </a:lnTo>
                <a:lnTo>
                  <a:pt x="2433638" y="16192"/>
                </a:lnTo>
                <a:lnTo>
                  <a:pt x="2391728" y="31432"/>
                </a:lnTo>
                <a:lnTo>
                  <a:pt x="2352675" y="52388"/>
                </a:lnTo>
                <a:lnTo>
                  <a:pt x="2317433" y="79057"/>
                </a:lnTo>
                <a:lnTo>
                  <a:pt x="2286000" y="110490"/>
                </a:lnTo>
                <a:lnTo>
                  <a:pt x="2259330" y="145732"/>
                </a:lnTo>
                <a:lnTo>
                  <a:pt x="2238375" y="184785"/>
                </a:lnTo>
                <a:lnTo>
                  <a:pt x="2223135" y="225742"/>
                </a:lnTo>
                <a:lnTo>
                  <a:pt x="2213610" y="269557"/>
                </a:lnTo>
                <a:lnTo>
                  <a:pt x="2210753" y="313372"/>
                </a:lnTo>
                <a:lnTo>
                  <a:pt x="2210753" y="541972"/>
                </a:lnTo>
                <a:lnTo>
                  <a:pt x="2213610" y="585788"/>
                </a:lnTo>
                <a:lnTo>
                  <a:pt x="2223135" y="628650"/>
                </a:lnTo>
                <a:lnTo>
                  <a:pt x="2238375" y="670560"/>
                </a:lnTo>
                <a:lnTo>
                  <a:pt x="2259330" y="709613"/>
                </a:lnTo>
                <a:lnTo>
                  <a:pt x="2286000" y="744855"/>
                </a:lnTo>
                <a:lnTo>
                  <a:pt x="2317433" y="776288"/>
                </a:lnTo>
                <a:lnTo>
                  <a:pt x="2352675" y="802957"/>
                </a:lnTo>
                <a:lnTo>
                  <a:pt x="2391728" y="823913"/>
                </a:lnTo>
                <a:lnTo>
                  <a:pt x="2433638" y="839153"/>
                </a:lnTo>
                <a:lnTo>
                  <a:pt x="2476500" y="848678"/>
                </a:lnTo>
                <a:lnTo>
                  <a:pt x="2520315" y="851535"/>
                </a:lnTo>
                <a:lnTo>
                  <a:pt x="2673668" y="851535"/>
                </a:lnTo>
                <a:lnTo>
                  <a:pt x="2717483" y="848678"/>
                </a:lnTo>
                <a:lnTo>
                  <a:pt x="2761298" y="839153"/>
                </a:lnTo>
                <a:lnTo>
                  <a:pt x="2802255" y="823913"/>
                </a:lnTo>
                <a:lnTo>
                  <a:pt x="2841308" y="802957"/>
                </a:lnTo>
                <a:lnTo>
                  <a:pt x="2876550" y="776288"/>
                </a:lnTo>
                <a:lnTo>
                  <a:pt x="2907983" y="744855"/>
                </a:lnTo>
                <a:lnTo>
                  <a:pt x="2934653" y="709613"/>
                </a:lnTo>
                <a:lnTo>
                  <a:pt x="2955608" y="670560"/>
                </a:lnTo>
                <a:lnTo>
                  <a:pt x="2970848" y="628650"/>
                </a:lnTo>
                <a:lnTo>
                  <a:pt x="2980373" y="585788"/>
                </a:lnTo>
                <a:lnTo>
                  <a:pt x="2983230" y="541972"/>
                </a:lnTo>
                <a:lnTo>
                  <a:pt x="2983230" y="311467"/>
                </a:lnTo>
                <a:lnTo>
                  <a:pt x="2980373" y="267653"/>
                </a:lnTo>
                <a:lnTo>
                  <a:pt x="2970848" y="223838"/>
                </a:lnTo>
                <a:lnTo>
                  <a:pt x="2955608" y="182880"/>
                </a:lnTo>
                <a:lnTo>
                  <a:pt x="2934653" y="143828"/>
                </a:lnTo>
                <a:lnTo>
                  <a:pt x="2907983" y="108585"/>
                </a:lnTo>
                <a:lnTo>
                  <a:pt x="2876550" y="77153"/>
                </a:lnTo>
                <a:lnTo>
                  <a:pt x="2841308" y="50482"/>
                </a:lnTo>
                <a:lnTo>
                  <a:pt x="2802255" y="29527"/>
                </a:lnTo>
                <a:lnTo>
                  <a:pt x="2761298" y="14288"/>
                </a:lnTo>
                <a:lnTo>
                  <a:pt x="2717483" y="4763"/>
                </a:lnTo>
                <a:lnTo>
                  <a:pt x="2674620" y="1905"/>
                </a:lnTo>
                <a:lnTo>
                  <a:pt x="2520315" y="1905"/>
                </a:lnTo>
                <a:close/>
                <a:moveTo>
                  <a:pt x="3713798" y="3810"/>
                </a:moveTo>
                <a:lnTo>
                  <a:pt x="3713798" y="597217"/>
                </a:lnTo>
                <a:lnTo>
                  <a:pt x="3544253" y="3810"/>
                </a:lnTo>
                <a:lnTo>
                  <a:pt x="3097530" y="3810"/>
                </a:lnTo>
                <a:lnTo>
                  <a:pt x="3097530" y="850582"/>
                </a:lnTo>
                <a:lnTo>
                  <a:pt x="3353753" y="850582"/>
                </a:lnTo>
                <a:lnTo>
                  <a:pt x="3353753" y="256222"/>
                </a:lnTo>
                <a:lnTo>
                  <a:pt x="3524250" y="850582"/>
                </a:lnTo>
                <a:lnTo>
                  <a:pt x="3970973" y="850582"/>
                </a:lnTo>
                <a:lnTo>
                  <a:pt x="3970973" y="3810"/>
                </a:lnTo>
                <a:lnTo>
                  <a:pt x="3713798" y="3810"/>
                </a:lnTo>
                <a:close/>
                <a:moveTo>
                  <a:pt x="4369118" y="169545"/>
                </a:moveTo>
                <a:lnTo>
                  <a:pt x="4445318" y="169545"/>
                </a:lnTo>
                <a:lnTo>
                  <a:pt x="4465320" y="172403"/>
                </a:lnTo>
                <a:lnTo>
                  <a:pt x="4484370" y="180022"/>
                </a:lnTo>
                <a:lnTo>
                  <a:pt x="4500563" y="192405"/>
                </a:lnTo>
                <a:lnTo>
                  <a:pt x="4512945" y="208597"/>
                </a:lnTo>
                <a:lnTo>
                  <a:pt x="4520565" y="226695"/>
                </a:lnTo>
                <a:lnTo>
                  <a:pt x="4523423" y="246697"/>
                </a:lnTo>
                <a:lnTo>
                  <a:pt x="4523423" y="606742"/>
                </a:lnTo>
                <a:lnTo>
                  <a:pt x="4520565" y="626745"/>
                </a:lnTo>
                <a:lnTo>
                  <a:pt x="4512945" y="645795"/>
                </a:lnTo>
                <a:lnTo>
                  <a:pt x="4500563" y="661988"/>
                </a:lnTo>
                <a:lnTo>
                  <a:pt x="4484370" y="674370"/>
                </a:lnTo>
                <a:lnTo>
                  <a:pt x="4465320" y="681990"/>
                </a:lnTo>
                <a:lnTo>
                  <a:pt x="4445318" y="684847"/>
                </a:lnTo>
                <a:lnTo>
                  <a:pt x="4369118" y="684847"/>
                </a:lnTo>
                <a:lnTo>
                  <a:pt x="4369118" y="169545"/>
                </a:lnTo>
                <a:close/>
                <a:moveTo>
                  <a:pt x="4087178" y="3810"/>
                </a:moveTo>
                <a:lnTo>
                  <a:pt x="4087178" y="850582"/>
                </a:lnTo>
                <a:lnTo>
                  <a:pt x="4523423" y="850582"/>
                </a:lnTo>
                <a:lnTo>
                  <a:pt x="4567238" y="847725"/>
                </a:lnTo>
                <a:lnTo>
                  <a:pt x="4610100" y="838200"/>
                </a:lnTo>
                <a:lnTo>
                  <a:pt x="4651058" y="822960"/>
                </a:lnTo>
                <a:lnTo>
                  <a:pt x="4690110" y="802005"/>
                </a:lnTo>
                <a:lnTo>
                  <a:pt x="4725353" y="775335"/>
                </a:lnTo>
                <a:lnTo>
                  <a:pt x="4756785" y="743903"/>
                </a:lnTo>
                <a:lnTo>
                  <a:pt x="4783455" y="708660"/>
                </a:lnTo>
                <a:lnTo>
                  <a:pt x="4804410" y="669607"/>
                </a:lnTo>
                <a:lnTo>
                  <a:pt x="4819650" y="627697"/>
                </a:lnTo>
                <a:lnTo>
                  <a:pt x="4829175" y="584835"/>
                </a:lnTo>
                <a:lnTo>
                  <a:pt x="4832033" y="541020"/>
                </a:lnTo>
                <a:lnTo>
                  <a:pt x="4832033" y="309563"/>
                </a:lnTo>
                <a:lnTo>
                  <a:pt x="4829175" y="265747"/>
                </a:lnTo>
                <a:lnTo>
                  <a:pt x="4819650" y="221932"/>
                </a:lnTo>
                <a:lnTo>
                  <a:pt x="4804410" y="180975"/>
                </a:lnTo>
                <a:lnTo>
                  <a:pt x="4783455" y="141922"/>
                </a:lnTo>
                <a:lnTo>
                  <a:pt x="4756785" y="106680"/>
                </a:lnTo>
                <a:lnTo>
                  <a:pt x="4725353" y="75247"/>
                </a:lnTo>
                <a:lnTo>
                  <a:pt x="4690110" y="48577"/>
                </a:lnTo>
                <a:lnTo>
                  <a:pt x="4651058" y="27622"/>
                </a:lnTo>
                <a:lnTo>
                  <a:pt x="4610100" y="12382"/>
                </a:lnTo>
                <a:lnTo>
                  <a:pt x="4567238" y="2857"/>
                </a:lnTo>
                <a:lnTo>
                  <a:pt x="4522470" y="0"/>
                </a:lnTo>
                <a:lnTo>
                  <a:pt x="4087178" y="0"/>
                </a:lnTo>
                <a:close/>
                <a:moveTo>
                  <a:pt x="5310188" y="681038"/>
                </a:moveTo>
                <a:lnTo>
                  <a:pt x="5291138" y="673417"/>
                </a:lnTo>
                <a:lnTo>
                  <a:pt x="5274945" y="661035"/>
                </a:lnTo>
                <a:lnTo>
                  <a:pt x="5262563" y="644842"/>
                </a:lnTo>
                <a:lnTo>
                  <a:pt x="5254943" y="625792"/>
                </a:lnTo>
                <a:lnTo>
                  <a:pt x="5252085" y="605790"/>
                </a:lnTo>
                <a:lnTo>
                  <a:pt x="5252085" y="246697"/>
                </a:lnTo>
                <a:lnTo>
                  <a:pt x="5254943" y="226695"/>
                </a:lnTo>
                <a:lnTo>
                  <a:pt x="5262563" y="208597"/>
                </a:lnTo>
                <a:lnTo>
                  <a:pt x="5274945" y="192405"/>
                </a:lnTo>
                <a:lnTo>
                  <a:pt x="5291138" y="180022"/>
                </a:lnTo>
                <a:lnTo>
                  <a:pt x="5310188" y="172403"/>
                </a:lnTo>
                <a:lnTo>
                  <a:pt x="5330190" y="169545"/>
                </a:lnTo>
                <a:lnTo>
                  <a:pt x="5350193" y="172403"/>
                </a:lnTo>
                <a:lnTo>
                  <a:pt x="5369243" y="180022"/>
                </a:lnTo>
                <a:lnTo>
                  <a:pt x="5385435" y="192405"/>
                </a:lnTo>
                <a:lnTo>
                  <a:pt x="5397818" y="208597"/>
                </a:lnTo>
                <a:lnTo>
                  <a:pt x="5405438" y="226695"/>
                </a:lnTo>
                <a:lnTo>
                  <a:pt x="5408295" y="246697"/>
                </a:lnTo>
                <a:lnTo>
                  <a:pt x="5408295" y="605790"/>
                </a:lnTo>
                <a:lnTo>
                  <a:pt x="5405438" y="625792"/>
                </a:lnTo>
                <a:lnTo>
                  <a:pt x="5397818" y="644842"/>
                </a:lnTo>
                <a:lnTo>
                  <a:pt x="5385435" y="661035"/>
                </a:lnTo>
                <a:lnTo>
                  <a:pt x="5369243" y="673417"/>
                </a:lnTo>
                <a:lnTo>
                  <a:pt x="5350193" y="681038"/>
                </a:lnTo>
                <a:lnTo>
                  <a:pt x="5330190" y="683895"/>
                </a:lnTo>
                <a:lnTo>
                  <a:pt x="5310188" y="681038"/>
                </a:lnTo>
                <a:close/>
                <a:moveTo>
                  <a:pt x="5253990" y="3810"/>
                </a:moveTo>
                <a:lnTo>
                  <a:pt x="5210175" y="6667"/>
                </a:lnTo>
                <a:lnTo>
                  <a:pt x="5167313" y="16192"/>
                </a:lnTo>
                <a:lnTo>
                  <a:pt x="5125403" y="31432"/>
                </a:lnTo>
                <a:lnTo>
                  <a:pt x="5086350" y="52388"/>
                </a:lnTo>
                <a:lnTo>
                  <a:pt x="5051108" y="79057"/>
                </a:lnTo>
                <a:lnTo>
                  <a:pt x="5019675" y="110490"/>
                </a:lnTo>
                <a:lnTo>
                  <a:pt x="4993005" y="145732"/>
                </a:lnTo>
                <a:lnTo>
                  <a:pt x="4972050" y="184785"/>
                </a:lnTo>
                <a:lnTo>
                  <a:pt x="4956810" y="225742"/>
                </a:lnTo>
                <a:lnTo>
                  <a:pt x="4947285" y="269557"/>
                </a:lnTo>
                <a:lnTo>
                  <a:pt x="4944428" y="313372"/>
                </a:lnTo>
                <a:lnTo>
                  <a:pt x="4944428" y="541972"/>
                </a:lnTo>
                <a:lnTo>
                  <a:pt x="4947285" y="585788"/>
                </a:lnTo>
                <a:lnTo>
                  <a:pt x="4956810" y="628650"/>
                </a:lnTo>
                <a:lnTo>
                  <a:pt x="4972050" y="670560"/>
                </a:lnTo>
                <a:lnTo>
                  <a:pt x="4993005" y="709613"/>
                </a:lnTo>
                <a:lnTo>
                  <a:pt x="5019675" y="744855"/>
                </a:lnTo>
                <a:lnTo>
                  <a:pt x="5051108" y="776288"/>
                </a:lnTo>
                <a:lnTo>
                  <a:pt x="5086350" y="802957"/>
                </a:lnTo>
                <a:lnTo>
                  <a:pt x="5125403" y="823913"/>
                </a:lnTo>
                <a:lnTo>
                  <a:pt x="5167313" y="839153"/>
                </a:lnTo>
                <a:lnTo>
                  <a:pt x="5210175" y="848678"/>
                </a:lnTo>
                <a:lnTo>
                  <a:pt x="5253990" y="851535"/>
                </a:lnTo>
                <a:lnTo>
                  <a:pt x="5407343" y="851535"/>
                </a:lnTo>
                <a:lnTo>
                  <a:pt x="5451158" y="848678"/>
                </a:lnTo>
                <a:lnTo>
                  <a:pt x="5494973" y="839153"/>
                </a:lnTo>
                <a:lnTo>
                  <a:pt x="5535930" y="823913"/>
                </a:lnTo>
                <a:lnTo>
                  <a:pt x="5574983" y="802957"/>
                </a:lnTo>
                <a:lnTo>
                  <a:pt x="5610225" y="776288"/>
                </a:lnTo>
                <a:lnTo>
                  <a:pt x="5641658" y="744855"/>
                </a:lnTo>
                <a:lnTo>
                  <a:pt x="5668328" y="709613"/>
                </a:lnTo>
                <a:lnTo>
                  <a:pt x="5689283" y="670560"/>
                </a:lnTo>
                <a:lnTo>
                  <a:pt x="5704523" y="628650"/>
                </a:lnTo>
                <a:lnTo>
                  <a:pt x="5714048" y="585788"/>
                </a:lnTo>
                <a:lnTo>
                  <a:pt x="5716905" y="541972"/>
                </a:lnTo>
                <a:lnTo>
                  <a:pt x="5716905" y="311467"/>
                </a:lnTo>
                <a:lnTo>
                  <a:pt x="5714048" y="267653"/>
                </a:lnTo>
                <a:lnTo>
                  <a:pt x="5704523" y="223838"/>
                </a:lnTo>
                <a:lnTo>
                  <a:pt x="5689283" y="182880"/>
                </a:lnTo>
                <a:lnTo>
                  <a:pt x="5668328" y="143828"/>
                </a:lnTo>
                <a:lnTo>
                  <a:pt x="5641658" y="108585"/>
                </a:lnTo>
                <a:lnTo>
                  <a:pt x="5610225" y="77153"/>
                </a:lnTo>
                <a:lnTo>
                  <a:pt x="5574983" y="50482"/>
                </a:lnTo>
                <a:lnTo>
                  <a:pt x="5535930" y="29527"/>
                </a:lnTo>
                <a:lnTo>
                  <a:pt x="5494973" y="14288"/>
                </a:lnTo>
                <a:lnTo>
                  <a:pt x="5451158" y="4763"/>
                </a:lnTo>
                <a:lnTo>
                  <a:pt x="5407343" y="1905"/>
                </a:lnTo>
                <a:lnTo>
                  <a:pt x="5253990" y="1905"/>
                </a:lnTo>
                <a:close/>
                <a:moveTo>
                  <a:pt x="99060" y="1058228"/>
                </a:moveTo>
                <a:cubicBezTo>
                  <a:pt x="147638" y="1058228"/>
                  <a:pt x="172403" y="1087755"/>
                  <a:pt x="172403" y="1137285"/>
                </a:cubicBezTo>
                <a:lnTo>
                  <a:pt x="172403" y="1146810"/>
                </a:lnTo>
                <a:lnTo>
                  <a:pt x="124778" y="1146810"/>
                </a:lnTo>
                <a:lnTo>
                  <a:pt x="124778" y="1133475"/>
                </a:lnTo>
                <a:cubicBezTo>
                  <a:pt x="124778" y="1110615"/>
                  <a:pt x="115253" y="1102042"/>
                  <a:pt x="100013" y="1102042"/>
                </a:cubicBezTo>
                <a:cubicBezTo>
                  <a:pt x="83820" y="1102042"/>
                  <a:pt x="75248" y="1110615"/>
                  <a:pt x="75248" y="1133475"/>
                </a:cubicBezTo>
                <a:cubicBezTo>
                  <a:pt x="75248" y="1199198"/>
                  <a:pt x="172403" y="1210628"/>
                  <a:pt x="172403" y="1301115"/>
                </a:cubicBezTo>
                <a:cubicBezTo>
                  <a:pt x="172403" y="1351598"/>
                  <a:pt x="146685" y="1380173"/>
                  <a:pt x="98108" y="1380173"/>
                </a:cubicBezTo>
                <a:cubicBezTo>
                  <a:pt x="49530" y="1380173"/>
                  <a:pt x="23813" y="1350645"/>
                  <a:pt x="23813" y="1301115"/>
                </a:cubicBezTo>
                <a:lnTo>
                  <a:pt x="23813" y="1281113"/>
                </a:lnTo>
                <a:lnTo>
                  <a:pt x="71438" y="1281113"/>
                </a:lnTo>
                <a:lnTo>
                  <a:pt x="71438" y="1303973"/>
                </a:lnTo>
                <a:cubicBezTo>
                  <a:pt x="71438" y="1326832"/>
                  <a:pt x="80963" y="1334453"/>
                  <a:pt x="97155" y="1334453"/>
                </a:cubicBezTo>
                <a:cubicBezTo>
                  <a:pt x="113348" y="1334453"/>
                  <a:pt x="122873" y="1325880"/>
                  <a:pt x="122873" y="1303973"/>
                </a:cubicBezTo>
                <a:cubicBezTo>
                  <a:pt x="122873" y="1238250"/>
                  <a:pt x="25718" y="1226820"/>
                  <a:pt x="25718" y="1136332"/>
                </a:cubicBezTo>
                <a:cubicBezTo>
                  <a:pt x="26670" y="1085850"/>
                  <a:pt x="51435" y="1058228"/>
                  <a:pt x="99060" y="1058228"/>
                </a:cubicBezTo>
                <a:moveTo>
                  <a:pt x="597218" y="1139190"/>
                </a:moveTo>
                <a:lnTo>
                  <a:pt x="597218" y="1180148"/>
                </a:lnTo>
                <a:cubicBezTo>
                  <a:pt x="597218" y="1230630"/>
                  <a:pt x="572453" y="1257300"/>
                  <a:pt x="522923" y="1257300"/>
                </a:cubicBezTo>
                <a:lnTo>
                  <a:pt x="499110" y="1257300"/>
                </a:lnTo>
                <a:lnTo>
                  <a:pt x="499110" y="1375410"/>
                </a:lnTo>
                <a:lnTo>
                  <a:pt x="449580" y="1375410"/>
                </a:lnTo>
                <a:lnTo>
                  <a:pt x="449580" y="1059180"/>
                </a:lnTo>
                <a:lnTo>
                  <a:pt x="522923" y="1059180"/>
                </a:lnTo>
                <a:cubicBezTo>
                  <a:pt x="572453" y="1062038"/>
                  <a:pt x="597218" y="1088707"/>
                  <a:pt x="597218" y="1139190"/>
                </a:cubicBezTo>
                <a:moveTo>
                  <a:pt x="500063" y="1105853"/>
                </a:moveTo>
                <a:lnTo>
                  <a:pt x="500063" y="1212532"/>
                </a:lnTo>
                <a:lnTo>
                  <a:pt x="523875" y="1212532"/>
                </a:lnTo>
                <a:cubicBezTo>
                  <a:pt x="540068" y="1212532"/>
                  <a:pt x="548640" y="1204913"/>
                  <a:pt x="548640" y="1183005"/>
                </a:cubicBezTo>
                <a:lnTo>
                  <a:pt x="548640" y="1135380"/>
                </a:lnTo>
                <a:cubicBezTo>
                  <a:pt x="548640" y="1112520"/>
                  <a:pt x="540068" y="1105853"/>
                  <a:pt x="523875" y="1105853"/>
                </a:cubicBezTo>
                <a:lnTo>
                  <a:pt x="500063" y="1105853"/>
                </a:lnTo>
                <a:lnTo>
                  <a:pt x="500063" y="1105853"/>
                </a:lnTo>
                <a:close/>
                <a:moveTo>
                  <a:pt x="866775" y="1137285"/>
                </a:moveTo>
                <a:cubicBezTo>
                  <a:pt x="866775" y="1086803"/>
                  <a:pt x="893445" y="1058228"/>
                  <a:pt x="942023" y="1058228"/>
                </a:cubicBezTo>
                <a:cubicBezTo>
                  <a:pt x="990600" y="1058228"/>
                  <a:pt x="1017270" y="1087755"/>
                  <a:pt x="1017270" y="1137285"/>
                </a:cubicBezTo>
                <a:lnTo>
                  <a:pt x="1017270" y="1302067"/>
                </a:lnTo>
                <a:cubicBezTo>
                  <a:pt x="1017270" y="1352550"/>
                  <a:pt x="990600" y="1381125"/>
                  <a:pt x="942023" y="1381125"/>
                </a:cubicBezTo>
                <a:cubicBezTo>
                  <a:pt x="893445" y="1381125"/>
                  <a:pt x="866775" y="1351598"/>
                  <a:pt x="866775" y="1302067"/>
                </a:cubicBezTo>
                <a:lnTo>
                  <a:pt x="866775" y="1137285"/>
                </a:lnTo>
                <a:close/>
                <a:moveTo>
                  <a:pt x="916305" y="1304925"/>
                </a:moveTo>
                <a:cubicBezTo>
                  <a:pt x="916305" y="1327785"/>
                  <a:pt x="925830" y="1336357"/>
                  <a:pt x="942023" y="1336357"/>
                </a:cubicBezTo>
                <a:cubicBezTo>
                  <a:pt x="958215" y="1336357"/>
                  <a:pt x="967740" y="1327785"/>
                  <a:pt x="967740" y="1304925"/>
                </a:cubicBezTo>
                <a:lnTo>
                  <a:pt x="967740" y="1134428"/>
                </a:lnTo>
                <a:cubicBezTo>
                  <a:pt x="967740" y="1111567"/>
                  <a:pt x="957263" y="1102995"/>
                  <a:pt x="942023" y="1102995"/>
                </a:cubicBezTo>
                <a:cubicBezTo>
                  <a:pt x="925830" y="1102995"/>
                  <a:pt x="916305" y="1111567"/>
                  <a:pt x="916305" y="1134428"/>
                </a:cubicBezTo>
                <a:lnTo>
                  <a:pt x="916305" y="1304925"/>
                </a:lnTo>
                <a:close/>
                <a:moveTo>
                  <a:pt x="1402080" y="1377315"/>
                </a:moveTo>
                <a:cubicBezTo>
                  <a:pt x="1399223" y="1368742"/>
                  <a:pt x="1397318" y="1363980"/>
                  <a:pt x="1397318" y="1338263"/>
                </a:cubicBezTo>
                <a:lnTo>
                  <a:pt x="1397318" y="1288732"/>
                </a:lnTo>
                <a:cubicBezTo>
                  <a:pt x="1397318" y="1259205"/>
                  <a:pt x="1387793" y="1248728"/>
                  <a:pt x="1364933" y="1248728"/>
                </a:cubicBezTo>
                <a:lnTo>
                  <a:pt x="1347788" y="1248728"/>
                </a:lnTo>
                <a:lnTo>
                  <a:pt x="1347788" y="1377315"/>
                </a:lnTo>
                <a:lnTo>
                  <a:pt x="1298258" y="1377315"/>
                </a:lnTo>
                <a:lnTo>
                  <a:pt x="1298258" y="1061085"/>
                </a:lnTo>
                <a:lnTo>
                  <a:pt x="1373505" y="1061085"/>
                </a:lnTo>
                <a:cubicBezTo>
                  <a:pt x="1424940" y="1061085"/>
                  <a:pt x="1447800" y="1084898"/>
                  <a:pt x="1447800" y="1134428"/>
                </a:cubicBezTo>
                <a:lnTo>
                  <a:pt x="1447800" y="1159192"/>
                </a:lnTo>
                <a:cubicBezTo>
                  <a:pt x="1447800" y="1191578"/>
                  <a:pt x="1437323" y="1213485"/>
                  <a:pt x="1415415" y="1223963"/>
                </a:cubicBezTo>
                <a:cubicBezTo>
                  <a:pt x="1440180" y="1234440"/>
                  <a:pt x="1448753" y="1258253"/>
                  <a:pt x="1448753" y="1291590"/>
                </a:cubicBezTo>
                <a:lnTo>
                  <a:pt x="1448753" y="1341120"/>
                </a:lnTo>
                <a:cubicBezTo>
                  <a:pt x="1448753" y="1356360"/>
                  <a:pt x="1448753" y="1367790"/>
                  <a:pt x="1454468" y="1380173"/>
                </a:cubicBezTo>
                <a:lnTo>
                  <a:pt x="1402080" y="1380173"/>
                </a:lnTo>
                <a:lnTo>
                  <a:pt x="1402080" y="1377315"/>
                </a:lnTo>
                <a:close/>
                <a:moveTo>
                  <a:pt x="1346835" y="1105853"/>
                </a:moveTo>
                <a:lnTo>
                  <a:pt x="1346835" y="1203007"/>
                </a:lnTo>
                <a:lnTo>
                  <a:pt x="1366838" y="1203007"/>
                </a:lnTo>
                <a:cubicBezTo>
                  <a:pt x="1385888" y="1203007"/>
                  <a:pt x="1396365" y="1194435"/>
                  <a:pt x="1396365" y="1169670"/>
                </a:cubicBezTo>
                <a:lnTo>
                  <a:pt x="1396365" y="1138238"/>
                </a:lnTo>
                <a:cubicBezTo>
                  <a:pt x="1396365" y="1115378"/>
                  <a:pt x="1388745" y="1105853"/>
                  <a:pt x="1370648" y="1105853"/>
                </a:cubicBezTo>
                <a:lnTo>
                  <a:pt x="1346835" y="1105853"/>
                </a:lnTo>
                <a:lnTo>
                  <a:pt x="1346835" y="1105853"/>
                </a:lnTo>
                <a:close/>
                <a:moveTo>
                  <a:pt x="1713548" y="1062038"/>
                </a:moveTo>
                <a:lnTo>
                  <a:pt x="1866900" y="1062038"/>
                </a:lnTo>
                <a:lnTo>
                  <a:pt x="1866900" y="1106805"/>
                </a:lnTo>
                <a:lnTo>
                  <a:pt x="1814513" y="1106805"/>
                </a:lnTo>
                <a:lnTo>
                  <a:pt x="1814513" y="1378267"/>
                </a:lnTo>
                <a:lnTo>
                  <a:pt x="1764983" y="1378267"/>
                </a:lnTo>
                <a:lnTo>
                  <a:pt x="1764983" y="1106805"/>
                </a:lnTo>
                <a:lnTo>
                  <a:pt x="1712595" y="1106805"/>
                </a:lnTo>
                <a:lnTo>
                  <a:pt x="1712595" y="1062038"/>
                </a:lnTo>
                <a:close/>
                <a:moveTo>
                  <a:pt x="2772728" y="1193482"/>
                </a:moveTo>
                <a:lnTo>
                  <a:pt x="2837498" y="1193482"/>
                </a:lnTo>
                <a:lnTo>
                  <a:pt x="2837498" y="1239203"/>
                </a:lnTo>
                <a:lnTo>
                  <a:pt x="2772728" y="1239203"/>
                </a:lnTo>
                <a:lnTo>
                  <a:pt x="2772728" y="1369695"/>
                </a:lnTo>
                <a:lnTo>
                  <a:pt x="2722245" y="1369695"/>
                </a:lnTo>
                <a:lnTo>
                  <a:pt x="2722245" y="1053465"/>
                </a:lnTo>
                <a:lnTo>
                  <a:pt x="2853690" y="1053465"/>
                </a:lnTo>
                <a:lnTo>
                  <a:pt x="2853690" y="1099185"/>
                </a:lnTo>
                <a:lnTo>
                  <a:pt x="2772728" y="1099185"/>
                </a:lnTo>
                <a:lnTo>
                  <a:pt x="2772728" y="1193482"/>
                </a:lnTo>
                <a:close/>
                <a:moveTo>
                  <a:pt x="3103245" y="1053465"/>
                </a:moveTo>
                <a:lnTo>
                  <a:pt x="3152775" y="1053465"/>
                </a:lnTo>
                <a:lnTo>
                  <a:pt x="3152775" y="1323975"/>
                </a:lnTo>
                <a:lnTo>
                  <a:pt x="3234690" y="1323975"/>
                </a:lnTo>
                <a:lnTo>
                  <a:pt x="3234690" y="1369695"/>
                </a:lnTo>
                <a:lnTo>
                  <a:pt x="3103245" y="1369695"/>
                </a:lnTo>
                <a:lnTo>
                  <a:pt x="3103245" y="1053465"/>
                </a:lnTo>
                <a:close/>
                <a:moveTo>
                  <a:pt x="3478530" y="1128713"/>
                </a:moveTo>
                <a:cubicBezTo>
                  <a:pt x="3478530" y="1078230"/>
                  <a:pt x="3505200" y="1049655"/>
                  <a:pt x="3553778" y="1049655"/>
                </a:cubicBezTo>
                <a:cubicBezTo>
                  <a:pt x="3602355" y="1049655"/>
                  <a:pt x="3629025" y="1079182"/>
                  <a:pt x="3629025" y="1128713"/>
                </a:cubicBezTo>
                <a:lnTo>
                  <a:pt x="3629025" y="1293495"/>
                </a:lnTo>
                <a:cubicBezTo>
                  <a:pt x="3629025" y="1343978"/>
                  <a:pt x="3602355" y="1372553"/>
                  <a:pt x="3553778" y="1372553"/>
                </a:cubicBezTo>
                <a:cubicBezTo>
                  <a:pt x="3504248" y="1372553"/>
                  <a:pt x="3478530" y="1343025"/>
                  <a:pt x="3478530" y="1293495"/>
                </a:cubicBezTo>
                <a:lnTo>
                  <a:pt x="3478530" y="1128713"/>
                </a:lnTo>
                <a:close/>
                <a:moveTo>
                  <a:pt x="3528060" y="1296353"/>
                </a:moveTo>
                <a:cubicBezTo>
                  <a:pt x="3528060" y="1319213"/>
                  <a:pt x="3537585" y="1327785"/>
                  <a:pt x="3553778" y="1327785"/>
                </a:cubicBezTo>
                <a:cubicBezTo>
                  <a:pt x="3569970" y="1327785"/>
                  <a:pt x="3579495" y="1319213"/>
                  <a:pt x="3579495" y="1296353"/>
                </a:cubicBezTo>
                <a:lnTo>
                  <a:pt x="3579495" y="1125855"/>
                </a:lnTo>
                <a:cubicBezTo>
                  <a:pt x="3579495" y="1102995"/>
                  <a:pt x="3569970" y="1094423"/>
                  <a:pt x="3553778" y="1094423"/>
                </a:cubicBezTo>
                <a:cubicBezTo>
                  <a:pt x="3537585" y="1094423"/>
                  <a:pt x="3528060" y="1102995"/>
                  <a:pt x="3528060" y="1125855"/>
                </a:cubicBezTo>
                <a:lnTo>
                  <a:pt x="3528060" y="1296353"/>
                </a:lnTo>
                <a:close/>
                <a:moveTo>
                  <a:pt x="3882390" y="1128713"/>
                </a:moveTo>
                <a:cubicBezTo>
                  <a:pt x="3882390" y="1078230"/>
                  <a:pt x="3909060" y="1049655"/>
                  <a:pt x="3957638" y="1049655"/>
                </a:cubicBezTo>
                <a:cubicBezTo>
                  <a:pt x="4006215" y="1049655"/>
                  <a:pt x="4032885" y="1079182"/>
                  <a:pt x="4032885" y="1128713"/>
                </a:cubicBezTo>
                <a:lnTo>
                  <a:pt x="4032885" y="1293495"/>
                </a:lnTo>
                <a:cubicBezTo>
                  <a:pt x="4032885" y="1343978"/>
                  <a:pt x="4006215" y="1372553"/>
                  <a:pt x="3957638" y="1372553"/>
                </a:cubicBezTo>
                <a:cubicBezTo>
                  <a:pt x="3909060" y="1372553"/>
                  <a:pt x="3882390" y="1343025"/>
                  <a:pt x="3882390" y="1293495"/>
                </a:cubicBezTo>
                <a:lnTo>
                  <a:pt x="3882390" y="1128713"/>
                </a:lnTo>
                <a:close/>
                <a:moveTo>
                  <a:pt x="3931920" y="1296353"/>
                </a:moveTo>
                <a:cubicBezTo>
                  <a:pt x="3931920" y="1319213"/>
                  <a:pt x="3941445" y="1327785"/>
                  <a:pt x="3957638" y="1327785"/>
                </a:cubicBezTo>
                <a:cubicBezTo>
                  <a:pt x="3973830" y="1327785"/>
                  <a:pt x="3983355" y="1319213"/>
                  <a:pt x="3983355" y="1296353"/>
                </a:cubicBezTo>
                <a:lnTo>
                  <a:pt x="3983355" y="1125855"/>
                </a:lnTo>
                <a:cubicBezTo>
                  <a:pt x="3983355" y="1102995"/>
                  <a:pt x="3973830" y="1094423"/>
                  <a:pt x="3957638" y="1094423"/>
                </a:cubicBezTo>
                <a:cubicBezTo>
                  <a:pt x="3941445" y="1094423"/>
                  <a:pt x="3931920" y="1102995"/>
                  <a:pt x="3931920" y="1125855"/>
                </a:cubicBezTo>
                <a:lnTo>
                  <a:pt x="3931920" y="1296353"/>
                </a:lnTo>
                <a:close/>
                <a:moveTo>
                  <a:pt x="4394835" y="1369695"/>
                </a:moveTo>
                <a:cubicBezTo>
                  <a:pt x="4391978" y="1361123"/>
                  <a:pt x="4390073" y="1356360"/>
                  <a:pt x="4390073" y="1330642"/>
                </a:cubicBezTo>
                <a:lnTo>
                  <a:pt x="4390073" y="1281113"/>
                </a:lnTo>
                <a:cubicBezTo>
                  <a:pt x="4390073" y="1251585"/>
                  <a:pt x="4380548" y="1241107"/>
                  <a:pt x="4357688" y="1241107"/>
                </a:cubicBezTo>
                <a:lnTo>
                  <a:pt x="4340543" y="1241107"/>
                </a:lnTo>
                <a:lnTo>
                  <a:pt x="4340543" y="1369695"/>
                </a:lnTo>
                <a:lnTo>
                  <a:pt x="4291013" y="1369695"/>
                </a:lnTo>
                <a:lnTo>
                  <a:pt x="4291013" y="1053465"/>
                </a:lnTo>
                <a:lnTo>
                  <a:pt x="4366260" y="1053465"/>
                </a:lnTo>
                <a:cubicBezTo>
                  <a:pt x="4417695" y="1053465"/>
                  <a:pt x="4440555" y="1077278"/>
                  <a:pt x="4440555" y="1126807"/>
                </a:cubicBezTo>
                <a:lnTo>
                  <a:pt x="4440555" y="1151573"/>
                </a:lnTo>
                <a:cubicBezTo>
                  <a:pt x="4440555" y="1183957"/>
                  <a:pt x="4430078" y="1205865"/>
                  <a:pt x="4408170" y="1216342"/>
                </a:cubicBezTo>
                <a:cubicBezTo>
                  <a:pt x="4432935" y="1226820"/>
                  <a:pt x="4441508" y="1250632"/>
                  <a:pt x="4441508" y="1283970"/>
                </a:cubicBezTo>
                <a:lnTo>
                  <a:pt x="4441508" y="1333500"/>
                </a:lnTo>
                <a:cubicBezTo>
                  <a:pt x="4441508" y="1348740"/>
                  <a:pt x="4441508" y="1360170"/>
                  <a:pt x="4447223" y="1372553"/>
                </a:cubicBezTo>
                <a:lnTo>
                  <a:pt x="4394835" y="1372553"/>
                </a:lnTo>
                <a:lnTo>
                  <a:pt x="4394835" y="1369695"/>
                </a:lnTo>
                <a:close/>
                <a:moveTo>
                  <a:pt x="4340543" y="1098232"/>
                </a:moveTo>
                <a:lnTo>
                  <a:pt x="4340543" y="1195388"/>
                </a:lnTo>
                <a:lnTo>
                  <a:pt x="4360545" y="1195388"/>
                </a:lnTo>
                <a:cubicBezTo>
                  <a:pt x="4379595" y="1195388"/>
                  <a:pt x="4390073" y="1186815"/>
                  <a:pt x="4390073" y="1162050"/>
                </a:cubicBezTo>
                <a:lnTo>
                  <a:pt x="4390073" y="1130617"/>
                </a:lnTo>
                <a:cubicBezTo>
                  <a:pt x="4390073" y="1107757"/>
                  <a:pt x="4382453" y="1098232"/>
                  <a:pt x="4364355" y="1098232"/>
                </a:cubicBezTo>
                <a:lnTo>
                  <a:pt x="4340543" y="1098232"/>
                </a:lnTo>
                <a:lnTo>
                  <a:pt x="4340543" y="1098232"/>
                </a:lnTo>
                <a:close/>
                <a:moveTo>
                  <a:pt x="4698683" y="1053465"/>
                </a:moveTo>
                <a:lnTo>
                  <a:pt x="4748213" y="1053465"/>
                </a:lnTo>
                <a:lnTo>
                  <a:pt x="4748213" y="1369695"/>
                </a:lnTo>
                <a:lnTo>
                  <a:pt x="4698683" y="1369695"/>
                </a:lnTo>
                <a:lnTo>
                  <a:pt x="4698683" y="1053465"/>
                </a:lnTo>
                <a:close/>
                <a:moveTo>
                  <a:pt x="5053013" y="1140142"/>
                </a:moveTo>
                <a:lnTo>
                  <a:pt x="5053013" y="1368742"/>
                </a:lnTo>
                <a:lnTo>
                  <a:pt x="5008245" y="1368742"/>
                </a:lnTo>
                <a:lnTo>
                  <a:pt x="5008245" y="1052513"/>
                </a:lnTo>
                <a:lnTo>
                  <a:pt x="5071110" y="1052513"/>
                </a:lnTo>
                <a:lnTo>
                  <a:pt x="5122545" y="1242060"/>
                </a:lnTo>
                <a:lnTo>
                  <a:pt x="5122545" y="1052513"/>
                </a:lnTo>
                <a:lnTo>
                  <a:pt x="5167313" y="1052513"/>
                </a:lnTo>
                <a:lnTo>
                  <a:pt x="5167313" y="1368742"/>
                </a:lnTo>
                <a:lnTo>
                  <a:pt x="5115878" y="1368742"/>
                </a:lnTo>
                <a:lnTo>
                  <a:pt x="5053013" y="1140142"/>
                </a:lnTo>
                <a:close/>
                <a:moveTo>
                  <a:pt x="5501640" y="1193482"/>
                </a:moveTo>
                <a:lnTo>
                  <a:pt x="5571173" y="1193482"/>
                </a:lnTo>
                <a:lnTo>
                  <a:pt x="5571173" y="1293495"/>
                </a:lnTo>
                <a:cubicBezTo>
                  <a:pt x="5571173" y="1343978"/>
                  <a:pt x="5545455" y="1372553"/>
                  <a:pt x="5496878" y="1372553"/>
                </a:cubicBezTo>
                <a:cubicBezTo>
                  <a:pt x="5448300" y="1372553"/>
                  <a:pt x="5422583" y="1343025"/>
                  <a:pt x="5422583" y="1293495"/>
                </a:cubicBezTo>
                <a:lnTo>
                  <a:pt x="5422583" y="1128713"/>
                </a:lnTo>
                <a:cubicBezTo>
                  <a:pt x="5422583" y="1078230"/>
                  <a:pt x="5448300" y="1049655"/>
                  <a:pt x="5496878" y="1049655"/>
                </a:cubicBezTo>
                <a:cubicBezTo>
                  <a:pt x="5546408" y="1049655"/>
                  <a:pt x="5571173" y="1079182"/>
                  <a:pt x="5571173" y="1128713"/>
                </a:cubicBezTo>
                <a:lnTo>
                  <a:pt x="5571173" y="1159192"/>
                </a:lnTo>
                <a:lnTo>
                  <a:pt x="5523548" y="1159192"/>
                </a:lnTo>
                <a:lnTo>
                  <a:pt x="5523548" y="1124903"/>
                </a:lnTo>
                <a:cubicBezTo>
                  <a:pt x="5523548" y="1102042"/>
                  <a:pt x="5514023" y="1093470"/>
                  <a:pt x="5497830" y="1093470"/>
                </a:cubicBezTo>
                <a:cubicBezTo>
                  <a:pt x="5481638" y="1093470"/>
                  <a:pt x="5472113" y="1102042"/>
                  <a:pt x="5472113" y="1124903"/>
                </a:cubicBezTo>
                <a:lnTo>
                  <a:pt x="5472113" y="1295400"/>
                </a:lnTo>
                <a:cubicBezTo>
                  <a:pt x="5472113" y="1318260"/>
                  <a:pt x="5481638" y="1325880"/>
                  <a:pt x="5497830" y="1325880"/>
                </a:cubicBezTo>
                <a:cubicBezTo>
                  <a:pt x="5514023" y="1325880"/>
                  <a:pt x="5523548" y="1317307"/>
                  <a:pt x="5523548" y="1295400"/>
                </a:cubicBezTo>
                <a:lnTo>
                  <a:pt x="5523548" y="1236345"/>
                </a:lnTo>
                <a:lnTo>
                  <a:pt x="5500688" y="1236345"/>
                </a:lnTo>
                <a:lnTo>
                  <a:pt x="5501640" y="1193482"/>
                </a:lnTo>
                <a:lnTo>
                  <a:pt x="5501640" y="1193482"/>
                </a:lnTo>
                <a:close/>
                <a:moveTo>
                  <a:pt x="5648325" y="1321117"/>
                </a:moveTo>
                <a:lnTo>
                  <a:pt x="5696903" y="1321117"/>
                </a:lnTo>
                <a:lnTo>
                  <a:pt x="5696903" y="1369695"/>
                </a:lnTo>
                <a:lnTo>
                  <a:pt x="5648325" y="1369695"/>
                </a:lnTo>
                <a:lnTo>
                  <a:pt x="5648325" y="1321117"/>
                </a:lnTo>
                <a:close/>
                <a:moveTo>
                  <a:pt x="2446020" y="1359217"/>
                </a:moveTo>
                <a:lnTo>
                  <a:pt x="2375535" y="1359217"/>
                </a:lnTo>
                <a:cubicBezTo>
                  <a:pt x="2369820" y="1353503"/>
                  <a:pt x="2362200" y="1345882"/>
                  <a:pt x="2353628" y="1337310"/>
                </a:cubicBezTo>
                <a:cubicBezTo>
                  <a:pt x="2329815" y="1355407"/>
                  <a:pt x="2303145" y="1363980"/>
                  <a:pt x="2275523" y="1363980"/>
                </a:cubicBezTo>
                <a:cubicBezTo>
                  <a:pt x="2247900" y="1363980"/>
                  <a:pt x="2225040" y="1356360"/>
                  <a:pt x="2206943" y="1342073"/>
                </a:cubicBezTo>
                <a:cubicBezTo>
                  <a:pt x="2188845" y="1327785"/>
                  <a:pt x="2180273" y="1306830"/>
                  <a:pt x="2180273" y="1280160"/>
                </a:cubicBezTo>
                <a:cubicBezTo>
                  <a:pt x="2180273" y="1260157"/>
                  <a:pt x="2185988" y="1243965"/>
                  <a:pt x="2197418" y="1230630"/>
                </a:cubicBezTo>
                <a:cubicBezTo>
                  <a:pt x="2208848" y="1217295"/>
                  <a:pt x="2224088" y="1205865"/>
                  <a:pt x="2243138" y="1196340"/>
                </a:cubicBezTo>
                <a:cubicBezTo>
                  <a:pt x="2230755" y="1172528"/>
                  <a:pt x="2224088" y="1151573"/>
                  <a:pt x="2224088" y="1133475"/>
                </a:cubicBezTo>
                <a:cubicBezTo>
                  <a:pt x="2224088" y="1113473"/>
                  <a:pt x="2231708" y="1097280"/>
                  <a:pt x="2247900" y="1083945"/>
                </a:cubicBezTo>
                <a:cubicBezTo>
                  <a:pt x="2263140" y="1070610"/>
                  <a:pt x="2283143" y="1063942"/>
                  <a:pt x="2306955" y="1063942"/>
                </a:cubicBezTo>
                <a:cubicBezTo>
                  <a:pt x="2327910" y="1063942"/>
                  <a:pt x="2346008" y="1069657"/>
                  <a:pt x="2361248" y="1081088"/>
                </a:cubicBezTo>
                <a:cubicBezTo>
                  <a:pt x="2375535" y="1092517"/>
                  <a:pt x="2383155" y="1106805"/>
                  <a:pt x="2383155" y="1125855"/>
                </a:cubicBezTo>
                <a:cubicBezTo>
                  <a:pt x="2383155" y="1136332"/>
                  <a:pt x="2381250" y="1145857"/>
                  <a:pt x="2377440" y="1154430"/>
                </a:cubicBezTo>
                <a:cubicBezTo>
                  <a:pt x="2373630" y="1163003"/>
                  <a:pt x="2367915" y="1170623"/>
                  <a:pt x="2360295" y="1176338"/>
                </a:cubicBezTo>
                <a:cubicBezTo>
                  <a:pt x="2352675" y="1183005"/>
                  <a:pt x="2345055" y="1187767"/>
                  <a:pt x="2338388" y="1191578"/>
                </a:cubicBezTo>
                <a:cubicBezTo>
                  <a:pt x="2331720" y="1195388"/>
                  <a:pt x="2322195" y="1200150"/>
                  <a:pt x="2311718" y="1204913"/>
                </a:cubicBezTo>
                <a:cubicBezTo>
                  <a:pt x="2318385" y="1213485"/>
                  <a:pt x="2326958" y="1223963"/>
                  <a:pt x="2336483" y="1236345"/>
                </a:cubicBezTo>
                <a:cubicBezTo>
                  <a:pt x="2339340" y="1240155"/>
                  <a:pt x="2344103" y="1245870"/>
                  <a:pt x="2349818" y="1252538"/>
                </a:cubicBezTo>
                <a:cubicBezTo>
                  <a:pt x="2355533" y="1259205"/>
                  <a:pt x="2359343" y="1263967"/>
                  <a:pt x="2360295" y="1265873"/>
                </a:cubicBezTo>
                <a:cubicBezTo>
                  <a:pt x="2371725" y="1247775"/>
                  <a:pt x="2380298" y="1229678"/>
                  <a:pt x="2386965" y="1209675"/>
                </a:cubicBezTo>
                <a:lnTo>
                  <a:pt x="2431733" y="1229678"/>
                </a:lnTo>
                <a:cubicBezTo>
                  <a:pt x="2419350" y="1256348"/>
                  <a:pt x="2406015" y="1279207"/>
                  <a:pt x="2391728" y="1299210"/>
                </a:cubicBezTo>
                <a:cubicBezTo>
                  <a:pt x="2409825" y="1322070"/>
                  <a:pt x="2427923" y="1342073"/>
                  <a:pt x="2446020" y="1359217"/>
                </a:cubicBezTo>
                <a:moveTo>
                  <a:pt x="2284095" y="1321117"/>
                </a:moveTo>
                <a:cubicBezTo>
                  <a:pt x="2298383" y="1321117"/>
                  <a:pt x="2311718" y="1316355"/>
                  <a:pt x="2326005" y="1306830"/>
                </a:cubicBezTo>
                <a:cubicBezTo>
                  <a:pt x="2311718" y="1290638"/>
                  <a:pt x="2301240" y="1278255"/>
                  <a:pt x="2293620" y="1269682"/>
                </a:cubicBezTo>
                <a:cubicBezTo>
                  <a:pt x="2283143" y="1257300"/>
                  <a:pt x="2273618" y="1244917"/>
                  <a:pt x="2264093" y="1231582"/>
                </a:cubicBezTo>
                <a:cubicBezTo>
                  <a:pt x="2246948" y="1243013"/>
                  <a:pt x="2239328" y="1258253"/>
                  <a:pt x="2239328" y="1276350"/>
                </a:cubicBezTo>
                <a:cubicBezTo>
                  <a:pt x="2239328" y="1289685"/>
                  <a:pt x="2244090" y="1301115"/>
                  <a:pt x="2252663" y="1309688"/>
                </a:cubicBezTo>
                <a:cubicBezTo>
                  <a:pt x="2261235" y="1317307"/>
                  <a:pt x="2271713" y="1321117"/>
                  <a:pt x="2284095" y="1321117"/>
                </a:cubicBezTo>
                <a:moveTo>
                  <a:pt x="2278380" y="1137285"/>
                </a:moveTo>
                <a:cubicBezTo>
                  <a:pt x="2278380" y="1147763"/>
                  <a:pt x="2282190" y="1160145"/>
                  <a:pt x="2290763" y="1176338"/>
                </a:cubicBezTo>
                <a:cubicBezTo>
                  <a:pt x="2305050" y="1169670"/>
                  <a:pt x="2315528" y="1163003"/>
                  <a:pt x="2323148" y="1156335"/>
                </a:cubicBezTo>
                <a:cubicBezTo>
                  <a:pt x="2330768" y="1149667"/>
                  <a:pt x="2334578" y="1141095"/>
                  <a:pt x="2334578" y="1131570"/>
                </a:cubicBezTo>
                <a:cubicBezTo>
                  <a:pt x="2334578" y="1123950"/>
                  <a:pt x="2331720" y="1118235"/>
                  <a:pt x="2326958" y="1113473"/>
                </a:cubicBezTo>
                <a:cubicBezTo>
                  <a:pt x="2322195" y="1108710"/>
                  <a:pt x="2315528" y="1106805"/>
                  <a:pt x="2308860" y="1106805"/>
                </a:cubicBezTo>
                <a:cubicBezTo>
                  <a:pt x="2300288" y="1106805"/>
                  <a:pt x="2292668" y="1109663"/>
                  <a:pt x="2286953" y="1115378"/>
                </a:cubicBezTo>
                <a:cubicBezTo>
                  <a:pt x="2281238" y="1121092"/>
                  <a:pt x="2278380" y="1128713"/>
                  <a:pt x="2278380" y="1137285"/>
                </a:cubicBezTo>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 name="Google Shape;72;p14"/>
          <p:cNvPicPr preferRelativeResize="0"/>
          <p:nvPr/>
        </p:nvPicPr>
        <p:blipFill rotWithShape="1">
          <a:blip r:embed="rId3">
            <a:alphaModFix/>
          </a:blip>
          <a:srcRect b="0" l="0" r="0" t="0"/>
          <a:stretch/>
        </p:blipFill>
        <p:spPr>
          <a:xfrm>
            <a:off x="3581280" y="5818680"/>
            <a:ext cx="1591560" cy="592560"/>
          </a:xfrm>
          <a:prstGeom prst="rect">
            <a:avLst/>
          </a:prstGeom>
          <a:noFill/>
          <a:ln>
            <a:noFill/>
          </a:ln>
        </p:spPr>
      </p:pic>
      <p:sp>
        <p:nvSpPr>
          <p:cNvPr id="73" name="Google Shape;73;p14"/>
          <p:cNvSpPr txBox="1"/>
          <p:nvPr/>
        </p:nvSpPr>
        <p:spPr>
          <a:xfrm>
            <a:off x="6654600" y="1520640"/>
            <a:ext cx="5279040" cy="338184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i="0" lang="pt-BR" sz="1800" u="none" cap="none" strike="noStrike">
                <a:solidFill>
                  <a:srgbClr val="FFFFFF"/>
                </a:solidFill>
                <a:latin typeface="Poppins"/>
                <a:ea typeface="Poppins"/>
                <a:cs typeface="Poppins"/>
                <a:sym typeface="Poppins"/>
              </a:rPr>
              <a:t>Desde 1990, somos representantes oficiais da MONDO, fornecedora das pistas de atletismo utilizadas nas últimas 13 Olimpíadas, além de sermos também homologados como piso oficial da CBAt (Confederação Brasileira de Atletismo), CBT (Confederação Brasileira de Tênis) e da Federação Paulista de Volleyball</a:t>
            </a:r>
            <a:endParaRPr b="0" i="0" sz="1800" u="none" cap="none" strike="noStrike">
              <a:latin typeface="Arial"/>
              <a:ea typeface="Arial"/>
              <a:cs typeface="Arial"/>
              <a:sym typeface="Arial"/>
            </a:endParaRPr>
          </a:p>
        </p:txBody>
      </p:sp>
      <p:cxnSp>
        <p:nvCxnSpPr>
          <p:cNvPr id="74" name="Google Shape;74;p14"/>
          <p:cNvCxnSpPr/>
          <p:nvPr/>
        </p:nvCxnSpPr>
        <p:spPr>
          <a:xfrm flipH="1" rot="10800000">
            <a:off x="6067080" y="1495800"/>
            <a:ext cx="360" cy="3486240"/>
          </a:xfrm>
          <a:prstGeom prst="straightConnector1">
            <a:avLst/>
          </a:prstGeom>
          <a:noFill/>
          <a:ln cap="flat" cmpd="sng" w="63350">
            <a:solidFill>
              <a:srgbClr val="FFFFFF"/>
            </a:solidFill>
            <a:prstDash val="solid"/>
            <a:miter lim="8000"/>
            <a:headEnd len="sm" w="sm" type="none"/>
            <a:tailEnd len="sm" w="sm" type="none"/>
          </a:ln>
        </p:spPr>
      </p:cxnSp>
      <p:pic>
        <p:nvPicPr>
          <p:cNvPr descr="Logotipo, nome da empresa&#10;&#10;Descrição gerada automaticamente" id="75" name="Google Shape;75;p14"/>
          <p:cNvPicPr preferRelativeResize="0"/>
          <p:nvPr/>
        </p:nvPicPr>
        <p:blipFill rotWithShape="1">
          <a:blip r:embed="rId4">
            <a:alphaModFix/>
          </a:blip>
          <a:srcRect b="0" l="0" r="0" t="0"/>
          <a:stretch/>
        </p:blipFill>
        <p:spPr>
          <a:xfrm>
            <a:off x="9714960" y="5737680"/>
            <a:ext cx="1684080" cy="761400"/>
          </a:xfrm>
          <a:prstGeom prst="rect">
            <a:avLst/>
          </a:prstGeom>
          <a:noFill/>
          <a:ln>
            <a:noFill/>
          </a:ln>
        </p:spPr>
      </p:pic>
      <p:pic>
        <p:nvPicPr>
          <p:cNvPr descr="Graphical user interface, text, application&#10;&#10;Description automatically generated" id="76" name="Google Shape;76;p14"/>
          <p:cNvPicPr preferRelativeResize="0"/>
          <p:nvPr/>
        </p:nvPicPr>
        <p:blipFill rotWithShape="1">
          <a:blip r:embed="rId5">
            <a:alphaModFix/>
          </a:blip>
          <a:srcRect b="0" l="0" r="0" t="0"/>
          <a:stretch/>
        </p:blipFill>
        <p:spPr>
          <a:xfrm>
            <a:off x="6657480" y="5785200"/>
            <a:ext cx="1715760" cy="761400"/>
          </a:xfrm>
          <a:prstGeom prst="rect">
            <a:avLst/>
          </a:prstGeom>
          <a:noFill/>
          <a:ln>
            <a:noFill/>
          </a:ln>
        </p:spPr>
      </p:pic>
      <p:pic>
        <p:nvPicPr>
          <p:cNvPr descr="Cidade vista de cima&#10;&#10;Descrição gerada automaticamente" id="77" name="Google Shape;77;p14"/>
          <p:cNvPicPr preferRelativeResize="0"/>
          <p:nvPr/>
        </p:nvPicPr>
        <p:blipFill rotWithShape="1">
          <a:blip r:embed="rId6">
            <a:alphaModFix/>
          </a:blip>
          <a:srcRect b="8361" l="0" r="0" t="6951"/>
          <a:stretch/>
        </p:blipFill>
        <p:spPr>
          <a:xfrm>
            <a:off x="0" y="0"/>
            <a:ext cx="12192120" cy="6858000"/>
          </a:xfrm>
          <a:prstGeom prst="rect">
            <a:avLst/>
          </a:prstGeom>
          <a:noFill/>
          <a:ln>
            <a:noFill/>
          </a:ln>
        </p:spPr>
      </p:pic>
      <p:sp>
        <p:nvSpPr>
          <p:cNvPr id="78" name="Google Shape;78;p14"/>
          <p:cNvSpPr txBox="1"/>
          <p:nvPr/>
        </p:nvSpPr>
        <p:spPr>
          <a:xfrm>
            <a:off x="552960" y="367920"/>
            <a:ext cx="621936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FFFF"/>
                </a:solidFill>
                <a:latin typeface="Poppins"/>
                <a:ea typeface="Poppins"/>
                <a:cs typeface="Poppins"/>
                <a:sym typeface="Poppins"/>
              </a:rPr>
              <a:t>CAMPO - GRAMA SINTÉTICA</a:t>
            </a:r>
            <a:endParaRPr b="0" i="0" sz="32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15"/>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85" name="Google Shape;85;p15"/>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86" name="Google Shape;86;p15"/>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87" name="Google Shape;87;p15"/>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88" name="Google Shape;88;p15"/>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89" name="Google Shape;89;p15"/>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90" name="Google Shape;90;p15"/>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91" name="Google Shape;91;p15"/>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92" name="Google Shape;92;p15"/>
          <p:cNvSpPr txBox="1"/>
          <p:nvPr/>
        </p:nvSpPr>
        <p:spPr>
          <a:xfrm>
            <a:off x="2104920" y="260280"/>
            <a:ext cx="1021572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Campo de Futebol Society – Grama Sintética</a:t>
            </a:r>
            <a:endParaRPr b="0" i="0" sz="3200" u="none" cap="none" strike="noStrike">
              <a:latin typeface="Arial"/>
              <a:ea typeface="Arial"/>
              <a:cs typeface="Arial"/>
              <a:sym typeface="Arial"/>
            </a:endParaRPr>
          </a:p>
        </p:txBody>
      </p:sp>
      <p:sp>
        <p:nvSpPr>
          <p:cNvPr id="93" name="Google Shape;93;p15"/>
          <p:cNvSpPr txBox="1"/>
          <p:nvPr/>
        </p:nvSpPr>
        <p:spPr>
          <a:xfrm>
            <a:off x="2104920" y="1047240"/>
            <a:ext cx="834588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800" u="none" cap="none" strike="noStrike">
                <a:solidFill>
                  <a:srgbClr val="000000"/>
                </a:solidFill>
                <a:latin typeface="Poppins"/>
                <a:ea typeface="Poppins"/>
                <a:cs typeface="Poppins"/>
                <a:sym typeface="Poppins"/>
              </a:rPr>
              <a:t>Drenos Subterrâneos </a:t>
            </a:r>
            <a:endParaRPr b="0" i="0" sz="1800" u="none" cap="none" strike="noStrike">
              <a:latin typeface="Arial"/>
              <a:ea typeface="Arial"/>
              <a:cs typeface="Arial"/>
              <a:sym typeface="Arial"/>
            </a:endParaRPr>
          </a:p>
        </p:txBody>
      </p:sp>
      <p:sp>
        <p:nvSpPr>
          <p:cNvPr id="94" name="Google Shape;94;p15"/>
          <p:cNvSpPr txBox="1"/>
          <p:nvPr/>
        </p:nvSpPr>
        <p:spPr>
          <a:xfrm>
            <a:off x="2104920" y="1469160"/>
            <a:ext cx="9419400" cy="1641600"/>
          </a:xfrm>
          <a:prstGeom prst="rect">
            <a:avLst/>
          </a:prstGeom>
          <a:noFill/>
          <a:ln>
            <a:noFill/>
          </a:ln>
        </p:spPr>
        <p:txBody>
          <a:bodyPr anchorCtr="0" anchor="t" bIns="45700" lIns="91425" spcFirstLastPara="1" rIns="91425" wrap="square" tIns="45700">
            <a:norm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Abertura de valas para execução de drenos subterrâneos com largura e profundidade variáveis para boa captação das águas pluviais;</a:t>
            </a:r>
            <a:endParaRPr b="0" i="0" sz="1200" u="none" cap="none" strike="noStrike">
              <a:latin typeface="Arial"/>
              <a:ea typeface="Arial"/>
              <a:cs typeface="Arial"/>
              <a:sym typeface="Arial"/>
            </a:endParaRPr>
          </a:p>
          <a:p>
            <a:pPr indent="-228600" lvl="0" marL="228600" marR="0" rtl="0" algn="just">
              <a:lnSpc>
                <a:spcPct val="150000"/>
              </a:lnSpc>
              <a:spcBef>
                <a:spcPts val="1001"/>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de tubos perfurados envelopados c/ manta de bidim e pedra nº 02;</a:t>
            </a:r>
            <a:endParaRPr b="0" i="0" sz="1200" u="none" cap="none" strike="noStrike">
              <a:latin typeface="Arial"/>
              <a:ea typeface="Arial"/>
              <a:cs typeface="Arial"/>
              <a:sym typeface="Arial"/>
            </a:endParaRPr>
          </a:p>
          <a:p>
            <a:pPr indent="-228600" lvl="0" marL="228600" marR="0" rtl="0" algn="just">
              <a:lnSpc>
                <a:spcPct val="150000"/>
              </a:lnSpc>
              <a:spcBef>
                <a:spcPts val="1001"/>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Aplicação de areia média sobre as valas executadas;</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000000"/>
              </a:buClr>
              <a:buSzPts val="1400"/>
              <a:buFont typeface="Courier New"/>
              <a:buChar char="o"/>
            </a:pPr>
            <a:r>
              <a:rPr b="0" i="0" lang="pt-BR" sz="1400" u="none" cap="none" strike="noStrike">
                <a:solidFill>
                  <a:srgbClr val="000000"/>
                </a:solidFill>
                <a:latin typeface="Poppins Light"/>
                <a:ea typeface="Poppins Light"/>
                <a:cs typeface="Poppins Light"/>
                <a:sym typeface="Poppins Light"/>
              </a:rPr>
              <a:t> </a:t>
            </a:r>
            <a:endParaRPr b="0" i="0" sz="14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000000"/>
              </a:buClr>
              <a:buSzPts val="1400"/>
              <a:buFont typeface="Courier New"/>
              <a:buChar char="o"/>
            </a:pPr>
            <a:r>
              <a:rPr b="0" i="0" lang="pt-BR" sz="1400" u="none" cap="none" strike="noStrike">
                <a:solidFill>
                  <a:srgbClr val="000000"/>
                </a:solidFill>
                <a:latin typeface="Poppins Light"/>
                <a:ea typeface="Poppins Light"/>
                <a:cs typeface="Poppins Light"/>
                <a:sym typeface="Poppins Light"/>
              </a:rPr>
              <a:t> </a:t>
            </a:r>
            <a:endParaRPr b="0" i="0" sz="1400" u="none" cap="none" strike="noStrike">
              <a:latin typeface="Arial"/>
              <a:ea typeface="Arial"/>
              <a:cs typeface="Arial"/>
              <a:sym typeface="Arial"/>
            </a:endParaRPr>
          </a:p>
          <a:p>
            <a:pPr indent="-228600" lvl="0" marL="228600" marR="0" rtl="0" algn="l">
              <a:lnSpc>
                <a:spcPct val="100000"/>
              </a:lnSpc>
              <a:spcBef>
                <a:spcPts val="0"/>
              </a:spcBef>
              <a:spcAft>
                <a:spcPts val="0"/>
              </a:spcAft>
              <a:buClr>
                <a:srgbClr val="595959"/>
              </a:buClr>
              <a:buSzPts val="1600"/>
              <a:buFont typeface="Arial"/>
              <a:buChar char="="/>
            </a:pPr>
            <a:r>
              <a:rPr b="0" i="0" lang="pt-BR" sz="1600" u="none" cap="none" strike="noStrike">
                <a:solidFill>
                  <a:srgbClr val="000000"/>
                </a:solidFill>
                <a:latin typeface="Poppins Light"/>
                <a:ea typeface="Poppins Light"/>
                <a:cs typeface="Poppins Light"/>
                <a:sym typeface="Poppins Light"/>
              </a:rPr>
              <a:t> </a:t>
            </a:r>
            <a:endParaRPr b="0" i="0" sz="1600" u="none" cap="none" strike="noStrike">
              <a:latin typeface="Arial"/>
              <a:ea typeface="Arial"/>
              <a:cs typeface="Arial"/>
              <a:sym typeface="Arial"/>
            </a:endParaRPr>
          </a:p>
        </p:txBody>
      </p:sp>
      <p:sp>
        <p:nvSpPr>
          <p:cNvPr id="95" name="Google Shape;95;p15"/>
          <p:cNvSpPr txBox="1"/>
          <p:nvPr/>
        </p:nvSpPr>
        <p:spPr>
          <a:xfrm>
            <a:off x="2104920" y="3143520"/>
            <a:ext cx="834588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800" u="none" cap="none" strike="noStrike">
                <a:solidFill>
                  <a:srgbClr val="000000"/>
                </a:solidFill>
                <a:latin typeface="Poppins"/>
                <a:ea typeface="Poppins"/>
                <a:cs typeface="Poppins"/>
                <a:sym typeface="Poppins"/>
              </a:rPr>
              <a:t>Base Drenante </a:t>
            </a:r>
            <a:endParaRPr b="0" i="0" sz="1800" u="none" cap="none" strike="noStrike">
              <a:latin typeface="Arial"/>
              <a:ea typeface="Arial"/>
              <a:cs typeface="Arial"/>
              <a:sym typeface="Arial"/>
            </a:endParaRPr>
          </a:p>
        </p:txBody>
      </p:sp>
      <p:sp>
        <p:nvSpPr>
          <p:cNvPr id="96" name="Google Shape;96;p15"/>
          <p:cNvSpPr txBox="1"/>
          <p:nvPr/>
        </p:nvSpPr>
        <p:spPr>
          <a:xfrm>
            <a:off x="2104920" y="3579480"/>
            <a:ext cx="9281160" cy="155520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Execução da base drenante executada em camadas de britas n.º 01 e pedrisco, que serão niveladas, compactadas e agregadas com emulsão asfáltica;</a:t>
            </a:r>
            <a:endParaRPr b="0" i="0" sz="1200" u="none" cap="none" strike="noStrike">
              <a:latin typeface="Arial"/>
              <a:ea typeface="Arial"/>
              <a:cs typeface="Arial"/>
              <a:sym typeface="Arial"/>
            </a:endParaRPr>
          </a:p>
          <a:p>
            <a:pPr indent="-285840" lvl="0" marL="285840" marR="0" rtl="0" algn="just">
              <a:lnSpc>
                <a:spcPct val="150000"/>
              </a:lnSpc>
              <a:spcBef>
                <a:spcPts val="1001"/>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 base drenante tem uma alta capacidade de drenagem das águas pluviais garantirá além de maior conforto na prática de futebol a melhor conservação do “backing” da grama sintética e aumento de sua durabilidade.</a:t>
            </a:r>
            <a:endParaRPr b="0" i="0" sz="1200" u="none" cap="none"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16"/>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103" name="Google Shape;103;p16"/>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104" name="Google Shape;104;p16"/>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105" name="Google Shape;105;p16"/>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106" name="Google Shape;106;p16"/>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107" name="Google Shape;107;p16"/>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108" name="Google Shape;108;p16"/>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109" name="Google Shape;109;p16"/>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110" name="Google Shape;110;p16"/>
          <p:cNvSpPr txBox="1"/>
          <p:nvPr/>
        </p:nvSpPr>
        <p:spPr>
          <a:xfrm>
            <a:off x="2350440" y="518796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txBox="1"/>
          <p:nvPr/>
        </p:nvSpPr>
        <p:spPr>
          <a:xfrm>
            <a:off x="2104920" y="1461600"/>
            <a:ext cx="4508640" cy="514296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AVG DM400-50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Monofilamento PE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 Bicolor (field e light green)</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Dtex: 13200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de polegadas</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Número de fios por tufo: 6</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por 10cm: 16±1</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Largura do fio: 1.0±0.1mm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por m²: 10080 +ou- 100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Peso total do fio: 1467g/m²±10%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Espessura do fio: 360±20µm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Efeito UV: Solidez da Cor do fio- Escala Cinza ≥4</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Estabilidade UV: &gt; 5.000hrs</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Garantia: 08 anos</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1"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p:txBody>
      </p:sp>
      <p:sp>
        <p:nvSpPr>
          <p:cNvPr id="112" name="Google Shape;112;p16"/>
          <p:cNvSpPr txBox="1"/>
          <p:nvPr/>
        </p:nvSpPr>
        <p:spPr>
          <a:xfrm>
            <a:off x="2104920" y="322560"/>
            <a:ext cx="914760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AVG DM400-50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113" name="Google Shape;113;p16"/>
          <p:cNvSpPr txBox="1"/>
          <p:nvPr/>
        </p:nvSpPr>
        <p:spPr>
          <a:xfrm>
            <a:off x="6743880" y="841680"/>
            <a:ext cx="4508640" cy="532908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171g/m²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Composição da base: Leno/50g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TAPETE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Solidez da cor: Cinza </a:t>
            </a:r>
            <a:r>
              <a:rPr b="0" i="0" lang="pt-BR" sz="1200" u="none" cap="none" strike="noStrike">
                <a:solidFill>
                  <a:srgbClr val="001D35"/>
                </a:solidFill>
                <a:latin typeface="Poppins"/>
                <a:ea typeface="Poppins"/>
                <a:cs typeface="Poppins"/>
                <a:sym typeface="Poppins"/>
              </a:rPr>
              <a:t>≥ 3</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Permeabilidade à água: 60L/min/m²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Resistência do tufo: </a:t>
            </a:r>
            <a:r>
              <a:rPr b="0" i="0" lang="pt-BR" sz="1200" u="none" cap="none" strike="noStrike">
                <a:solidFill>
                  <a:srgbClr val="001D35"/>
                </a:solidFill>
                <a:latin typeface="Poppins"/>
                <a:ea typeface="Poppins"/>
                <a:cs typeface="Poppins"/>
                <a:sym typeface="Poppins"/>
              </a:rPr>
              <a:t>≥45 Newton</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REQUISITOS DE ENCHIMENTO</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80% de areia sílica lavada</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0,2-1,00mm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27-28kg/m²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SBR - GRANULOMETRIA DA BORRACHA SBR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0.5-2,0mm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Forma das partículas: irregular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7-8kg/m²</a:t>
            </a:r>
            <a:endParaRPr b="0" i="0" sz="1200" u="none" cap="none" strike="noStrike">
              <a:latin typeface="Arial"/>
              <a:ea typeface="Arial"/>
              <a:cs typeface="Arial"/>
              <a:sym typeface="Arial"/>
            </a:endParaRPr>
          </a:p>
        </p:txBody>
      </p:sp>
      <p:pic>
        <p:nvPicPr>
          <p:cNvPr id="114" name="Google Shape;114;p16"/>
          <p:cNvPicPr preferRelativeResize="0"/>
          <p:nvPr/>
        </p:nvPicPr>
        <p:blipFill rotWithShape="1">
          <a:blip r:embed="rId4">
            <a:alphaModFix/>
          </a:blip>
          <a:srcRect b="0" l="0" r="0" t="0"/>
          <a:stretch/>
        </p:blipFill>
        <p:spPr>
          <a:xfrm>
            <a:off x="10430640" y="332280"/>
            <a:ext cx="1393200" cy="12495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17"/>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121" name="Google Shape;121;p17"/>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122" name="Google Shape;122;p17"/>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123" name="Google Shape;123;p17"/>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124" name="Google Shape;124;p17"/>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125" name="Google Shape;125;p17"/>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126" name="Google Shape;126;p17"/>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127" name="Google Shape;127;p17"/>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128" name="Google Shape;128;p17"/>
          <p:cNvSpPr txBox="1"/>
          <p:nvPr/>
        </p:nvSpPr>
        <p:spPr>
          <a:xfrm>
            <a:off x="2350440" y="518796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txBox="1"/>
          <p:nvPr/>
        </p:nvSpPr>
        <p:spPr>
          <a:xfrm>
            <a:off x="2144520" y="141624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AVG DM400-60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Monofilamento PE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Bicolor (field e light green)</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60mm±2mm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Dtex: 13.200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de polegada</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Número de fios por tufo: 6</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por 10cm: 16±1</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Largura do fio: 1.0±0.1mm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por m²: 10080 +ou- 100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Peso total do fio: 1730g/sqm ±10%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Espessura do fio: 360±20µm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Efeito UV: Solidez da Cor do fio- Escala Cinza ≥4</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Estabilidade UV: &gt; 5.000hrs</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Garantia: 08 anos</a:t>
            </a:r>
            <a:endParaRPr b="0" i="0" sz="1200" u="none" cap="none" strike="noStrike">
              <a:latin typeface="Arial"/>
              <a:ea typeface="Arial"/>
              <a:cs typeface="Arial"/>
              <a:sym typeface="Arial"/>
            </a:endParaRPr>
          </a:p>
        </p:txBody>
      </p:sp>
      <p:pic>
        <p:nvPicPr>
          <p:cNvPr id="130" name="Google Shape;130;p17"/>
          <p:cNvPicPr preferRelativeResize="0"/>
          <p:nvPr/>
        </p:nvPicPr>
        <p:blipFill rotWithShape="1">
          <a:blip r:embed="rId4">
            <a:alphaModFix/>
          </a:blip>
          <a:srcRect b="0" l="0" r="0" t="0"/>
          <a:stretch/>
        </p:blipFill>
        <p:spPr>
          <a:xfrm>
            <a:off x="10430640" y="332280"/>
            <a:ext cx="1393200" cy="1249560"/>
          </a:xfrm>
          <a:prstGeom prst="rect">
            <a:avLst/>
          </a:prstGeom>
          <a:noFill/>
          <a:ln>
            <a:noFill/>
          </a:ln>
        </p:spPr>
      </p:pic>
      <p:sp>
        <p:nvSpPr>
          <p:cNvPr id="131" name="Google Shape;131;p17"/>
          <p:cNvSpPr txBox="1"/>
          <p:nvPr/>
        </p:nvSpPr>
        <p:spPr>
          <a:xfrm>
            <a:off x="6618600" y="841680"/>
            <a:ext cx="4508640" cy="588312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Double PP Cloth</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242/m²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do PU: 1000g/sqm ±10%</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total do tapete: 2738g/m² ±100h/m²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TAPETE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Resistência à extração do tufo do tapete: 30N</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Permeabilidade à água do tapete: &gt; 180mm/hr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REQUISITOS DE ENCHIMENTO</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Areia</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0,5-1,00mm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Densidade a granel: 1.28g/cm³</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14kg/m²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SBR - GRANULOMETRIA DA BORRACHA SBR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1.25-2,0mm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Forma das partículas: irregular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Densidade a granel: 0,36g/cm³</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16kg/m²</a:t>
            </a:r>
            <a:endParaRPr b="0" i="0" sz="1200" u="none" cap="none" strike="noStrike">
              <a:latin typeface="Arial"/>
              <a:ea typeface="Arial"/>
              <a:cs typeface="Arial"/>
              <a:sym typeface="Arial"/>
            </a:endParaRPr>
          </a:p>
        </p:txBody>
      </p:sp>
      <p:sp>
        <p:nvSpPr>
          <p:cNvPr id="132" name="Google Shape;132;p17"/>
          <p:cNvSpPr txBox="1"/>
          <p:nvPr/>
        </p:nvSpPr>
        <p:spPr>
          <a:xfrm>
            <a:off x="2244600" y="273600"/>
            <a:ext cx="8186400" cy="10771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AVG DM400-60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p:txBody>
      </p:sp>
      <p:sp>
        <p:nvSpPr>
          <p:cNvPr id="133" name="Google Shape;133;p17"/>
          <p:cNvSpPr txBox="1"/>
          <p:nvPr/>
        </p:nvSpPr>
        <p:spPr>
          <a:xfrm>
            <a:off x="2104920" y="1046880"/>
            <a:ext cx="6095880" cy="3693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18"/>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140" name="Google Shape;140;p18"/>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141" name="Google Shape;141;p18"/>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142" name="Google Shape;142;p18"/>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143" name="Google Shape;143;p18"/>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144" name="Google Shape;144;p18"/>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145" name="Google Shape;145;p18"/>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146" name="Google Shape;146;p18"/>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147" name="Google Shape;147;p18"/>
          <p:cNvSpPr txBox="1"/>
          <p:nvPr/>
        </p:nvSpPr>
        <p:spPr>
          <a:xfrm>
            <a:off x="2064960" y="155268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Modelo: Monofilamento</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40-65mm</a:t>
            </a:r>
            <a:r>
              <a:rPr b="0" i="0" lang="pt-BR" sz="1200" u="none" cap="none" strike="noStrike">
                <a:solidFill>
                  <a:srgbClr val="040C28"/>
                </a:solidFill>
                <a:latin typeface="Poppins"/>
                <a:ea typeface="Poppins"/>
                <a:cs typeface="Poppins"/>
                <a:sym typeface="Poppins"/>
              </a:rPr>
              <a:t>± 2mm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40C28"/>
                </a:solidFill>
                <a:latin typeface="Poppins"/>
                <a:ea typeface="Poppins"/>
                <a:cs typeface="Poppins"/>
                <a:sym typeface="Poppins"/>
              </a:rPr>
              <a:t>Máquina: 3/4 – 5/8</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40C28"/>
                </a:solidFill>
                <a:latin typeface="Poppins"/>
                <a:ea typeface="Poppins"/>
                <a:cs typeface="Poppins"/>
                <a:sym typeface="Poppins"/>
              </a:rPr>
              <a:t>Método de produção(DIN 18035/7): Tapete tufado</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40C28"/>
                </a:solidFill>
                <a:latin typeface="Poppins"/>
                <a:ea typeface="Poppins"/>
                <a:cs typeface="Poppins"/>
                <a:sym typeface="Poppins"/>
              </a:rPr>
              <a:t>Tela de fixação: 100% PP – camada tripla</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40C28"/>
                </a:solidFill>
                <a:latin typeface="Poppins"/>
                <a:ea typeface="Poppins"/>
                <a:cs typeface="Poppins"/>
                <a:sym typeface="Poppins"/>
              </a:rPr>
              <a:t>Revestimento da tela: Latex</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40C28"/>
                </a:solidFill>
                <a:latin typeface="Poppins"/>
                <a:ea typeface="Poppins"/>
                <a:cs typeface="Poppins"/>
                <a:sym typeface="Poppins"/>
              </a:rPr>
              <a:t>Diâmetro de perfuração: 5mm ± 1 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Número de perfurações: 90 nr/m²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Permeabilidade à água (EN12616): </a:t>
            </a:r>
            <a:r>
              <a:rPr b="0" i="0" lang="pt-BR" sz="1200" u="none" cap="none" strike="noStrike">
                <a:solidFill>
                  <a:srgbClr val="1F1F1F"/>
                </a:solidFill>
                <a:latin typeface="Poppins"/>
                <a:ea typeface="Poppins"/>
                <a:cs typeface="Poppins"/>
                <a:sym typeface="Poppins"/>
              </a:rPr>
              <a:t>≥500mm/h</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1F1F1F"/>
                </a:solidFill>
                <a:latin typeface="Poppins"/>
                <a:ea typeface="Poppins"/>
                <a:cs typeface="Poppins"/>
                <a:sym typeface="Poppins"/>
              </a:rPr>
              <a:t>Décitex: 12.500 dtex </a:t>
            </a:r>
            <a:r>
              <a:rPr b="0" i="0" lang="pt-BR" sz="1200" u="none" cap="none" strike="noStrike">
                <a:solidFill>
                  <a:srgbClr val="040C28"/>
                </a:solidFill>
                <a:latin typeface="Poppins"/>
                <a:ea typeface="Poppins"/>
                <a:cs typeface="Poppins"/>
                <a:sym typeface="Poppins"/>
              </a:rPr>
              <a:t>± 5%</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40C28"/>
                </a:solidFill>
                <a:latin typeface="Poppins"/>
                <a:ea typeface="Poppins"/>
                <a:cs typeface="Poppins"/>
                <a:sym typeface="Poppins"/>
              </a:rPr>
              <a:t>Composição: 100% Polietileno</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40C28"/>
                </a:solidFill>
                <a:latin typeface="Poppins"/>
                <a:ea typeface="Poppins"/>
                <a:cs typeface="Poppins"/>
                <a:sym typeface="Poppins"/>
              </a:rPr>
              <a:t>Grossura: 300 micron ± 5%</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40C28"/>
                </a:solidFill>
                <a:latin typeface="Poppins"/>
                <a:ea typeface="Poppins"/>
                <a:cs typeface="Poppins"/>
                <a:sym typeface="Poppins"/>
              </a:rPr>
              <a:t>Cor: Verde limão e verde escuro</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148" name="Google Shape;148;p18"/>
          <p:cNvSpPr txBox="1"/>
          <p:nvPr/>
        </p:nvSpPr>
        <p:spPr>
          <a:xfrm>
            <a:off x="2064960" y="414000"/>
            <a:ext cx="1028700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Soccer PRO</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pic>
        <p:nvPicPr>
          <p:cNvPr id="149" name="Google Shape;149;p18"/>
          <p:cNvPicPr preferRelativeResize="0"/>
          <p:nvPr/>
        </p:nvPicPr>
        <p:blipFill rotWithShape="1">
          <a:blip r:embed="rId4">
            <a:alphaModFix/>
          </a:blip>
          <a:srcRect b="0" l="0" r="0" t="0"/>
          <a:stretch/>
        </p:blipFill>
        <p:spPr>
          <a:xfrm>
            <a:off x="10430640" y="757800"/>
            <a:ext cx="1393200" cy="124956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4" name="Shape 154"/>
        <p:cNvGrpSpPr/>
        <p:nvPr/>
      </p:nvGrpSpPr>
      <p:grpSpPr>
        <a:xfrm>
          <a:off x="0" y="0"/>
          <a:ext cx="0" cy="0"/>
          <a:chOff x="0" y="0"/>
          <a:chExt cx="0" cy="0"/>
        </a:xfrm>
      </p:grpSpPr>
      <p:sp>
        <p:nvSpPr>
          <p:cNvPr id="155" name="Google Shape;155;p19"/>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156" name="Google Shape;156;p19"/>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157" name="Google Shape;157;p19"/>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158" name="Google Shape;158;p19"/>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159" name="Google Shape;159;p19"/>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160" name="Google Shape;160;p19"/>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161" name="Google Shape;161;p19"/>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162" name="Google Shape;162;p19"/>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163" name="Google Shape;163;p19"/>
          <p:cNvSpPr txBox="1"/>
          <p:nvPr/>
        </p:nvSpPr>
        <p:spPr>
          <a:xfrm>
            <a:off x="2350440" y="518796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9"/>
          <p:cNvSpPr txBox="1"/>
          <p:nvPr/>
        </p:nvSpPr>
        <p:spPr>
          <a:xfrm>
            <a:off x="2104920" y="1611720"/>
            <a:ext cx="4508640" cy="514296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Fibrilada T Turf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Fibrilada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 Bi-color (claro e verde escuro)</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 </a:t>
            </a:r>
            <a:r>
              <a:rPr b="0" i="0" lang="pt-BR" sz="1200" u="none" cap="none" strike="noStrike">
                <a:solidFill>
                  <a:srgbClr val="474747"/>
                </a:solidFill>
                <a:latin typeface="Poppins"/>
                <a:ea typeface="Poppins"/>
                <a:cs typeface="Poppins"/>
                <a:sym typeface="Poppins"/>
              </a:rPr>
              <a:t>±2mm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Dtex: 8.800 dtex </a:t>
            </a:r>
            <a:r>
              <a:rPr b="0" i="0" lang="pt-BR" sz="1200" u="none" cap="none" strike="noStrike">
                <a:solidFill>
                  <a:srgbClr val="474747"/>
                </a:solidFill>
                <a:latin typeface="Poppins"/>
                <a:ea typeface="Poppins"/>
                <a:cs typeface="Poppins"/>
                <a:sym typeface="Poppins"/>
              </a:rPr>
              <a:t>± 5%</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Máquina: 3/4 - 5/8</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Método de produção: Tapete tufado</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Taxa de pontos por m² aprox.: nr. 7.600 </a:t>
            </a:r>
            <a:r>
              <a:rPr b="0" i="0" lang="pt-BR" sz="1200" u="none" cap="none" strike="noStrike">
                <a:solidFill>
                  <a:srgbClr val="474747"/>
                </a:solidFill>
                <a:latin typeface="Poppins"/>
                <a:ea typeface="Poppins"/>
                <a:cs typeface="Poppins"/>
                <a:sym typeface="Poppins"/>
              </a:rPr>
              <a:t>± 5%</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474747"/>
                </a:solidFill>
                <a:latin typeface="Poppins"/>
                <a:ea typeface="Poppins"/>
                <a:cs typeface="Poppins"/>
                <a:sym typeface="Poppins"/>
              </a:rPr>
              <a:t>Peso total: 1.910 gr/m² ±5%</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474747"/>
                </a:solidFill>
                <a:latin typeface="Poppins"/>
                <a:ea typeface="Poppins"/>
                <a:cs typeface="Poppins"/>
                <a:sym typeface="Poppins"/>
              </a:rPr>
              <a:t>Diâmetro de perfuração: 5mm ± 1mm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474747"/>
                </a:solidFill>
                <a:latin typeface="Poppins"/>
                <a:ea typeface="Poppins"/>
                <a:cs typeface="Poppins"/>
                <a:sym typeface="Poppins"/>
              </a:rPr>
              <a:t>Número de perfurações: 90 nr/m²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474747"/>
                </a:solidFill>
                <a:latin typeface="Poppins"/>
                <a:ea typeface="Poppins"/>
                <a:cs typeface="Poppins"/>
                <a:sym typeface="Poppins"/>
              </a:rPr>
              <a:t>Peermeabilidade à água: </a:t>
            </a:r>
            <a:r>
              <a:rPr b="0" i="0" lang="pt-BR" sz="1200" u="none" cap="none" strike="noStrike">
                <a:solidFill>
                  <a:srgbClr val="001D35"/>
                </a:solidFill>
                <a:latin typeface="Poppins"/>
                <a:ea typeface="Poppins"/>
                <a:cs typeface="Poppins"/>
                <a:sym typeface="Poppins"/>
              </a:rPr>
              <a:t>≥</a:t>
            </a:r>
            <a:r>
              <a:rPr b="0" i="0" lang="pt-BR" sz="1200" u="none" cap="none" strike="noStrike">
                <a:solidFill>
                  <a:srgbClr val="474747"/>
                </a:solidFill>
                <a:latin typeface="Poppins"/>
                <a:ea typeface="Poppins"/>
                <a:cs typeface="Poppins"/>
                <a:sym typeface="Poppins"/>
              </a:rPr>
              <a:t>500mm/h</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474747"/>
                </a:solidFill>
                <a:latin typeface="Poppins"/>
                <a:ea typeface="Poppins"/>
                <a:cs typeface="Poppins"/>
                <a:sym typeface="Poppins"/>
              </a:rPr>
              <a:t>Composição: 100% Polietileno</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474747"/>
                </a:solidFill>
                <a:latin typeface="Poppins"/>
                <a:ea typeface="Poppins"/>
                <a:cs typeface="Poppins"/>
                <a:sym typeface="Poppins"/>
              </a:rPr>
              <a:t>Grossura: 100 micron ± 5%</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474747"/>
                </a:solidFill>
                <a:latin typeface="Poppins"/>
                <a:ea typeface="Poppins"/>
                <a:cs typeface="Poppins"/>
                <a:sym typeface="Poppins"/>
              </a:rPr>
              <a:t>Peso total do fio: 770 gr/m² ± 5%</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1"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p:txBody>
      </p:sp>
      <p:sp>
        <p:nvSpPr>
          <p:cNvPr id="165" name="Google Shape;165;p19"/>
          <p:cNvSpPr txBox="1"/>
          <p:nvPr/>
        </p:nvSpPr>
        <p:spPr>
          <a:xfrm>
            <a:off x="2104920" y="275760"/>
            <a:ext cx="9147600" cy="135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Fibrilada - Limonta T Turf 50mm</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20"/>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172" name="Google Shape;172;p20"/>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173" name="Google Shape;173;p20"/>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174" name="Google Shape;174;p20"/>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175" name="Google Shape;175;p20"/>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176" name="Google Shape;176;p20"/>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177" name="Google Shape;177;p20"/>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178" name="Google Shape;178;p20"/>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179" name="Google Shape;179;p20"/>
          <p:cNvSpPr txBox="1"/>
          <p:nvPr/>
        </p:nvSpPr>
        <p:spPr>
          <a:xfrm>
            <a:off x="2350440" y="518796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0"/>
          <p:cNvSpPr txBox="1"/>
          <p:nvPr/>
        </p:nvSpPr>
        <p:spPr>
          <a:xfrm>
            <a:off x="2104920" y="1581840"/>
            <a:ext cx="4508640" cy="514296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Fibrilada 12-50B</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Fibrilada PE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 Bi-color (verde esporte e verde esmeralda)</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Dtex: 6000/1F+6000/1F</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¾”, 160cm de pontos/m²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120cm/m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6300s/m²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Largura do fio: 8.5±0.5µm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Espessura do fio: 85±10%µm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Resistência dos  fios:  62N</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Taxa de encolhimento: 3%</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Linhas por m²: 52,5</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Peso do fio 895g/m², 6300 pontos por 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Efeito UV: </a:t>
            </a:r>
            <a:r>
              <a:rPr b="0" i="0" lang="pt-BR" sz="1200" u="none" cap="none" strike="noStrike">
                <a:solidFill>
                  <a:srgbClr val="001D35"/>
                </a:solidFill>
                <a:latin typeface="Poppins"/>
                <a:ea typeface="Poppins"/>
                <a:cs typeface="Poppins"/>
                <a:sym typeface="Poppins"/>
              </a:rPr>
              <a:t>≥ 5000 hrs</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1"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p:txBody>
      </p:sp>
      <p:sp>
        <p:nvSpPr>
          <p:cNvPr id="181" name="Google Shape;181;p20"/>
          <p:cNvSpPr txBox="1"/>
          <p:nvPr/>
        </p:nvSpPr>
        <p:spPr>
          <a:xfrm>
            <a:off x="2104920" y="322560"/>
            <a:ext cx="8195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Fibrilada  12-50B</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182" name="Google Shape;182;p20"/>
          <p:cNvSpPr txBox="1"/>
          <p:nvPr/>
        </p:nvSpPr>
        <p:spPr>
          <a:xfrm>
            <a:off x="6743880" y="841680"/>
            <a:ext cx="4508640" cy="532908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Composição da base: Leno/50g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TAPETE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Solidez da cor: Cinza </a:t>
            </a:r>
            <a:r>
              <a:rPr b="0" i="0" lang="pt-BR" sz="1200" u="none" cap="none" strike="noStrike">
                <a:solidFill>
                  <a:srgbClr val="001D35"/>
                </a:solidFill>
                <a:latin typeface="Poppins"/>
                <a:ea typeface="Poppins"/>
                <a:cs typeface="Poppins"/>
                <a:sym typeface="Poppins"/>
              </a:rPr>
              <a:t>≥ 3</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Permeabilidade à água: 60L/min/m²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Resistência do tufo: </a:t>
            </a:r>
            <a:r>
              <a:rPr b="0" i="0" lang="pt-BR" sz="1200" u="none" cap="none" strike="noStrike">
                <a:solidFill>
                  <a:srgbClr val="001D35"/>
                </a:solidFill>
                <a:latin typeface="Poppins"/>
                <a:ea typeface="Poppins"/>
                <a:cs typeface="Poppins"/>
                <a:sym typeface="Poppins"/>
              </a:rPr>
              <a:t>≥45 Newton</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REQUISITOS DE ENCHIMENTO</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80% de areia sílica lavada</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0,2-1,00mm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27-28kg/m²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SBR - GRANULOMETRIA DA BORRACHA SBR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0.5-2,0mm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Forma das partículas: irregular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7-8kg/m²</a:t>
            </a:r>
            <a:endParaRPr b="0" i="0" sz="1200" u="none" cap="none" strike="noStrik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21"/>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189" name="Google Shape;189;p21"/>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190" name="Google Shape;190;p21"/>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191" name="Google Shape;191;p21"/>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192" name="Google Shape;192;p21"/>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193" name="Google Shape;193;p21"/>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194" name="Google Shape;194;p21"/>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195" name="Google Shape;195;p21"/>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196" name="Google Shape;196;p21"/>
          <p:cNvSpPr txBox="1"/>
          <p:nvPr/>
        </p:nvSpPr>
        <p:spPr>
          <a:xfrm>
            <a:off x="2350440" y="518796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1"/>
          <p:cNvSpPr txBox="1"/>
          <p:nvPr/>
        </p:nvSpPr>
        <p:spPr>
          <a:xfrm>
            <a:off x="2104920" y="1581840"/>
            <a:ext cx="48344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Fibrilada 88-50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Fibrilada PE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Bicolor (verde esporte e verde esmeralda)</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Dtex: 8800/1FDtex</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de polegada, 175cm de pontos/m²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175cm/m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11025cm/m²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Resistência dos  fios:  70N</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Espessura do fio: 9.5mm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Largura do fio: 90µm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Taxa de encolhimento: 3%</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Metodo de produção: Extrusão</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Linhas por m²: 63</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Peso do fio: 1123g/m², 11025 pontos por 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Efeito UV: </a:t>
            </a:r>
            <a:r>
              <a:rPr b="0" i="0" lang="pt-BR" sz="1200" u="none" cap="none" strike="noStrike">
                <a:solidFill>
                  <a:srgbClr val="001D35"/>
                </a:solidFill>
                <a:latin typeface="Poppins"/>
                <a:ea typeface="Poppins"/>
                <a:cs typeface="Poppins"/>
                <a:sym typeface="Poppins"/>
              </a:rPr>
              <a:t>≥ 5000 hrs</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p:txBody>
      </p:sp>
      <p:sp>
        <p:nvSpPr>
          <p:cNvPr id="198" name="Google Shape;198;p21"/>
          <p:cNvSpPr txBox="1"/>
          <p:nvPr/>
        </p:nvSpPr>
        <p:spPr>
          <a:xfrm>
            <a:off x="2104920" y="322560"/>
            <a:ext cx="76791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Fibrilada  88-50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199" name="Google Shape;199;p21"/>
          <p:cNvSpPr txBox="1"/>
          <p:nvPr/>
        </p:nvSpPr>
        <p:spPr>
          <a:xfrm>
            <a:off x="7184880" y="841680"/>
            <a:ext cx="4508640" cy="532908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Composição da base: NET/50g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TAPETE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Solidez da cor: Cinza </a:t>
            </a:r>
            <a:r>
              <a:rPr b="0" i="0" lang="pt-BR" sz="1200" u="none" cap="none" strike="noStrike">
                <a:solidFill>
                  <a:srgbClr val="001D35"/>
                </a:solidFill>
                <a:latin typeface="Poppins"/>
                <a:ea typeface="Poppins"/>
                <a:cs typeface="Poppins"/>
                <a:sym typeface="Poppins"/>
              </a:rPr>
              <a:t>≥ 3</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Permeabilidade à água: 60L/min/m²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Resistência do tufo: </a:t>
            </a:r>
            <a:r>
              <a:rPr b="0" i="0" lang="pt-BR" sz="1200" u="none" cap="none" strike="noStrike">
                <a:solidFill>
                  <a:srgbClr val="001D35"/>
                </a:solidFill>
                <a:latin typeface="Poppins"/>
                <a:ea typeface="Poppins"/>
                <a:cs typeface="Poppins"/>
                <a:sym typeface="Poppins"/>
              </a:rPr>
              <a:t>≥45 Newton</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REQUISITOS DE ENCHIMENTO</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80% de areia sílica lavada</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0,2-1,00mm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25kg/m²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SBR - GRANULOMETRIA DA BORRACHA SBR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0.5-2,0mm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Forma das partículas: irregular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7-8kg/m²</a:t>
            </a:r>
            <a:endParaRPr b="0" i="0" sz="1200" u="none" cap="none"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sp>
        <p:nvSpPr>
          <p:cNvPr id="205" name="Google Shape;205;p22"/>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206" name="Google Shape;206;p22"/>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207" name="Google Shape;207;p22"/>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208" name="Google Shape;208;p22"/>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209" name="Google Shape;209;p22"/>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210" name="Google Shape;210;p22"/>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211" name="Google Shape;211;p22"/>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212" name="Google Shape;212;p22"/>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213" name="Google Shape;213;p22"/>
          <p:cNvSpPr txBox="1"/>
          <p:nvPr/>
        </p:nvSpPr>
        <p:spPr>
          <a:xfrm>
            <a:off x="2014920" y="131652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Fibrilada 12-50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Fibrilada PE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 esporte</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Dtex: 12000/1F</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de polegada</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175cm/m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11025cm/m²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Espessura do fio: 103µm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Largura do fio: 11.4mm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Resistência dos  fios:  87N</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Taxa de encolhimento: 3%</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Metodo de produção: Extrusão</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Linhas por m²: 63</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Peso do fio: 1530g/m², 11025cm de pontos por 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Efeito UV: </a:t>
            </a:r>
            <a:r>
              <a:rPr b="0" i="0" lang="pt-BR" sz="1200" u="none" cap="none" strike="noStrike">
                <a:solidFill>
                  <a:srgbClr val="001D35"/>
                </a:solidFill>
                <a:latin typeface="Poppins"/>
                <a:ea typeface="Poppins"/>
                <a:cs typeface="Poppins"/>
                <a:sym typeface="Poppins"/>
              </a:rPr>
              <a:t>≥ 5000 hrs</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p:txBody>
      </p:sp>
      <p:sp>
        <p:nvSpPr>
          <p:cNvPr id="214" name="Google Shape;214;p22"/>
          <p:cNvSpPr txBox="1"/>
          <p:nvPr/>
        </p:nvSpPr>
        <p:spPr>
          <a:xfrm>
            <a:off x="2104920" y="14400"/>
            <a:ext cx="883764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Fibrilada 12-50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215" name="Google Shape;215;p22"/>
          <p:cNvSpPr txBox="1"/>
          <p:nvPr/>
        </p:nvSpPr>
        <p:spPr>
          <a:xfrm>
            <a:off x="7216560" y="922680"/>
            <a:ext cx="4508640" cy="560628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Composição da base: leno/50g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TAPETE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Solidez da cor: Cinza </a:t>
            </a:r>
            <a:r>
              <a:rPr b="0" i="0" lang="pt-BR" sz="1200" u="none" cap="none" strike="noStrike">
                <a:solidFill>
                  <a:srgbClr val="001D35"/>
                </a:solidFill>
                <a:latin typeface="Poppins"/>
                <a:ea typeface="Poppins"/>
                <a:cs typeface="Poppins"/>
                <a:sym typeface="Poppins"/>
              </a:rPr>
              <a:t>≥ 3</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Permeabilidade à água: 60L/min/m²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Resistência do tufo: </a:t>
            </a:r>
            <a:r>
              <a:rPr b="0" i="0" lang="pt-BR" sz="1200" u="none" cap="none" strike="noStrike">
                <a:solidFill>
                  <a:srgbClr val="001D35"/>
                </a:solidFill>
                <a:latin typeface="Poppins"/>
                <a:ea typeface="Poppins"/>
                <a:cs typeface="Poppins"/>
                <a:sym typeface="Poppins"/>
              </a:rPr>
              <a:t>≥45 Newton</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REQUISITOS DE ENCHIMENTO</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80% de areia sílica lavada</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0,2-1,00mm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25kg/m²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SBR - GRANULOMETRIA DA BORRACHA SBR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Faixa de tamanho de partículas: 0.5-2,0mm</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Forma das partículas: irregular</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Taxa de aplicação: 7-8kg/m²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23"/>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222" name="Google Shape;222;p23"/>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223" name="Google Shape;223;p23"/>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224" name="Google Shape;224;p23"/>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225" name="Google Shape;225;p23"/>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226" name="Google Shape;226;p23"/>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227" name="Google Shape;227;p23"/>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228" name="Google Shape;228;p23"/>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229" name="Google Shape;229;p23"/>
          <p:cNvSpPr txBox="1"/>
          <p:nvPr/>
        </p:nvSpPr>
        <p:spPr>
          <a:xfrm>
            <a:off x="2350440" y="518796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3"/>
          <p:cNvSpPr txBox="1"/>
          <p:nvPr/>
        </p:nvSpPr>
        <p:spPr>
          <a:xfrm>
            <a:off x="2104920" y="122436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DM130-60/150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Formato C Monofilamento PE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 Bi-color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60mm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150cm/m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9450cm/m²</a:t>
            </a:r>
            <a:endParaRPr b="0" i="0" sz="1200" u="none" cap="none" strike="noStrike">
              <a:latin typeface="Arial"/>
              <a:ea typeface="Arial"/>
              <a:cs typeface="Arial"/>
              <a:sym typeface="Arial"/>
            </a:endParaRPr>
          </a:p>
        </p:txBody>
      </p:sp>
      <p:sp>
        <p:nvSpPr>
          <p:cNvPr id="231" name="Google Shape;231;p23"/>
          <p:cNvSpPr txBox="1"/>
          <p:nvPr/>
        </p:nvSpPr>
        <p:spPr>
          <a:xfrm>
            <a:off x="2104920" y="185760"/>
            <a:ext cx="8852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MD130-60/150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232" name="Google Shape;232;p23"/>
          <p:cNvSpPr txBox="1"/>
          <p:nvPr/>
        </p:nvSpPr>
        <p:spPr>
          <a:xfrm>
            <a:off x="7184880" y="104508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233" name="Google Shape;233;p23"/>
          <p:cNvSpPr txBox="1"/>
          <p:nvPr/>
        </p:nvSpPr>
        <p:spPr>
          <a:xfrm>
            <a:off x="2104920" y="3463560"/>
            <a:ext cx="8852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MD130-60/140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234" name="Google Shape;234;p23"/>
          <p:cNvSpPr txBox="1"/>
          <p:nvPr/>
        </p:nvSpPr>
        <p:spPr>
          <a:xfrm>
            <a:off x="7184880" y="457668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235" name="Google Shape;235;p23"/>
          <p:cNvSpPr txBox="1"/>
          <p:nvPr/>
        </p:nvSpPr>
        <p:spPr>
          <a:xfrm>
            <a:off x="2104920" y="4492800"/>
            <a:ext cx="507996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DM130-60/140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Formato C Monofilamento PE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 Bi-color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60mm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140cm/m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8820cm/m²</a:t>
            </a:r>
            <a:endParaRPr b="0" i="0" sz="1200" u="none" cap="none"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24"/>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242" name="Google Shape;242;p24"/>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243" name="Google Shape;243;p24"/>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244" name="Google Shape;244;p24"/>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245" name="Google Shape;245;p24"/>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246" name="Google Shape;246;p24"/>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247" name="Google Shape;247;p24"/>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248" name="Google Shape;248;p24"/>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249" name="Google Shape;249;p24"/>
          <p:cNvSpPr txBox="1"/>
          <p:nvPr/>
        </p:nvSpPr>
        <p:spPr>
          <a:xfrm>
            <a:off x="2104920" y="116280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Diamond4D-60/140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4D monolifamento PE</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 Bi-color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60mm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140cm/m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8820cm/m²</a:t>
            </a:r>
            <a:endParaRPr b="0" i="0" sz="1200" u="none" cap="none" strike="noStrike">
              <a:latin typeface="Arial"/>
              <a:ea typeface="Arial"/>
              <a:cs typeface="Arial"/>
              <a:sym typeface="Arial"/>
            </a:endParaRPr>
          </a:p>
        </p:txBody>
      </p:sp>
      <p:sp>
        <p:nvSpPr>
          <p:cNvPr id="250" name="Google Shape;250;p24"/>
          <p:cNvSpPr txBox="1"/>
          <p:nvPr/>
        </p:nvSpPr>
        <p:spPr>
          <a:xfrm>
            <a:off x="2104920" y="107640"/>
            <a:ext cx="8852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Diamond4D-60/140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251" name="Google Shape;251;p24"/>
          <p:cNvSpPr txBox="1"/>
          <p:nvPr/>
        </p:nvSpPr>
        <p:spPr>
          <a:xfrm>
            <a:off x="7184880" y="84168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252" name="Google Shape;252;p24"/>
          <p:cNvSpPr txBox="1"/>
          <p:nvPr/>
        </p:nvSpPr>
        <p:spPr>
          <a:xfrm>
            <a:off x="2104920" y="3454560"/>
            <a:ext cx="8852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Diamond4D-60/130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253" name="Google Shape;253;p24"/>
          <p:cNvSpPr txBox="1"/>
          <p:nvPr/>
        </p:nvSpPr>
        <p:spPr>
          <a:xfrm>
            <a:off x="7184880" y="429588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254" name="Google Shape;254;p24"/>
          <p:cNvSpPr txBox="1"/>
          <p:nvPr/>
        </p:nvSpPr>
        <p:spPr>
          <a:xfrm>
            <a:off x="2104920" y="446400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Diamond4D-60/130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4D monolifamento PE</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 Bi-color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60mm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130cm/m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8190cm/m²</a:t>
            </a:r>
            <a:endParaRPr b="0" i="0" sz="1200" u="none" cap="none"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25"/>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261" name="Google Shape;261;p25"/>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262" name="Google Shape;262;p25"/>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263" name="Google Shape;263;p25"/>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264" name="Google Shape;264;p25"/>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265" name="Google Shape;265;p25"/>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266" name="Google Shape;266;p25"/>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267" name="Google Shape;267;p25"/>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268" name="Google Shape;268;p25"/>
          <p:cNvSpPr txBox="1"/>
          <p:nvPr/>
        </p:nvSpPr>
        <p:spPr>
          <a:xfrm>
            <a:off x="2104920" y="116280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Diamond 130-60/150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Diamond 13000 dtex</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9450cm/m²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60mm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150cm/m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Garantia:  08 anos</a:t>
            </a:r>
            <a:endParaRPr b="0" i="0" sz="1200" u="none" cap="none" strike="noStrike">
              <a:latin typeface="Arial"/>
              <a:ea typeface="Arial"/>
              <a:cs typeface="Arial"/>
              <a:sym typeface="Arial"/>
            </a:endParaRPr>
          </a:p>
        </p:txBody>
      </p:sp>
      <p:sp>
        <p:nvSpPr>
          <p:cNvPr id="269" name="Google Shape;269;p25"/>
          <p:cNvSpPr txBox="1"/>
          <p:nvPr/>
        </p:nvSpPr>
        <p:spPr>
          <a:xfrm>
            <a:off x="2104920" y="107640"/>
            <a:ext cx="8852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Diamond 130-60/150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270" name="Google Shape;270;p25"/>
          <p:cNvSpPr txBox="1"/>
          <p:nvPr/>
        </p:nvSpPr>
        <p:spPr>
          <a:xfrm>
            <a:off x="7184880" y="84168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271" name="Google Shape;271;p25"/>
          <p:cNvSpPr txBox="1"/>
          <p:nvPr/>
        </p:nvSpPr>
        <p:spPr>
          <a:xfrm>
            <a:off x="2104920" y="3454560"/>
            <a:ext cx="8852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Diamond 130-60/140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272" name="Google Shape;272;p25"/>
          <p:cNvSpPr txBox="1"/>
          <p:nvPr/>
        </p:nvSpPr>
        <p:spPr>
          <a:xfrm>
            <a:off x="7184880" y="429588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121g/m²</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273" name="Google Shape;273;p25"/>
          <p:cNvSpPr txBox="1"/>
          <p:nvPr/>
        </p:nvSpPr>
        <p:spPr>
          <a:xfrm>
            <a:off x="2104920" y="459324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Diamond 130-60/140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Diamond 13000 dtex</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8820cm/m²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60mm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140cm/m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Garantia:  08 anos</a:t>
            </a:r>
            <a:endParaRPr b="0" i="0" sz="1200" u="none" cap="none" strike="noStrik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sp>
        <p:nvSpPr>
          <p:cNvPr id="279" name="Google Shape;279;p26"/>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280" name="Google Shape;280;p26"/>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281" name="Google Shape;281;p26"/>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282" name="Google Shape;282;p26"/>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283" name="Google Shape;283;p26"/>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284" name="Google Shape;284;p26"/>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285" name="Google Shape;285;p26"/>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286" name="Google Shape;286;p26"/>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287" name="Google Shape;287;p26"/>
          <p:cNvSpPr txBox="1"/>
          <p:nvPr/>
        </p:nvSpPr>
        <p:spPr>
          <a:xfrm>
            <a:off x="2350440" y="518796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6"/>
          <p:cNvSpPr txBox="1"/>
          <p:nvPr/>
        </p:nvSpPr>
        <p:spPr>
          <a:xfrm>
            <a:off x="2104920" y="1581840"/>
            <a:ext cx="730728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Fibrilada A350415KW12010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Fibrilada PE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Bicolor (verde esporte e verde esmeralda)</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Dtex: 11000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143cm/m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9009cm/m²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Garantia: 6-8 anos</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 </a:t>
            </a:r>
            <a:endParaRPr b="0" i="0" sz="1200" u="none" cap="none" strike="noStrike">
              <a:latin typeface="Arial"/>
              <a:ea typeface="Arial"/>
              <a:cs typeface="Arial"/>
              <a:sym typeface="Arial"/>
            </a:endParaRPr>
          </a:p>
        </p:txBody>
      </p:sp>
      <p:sp>
        <p:nvSpPr>
          <p:cNvPr id="289" name="Google Shape;289;p26"/>
          <p:cNvSpPr txBox="1"/>
          <p:nvPr/>
        </p:nvSpPr>
        <p:spPr>
          <a:xfrm>
            <a:off x="2104920" y="322560"/>
            <a:ext cx="1040724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Fibrilada PE A350415KW12010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290" name="Google Shape;290;p26"/>
          <p:cNvSpPr txBox="1"/>
          <p:nvPr/>
        </p:nvSpPr>
        <p:spPr>
          <a:xfrm>
            <a:off x="2104920" y="4836600"/>
            <a:ext cx="4508640" cy="9126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27"/>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297" name="Google Shape;297;p27"/>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298" name="Google Shape;298;p27"/>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299" name="Google Shape;299;p27"/>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300" name="Google Shape;300;p27"/>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301" name="Google Shape;301;p27"/>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302" name="Google Shape;302;p27"/>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303" name="Google Shape;303;p27"/>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304" name="Google Shape;304;p27"/>
          <p:cNvSpPr txBox="1"/>
          <p:nvPr/>
        </p:nvSpPr>
        <p:spPr>
          <a:xfrm>
            <a:off x="2350440" y="518796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7"/>
          <p:cNvSpPr txBox="1"/>
          <p:nvPr/>
        </p:nvSpPr>
        <p:spPr>
          <a:xfrm>
            <a:off x="2104920" y="122436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MD120-50/150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C shape monofilamento PE</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B5 (bicolor bicolor)</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150cm/m²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9.450cm/m²</a:t>
            </a:r>
            <a:endParaRPr b="0" i="0" sz="1200" u="none" cap="none" strike="noStrike">
              <a:latin typeface="Arial"/>
              <a:ea typeface="Arial"/>
              <a:cs typeface="Arial"/>
              <a:sym typeface="Arial"/>
            </a:endParaRPr>
          </a:p>
        </p:txBody>
      </p:sp>
      <p:sp>
        <p:nvSpPr>
          <p:cNvPr id="306" name="Google Shape;306;p27"/>
          <p:cNvSpPr txBox="1"/>
          <p:nvPr/>
        </p:nvSpPr>
        <p:spPr>
          <a:xfrm>
            <a:off x="2104920" y="185760"/>
            <a:ext cx="8852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MD120-50/150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307" name="Google Shape;307;p27"/>
          <p:cNvSpPr txBox="1"/>
          <p:nvPr/>
        </p:nvSpPr>
        <p:spPr>
          <a:xfrm>
            <a:off x="7184880" y="104508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308" name="Google Shape;308;p27"/>
          <p:cNvSpPr txBox="1"/>
          <p:nvPr/>
        </p:nvSpPr>
        <p:spPr>
          <a:xfrm>
            <a:off x="2104920" y="3463560"/>
            <a:ext cx="8852760" cy="861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MD120-50/140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309" name="Google Shape;309;p27"/>
          <p:cNvSpPr txBox="1"/>
          <p:nvPr/>
        </p:nvSpPr>
        <p:spPr>
          <a:xfrm>
            <a:off x="7184880" y="457668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310" name="Google Shape;310;p27"/>
          <p:cNvSpPr txBox="1"/>
          <p:nvPr/>
        </p:nvSpPr>
        <p:spPr>
          <a:xfrm>
            <a:off x="2009160" y="4426200"/>
            <a:ext cx="507996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MD120-50/140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C shape monofilamento PE</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B5 (bicolor bicolor)</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140cm/m²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8.820cm/m2</a:t>
            </a:r>
            <a:endParaRPr b="0" i="0" sz="1200" u="none" cap="none" strike="noStrik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28"/>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317" name="Google Shape;317;p28"/>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318" name="Google Shape;318;p28"/>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319" name="Google Shape;319;p28"/>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320" name="Google Shape;320;p28"/>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321" name="Google Shape;321;p28"/>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322" name="Google Shape;322;p28"/>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323" name="Google Shape;323;p28"/>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324" name="Google Shape;324;p28"/>
          <p:cNvSpPr txBox="1"/>
          <p:nvPr/>
        </p:nvSpPr>
        <p:spPr>
          <a:xfrm>
            <a:off x="2254680" y="197064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8"/>
          <p:cNvSpPr txBox="1"/>
          <p:nvPr/>
        </p:nvSpPr>
        <p:spPr>
          <a:xfrm>
            <a:off x="2009160" y="81720"/>
            <a:ext cx="8852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Diamond4D-50/140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326" name="Google Shape;326;p28"/>
          <p:cNvSpPr txBox="1"/>
          <p:nvPr/>
        </p:nvSpPr>
        <p:spPr>
          <a:xfrm>
            <a:off x="7089120" y="135936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327" name="Google Shape;327;p28"/>
          <p:cNvSpPr txBox="1"/>
          <p:nvPr/>
        </p:nvSpPr>
        <p:spPr>
          <a:xfrm>
            <a:off x="1961640" y="1062360"/>
            <a:ext cx="507996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Diamond 4D-50/140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4D monofilamento PE</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B5 (bicolor bicolor)</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140cm/m²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8.820cm/m²</a:t>
            </a:r>
            <a:endParaRPr b="0" i="0" sz="1200" u="none" cap="none" strike="noStrike">
              <a:latin typeface="Arial"/>
              <a:ea typeface="Arial"/>
              <a:cs typeface="Arial"/>
              <a:sym typeface="Arial"/>
            </a:endParaRPr>
          </a:p>
        </p:txBody>
      </p:sp>
      <p:sp>
        <p:nvSpPr>
          <p:cNvPr id="328" name="Google Shape;328;p28"/>
          <p:cNvSpPr txBox="1"/>
          <p:nvPr/>
        </p:nvSpPr>
        <p:spPr>
          <a:xfrm>
            <a:off x="2219760" y="536004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28"/>
          <p:cNvSpPr txBox="1"/>
          <p:nvPr/>
        </p:nvSpPr>
        <p:spPr>
          <a:xfrm>
            <a:off x="2009160" y="3350520"/>
            <a:ext cx="8852760" cy="113868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Diamond4D-50/130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330" name="Google Shape;330;p28"/>
          <p:cNvSpPr txBox="1"/>
          <p:nvPr/>
        </p:nvSpPr>
        <p:spPr>
          <a:xfrm>
            <a:off x="7054200" y="474912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 SBR GLUE Black</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331" name="Google Shape;331;p28"/>
          <p:cNvSpPr txBox="1"/>
          <p:nvPr/>
        </p:nvSpPr>
        <p:spPr>
          <a:xfrm>
            <a:off x="2009160" y="4541040"/>
            <a:ext cx="507996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 </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Diamond4D-50/130</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Tipo de fio: 4D monofilamento PE</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B5 (bicolor bicolor)</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130cm/m²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8.190cm/m²</a:t>
            </a:r>
            <a:endParaRPr b="0" i="0" sz="1200" u="none" cap="none" strike="noStrike">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29"/>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338" name="Google Shape;338;p29"/>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339" name="Google Shape;339;p29"/>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340" name="Google Shape;340;p29"/>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341" name="Google Shape;341;p29"/>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342" name="Google Shape;342;p29"/>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343" name="Google Shape;343;p29"/>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344" name="Google Shape;344;p29"/>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345" name="Google Shape;345;p29"/>
          <p:cNvSpPr txBox="1"/>
          <p:nvPr/>
        </p:nvSpPr>
        <p:spPr>
          <a:xfrm>
            <a:off x="2064960" y="191160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Diamond 13200 dtex/6</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160cm/m²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10080cm/m²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Garantia: 8 anos</a:t>
            </a:r>
            <a:endParaRPr b="0" i="0" sz="1200" u="none" cap="none" strike="noStrike">
              <a:latin typeface="Arial"/>
              <a:ea typeface="Arial"/>
              <a:cs typeface="Arial"/>
              <a:sym typeface="Arial"/>
            </a:endParaRPr>
          </a:p>
        </p:txBody>
      </p:sp>
      <p:sp>
        <p:nvSpPr>
          <p:cNvPr id="346" name="Google Shape;346;p29"/>
          <p:cNvSpPr txBox="1"/>
          <p:nvPr/>
        </p:nvSpPr>
        <p:spPr>
          <a:xfrm>
            <a:off x="2064960" y="280440"/>
            <a:ext cx="10287000" cy="16311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DM400-50 (FIFA QUALITY PRO&amp;FIFA) Q</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347" name="Google Shape;347;p29"/>
          <p:cNvSpPr txBox="1"/>
          <p:nvPr/>
        </p:nvSpPr>
        <p:spPr>
          <a:xfrm>
            <a:off x="7208640" y="197244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+SBR Glue Black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p30"/>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354" name="Google Shape;354;p30"/>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355" name="Google Shape;355;p30"/>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356" name="Google Shape;356;p30"/>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357" name="Google Shape;357;p30"/>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358" name="Google Shape;358;p30"/>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359" name="Google Shape;359;p30"/>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360" name="Google Shape;360;p30"/>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361" name="Google Shape;361;p30"/>
          <p:cNvSpPr txBox="1"/>
          <p:nvPr/>
        </p:nvSpPr>
        <p:spPr>
          <a:xfrm>
            <a:off x="2064960" y="1911600"/>
            <a:ext cx="4508640" cy="449244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Utilização: Futebol Society</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Nome:  Diamond 13200 dtex/6</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Cor dos fios: Verde</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Altura do fio: 50mm</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Galga: 5/8”</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Pontos: 140cm/m²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Densidade: 8.820cm/m²</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Garantia: 8 anos</a:t>
            </a:r>
            <a:endParaRPr b="0" i="0" sz="1200" u="none" cap="none" strike="noStrike">
              <a:latin typeface="Arial"/>
              <a:ea typeface="Arial"/>
              <a:cs typeface="Arial"/>
              <a:sym typeface="Arial"/>
            </a:endParaRPr>
          </a:p>
        </p:txBody>
      </p:sp>
      <p:sp>
        <p:nvSpPr>
          <p:cNvPr id="362" name="Google Shape;362;p30"/>
          <p:cNvSpPr txBox="1"/>
          <p:nvPr/>
        </p:nvSpPr>
        <p:spPr>
          <a:xfrm>
            <a:off x="2064960" y="280440"/>
            <a:ext cx="10287000" cy="16311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Grama Sintética Diamond 130-50/140</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(FIFA QUALITY PRO)</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pt-BR" sz="1800" u="none" cap="none" strike="noStrike">
                <a:solidFill>
                  <a:srgbClr val="FF0000"/>
                </a:solidFill>
                <a:latin typeface="Poppins"/>
                <a:ea typeface="Poppins"/>
                <a:cs typeface="Poppins"/>
                <a:sym typeface="Poppins"/>
              </a:rPr>
              <a:t>Descrição do material</a:t>
            </a:r>
            <a:endParaRPr b="0" i="0" sz="1800" u="none" cap="none" strike="noStrike">
              <a:latin typeface="Arial"/>
              <a:ea typeface="Arial"/>
              <a:cs typeface="Arial"/>
              <a:sym typeface="Arial"/>
            </a:endParaRPr>
          </a:p>
        </p:txBody>
      </p:sp>
      <p:sp>
        <p:nvSpPr>
          <p:cNvPr id="363" name="Google Shape;363;p30"/>
          <p:cNvSpPr txBox="1"/>
          <p:nvPr/>
        </p:nvSpPr>
        <p:spPr>
          <a:xfrm>
            <a:off x="7208640" y="1972440"/>
            <a:ext cx="4508640" cy="11862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000000"/>
                </a:solidFill>
                <a:latin typeface="Poppins"/>
                <a:ea typeface="Poppins"/>
                <a:cs typeface="Poppins"/>
                <a:sym typeface="Poppins"/>
              </a:rPr>
              <a:t>BASE</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Base primária: PP + LENO +SBR Glue Black  </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Peso: 121g</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31"/>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370" name="Google Shape;370;p31"/>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371" name="Google Shape;371;p31"/>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372" name="Google Shape;372;p31"/>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373" name="Google Shape;373;p31"/>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374" name="Google Shape;374;p31"/>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375" name="Google Shape;375;p31"/>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376" name="Google Shape;376;p31"/>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377" name="Google Shape;377;p31"/>
          <p:cNvSpPr txBox="1"/>
          <p:nvPr/>
        </p:nvSpPr>
        <p:spPr>
          <a:xfrm>
            <a:off x="2104920" y="360360"/>
            <a:ext cx="521064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Alambrado</a:t>
            </a:r>
            <a:endParaRPr b="0" i="0" sz="3200" u="none" cap="none" strike="noStrike">
              <a:latin typeface="Arial"/>
              <a:ea typeface="Arial"/>
              <a:cs typeface="Arial"/>
              <a:sym typeface="Arial"/>
            </a:endParaRPr>
          </a:p>
        </p:txBody>
      </p:sp>
      <p:sp>
        <p:nvSpPr>
          <p:cNvPr id="378" name="Google Shape;378;p31"/>
          <p:cNvSpPr txBox="1"/>
          <p:nvPr/>
        </p:nvSpPr>
        <p:spPr>
          <a:xfrm>
            <a:off x="2104920" y="3560040"/>
            <a:ext cx="521064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Tela de Proteção</a:t>
            </a:r>
            <a:endParaRPr b="0" i="0" sz="3200" u="none" cap="none" strike="noStrike">
              <a:latin typeface="Arial"/>
              <a:ea typeface="Arial"/>
              <a:cs typeface="Arial"/>
              <a:sym typeface="Arial"/>
            </a:endParaRPr>
          </a:p>
        </p:txBody>
      </p:sp>
      <p:sp>
        <p:nvSpPr>
          <p:cNvPr id="379" name="Google Shape;379;p31"/>
          <p:cNvSpPr txBox="1"/>
          <p:nvPr/>
        </p:nvSpPr>
        <p:spPr>
          <a:xfrm>
            <a:off x="2104920" y="4278960"/>
            <a:ext cx="9564840" cy="620280"/>
          </a:xfrm>
          <a:prstGeom prst="rect">
            <a:avLst/>
          </a:prstGeom>
          <a:noFill/>
          <a:ln>
            <a:noFill/>
          </a:ln>
        </p:spPr>
        <p:txBody>
          <a:bodyPr anchorCtr="0" anchor="t" bIns="45700" lIns="91425" spcFirstLastPara="1" rIns="91425" wrap="square" tIns="45700">
            <a:noAutofit/>
          </a:bodyPr>
          <a:lstStyle/>
          <a:p>
            <a:pPr indent="-230400" lvl="0" marL="2304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Rede de cobertura 100% polipropileno, malha 10 x 10, fio 2mm,  sustentada por cabos metálicos interligando os vértices formando um X.</a:t>
            </a:r>
            <a:endParaRPr b="0" i="0" sz="1200" u="none" cap="none" strike="noStrike">
              <a:latin typeface="Arial"/>
              <a:ea typeface="Arial"/>
              <a:cs typeface="Arial"/>
              <a:sym typeface="Arial"/>
            </a:endParaRPr>
          </a:p>
        </p:txBody>
      </p:sp>
      <p:sp>
        <p:nvSpPr>
          <p:cNvPr id="380" name="Google Shape;380;p31"/>
          <p:cNvSpPr txBox="1"/>
          <p:nvPr/>
        </p:nvSpPr>
        <p:spPr>
          <a:xfrm>
            <a:off x="2104920" y="922680"/>
            <a:ext cx="9622800" cy="279396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20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Fundos  e laterais com 4,00m de altura de tela;</a:t>
            </a:r>
            <a:endParaRPr b="0" i="0" sz="1200" u="none" cap="none" strike="noStrike">
              <a:latin typeface="Arial"/>
              <a:ea typeface="Arial"/>
              <a:cs typeface="Arial"/>
              <a:sym typeface="Arial"/>
            </a:endParaRPr>
          </a:p>
          <a:p>
            <a:pPr indent="-228600" lvl="0" marL="228600" marR="0" rtl="0" algn="just">
              <a:lnSpc>
                <a:spcPct val="20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Tubos galvanizados a fogo / eletroliticamente, sendo os tubos verticais com diâmetro de 48,3mm e espessura de 2,25mm e os tubos  horizontais com diâmetro de 42,6mm e espessura de 2,00mm pintados na cor verde;</a:t>
            </a:r>
            <a:endParaRPr b="0" i="0" sz="1200" u="none" cap="none" strike="noStrike">
              <a:latin typeface="Arial"/>
              <a:ea typeface="Arial"/>
              <a:cs typeface="Arial"/>
              <a:sym typeface="Arial"/>
            </a:endParaRPr>
          </a:p>
          <a:p>
            <a:pPr indent="-228600" lvl="0" marL="228600" marR="0" rtl="0" algn="just">
              <a:lnSpc>
                <a:spcPct val="20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Tela malha 3” x 3” fio 12 revestida em PVC verde;</a:t>
            </a:r>
            <a:endParaRPr b="0" i="0" sz="1200" u="none" cap="none" strike="noStrike">
              <a:latin typeface="Arial"/>
              <a:ea typeface="Arial"/>
              <a:cs typeface="Arial"/>
              <a:sym typeface="Arial"/>
            </a:endParaRPr>
          </a:p>
          <a:p>
            <a:pPr indent="-228600" lvl="0" marL="228600" marR="0" rtl="0" algn="just">
              <a:lnSpc>
                <a:spcPct val="20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Instalação de travamento superior, inferior e intermediário ou sem travamentos;</a:t>
            </a:r>
            <a:endParaRPr b="0" i="0" sz="1200" u="none" cap="none" strike="noStrike">
              <a:latin typeface="Arial"/>
              <a:ea typeface="Arial"/>
              <a:cs typeface="Arial"/>
              <a:sym typeface="Arial"/>
            </a:endParaRPr>
          </a:p>
          <a:p>
            <a:pPr indent="-228600" lvl="0" marL="228600" marR="0" rtl="0" algn="just">
              <a:lnSpc>
                <a:spcPct val="20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02 portões de acesso com dimensões de 1,00m x 1,00m.</a:t>
            </a:r>
            <a:endParaRPr b="0" i="0" sz="1200" u="none" cap="none" strike="noStrike">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5" name="Shape 385"/>
        <p:cNvGrpSpPr/>
        <p:nvPr/>
      </p:nvGrpSpPr>
      <p:grpSpPr>
        <a:xfrm>
          <a:off x="0" y="0"/>
          <a:ext cx="0" cy="0"/>
          <a:chOff x="0" y="0"/>
          <a:chExt cx="0" cy="0"/>
        </a:xfrm>
      </p:grpSpPr>
      <p:sp>
        <p:nvSpPr>
          <p:cNvPr id="386" name="Google Shape;386;p32"/>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387" name="Google Shape;387;p32"/>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388" name="Google Shape;388;p32"/>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389" name="Google Shape;389;p32"/>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390" name="Google Shape;390;p32"/>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391" name="Google Shape;391;p32"/>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392" name="Google Shape;392;p32"/>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393" name="Google Shape;393;p32"/>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394" name="Google Shape;394;p32"/>
          <p:cNvSpPr txBox="1"/>
          <p:nvPr/>
        </p:nvSpPr>
        <p:spPr>
          <a:xfrm>
            <a:off x="2104920" y="338040"/>
            <a:ext cx="521064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Iluminação</a:t>
            </a:r>
            <a:endParaRPr b="0" i="0" sz="3200" u="none" cap="none" strike="noStrike">
              <a:latin typeface="Arial"/>
              <a:ea typeface="Arial"/>
              <a:cs typeface="Arial"/>
              <a:sym typeface="Arial"/>
            </a:endParaRPr>
          </a:p>
        </p:txBody>
      </p:sp>
      <p:sp>
        <p:nvSpPr>
          <p:cNvPr id="395" name="Google Shape;395;p32"/>
          <p:cNvSpPr txBox="1"/>
          <p:nvPr/>
        </p:nvSpPr>
        <p:spPr>
          <a:xfrm>
            <a:off x="2350440" y="5187960"/>
            <a:ext cx="9343080" cy="13381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2"/>
          <p:cNvSpPr txBox="1"/>
          <p:nvPr/>
        </p:nvSpPr>
        <p:spPr>
          <a:xfrm>
            <a:off x="2104920" y="2791080"/>
            <a:ext cx="521064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Acessório</a:t>
            </a:r>
            <a:endParaRPr b="0" i="0" sz="3200" u="none" cap="none" strike="noStrike">
              <a:latin typeface="Arial"/>
              <a:ea typeface="Arial"/>
              <a:cs typeface="Arial"/>
              <a:sym typeface="Arial"/>
            </a:endParaRPr>
          </a:p>
        </p:txBody>
      </p:sp>
      <p:sp>
        <p:nvSpPr>
          <p:cNvPr id="397" name="Google Shape;397;p32"/>
          <p:cNvSpPr txBox="1"/>
          <p:nvPr/>
        </p:nvSpPr>
        <p:spPr>
          <a:xfrm>
            <a:off x="2085480" y="3375720"/>
            <a:ext cx="9608040" cy="151092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Traves confeccionadas em tubo de aço 3”, chapa 13, </a:t>
            </a:r>
            <a:r>
              <a:rPr b="1" i="0" lang="pt-BR" sz="1200" u="none" cap="none" strike="noStrike">
                <a:solidFill>
                  <a:srgbClr val="000000"/>
                </a:solidFill>
                <a:latin typeface="Poppins"/>
                <a:ea typeface="Poppins"/>
                <a:cs typeface="Poppins"/>
                <a:sym typeface="Poppins"/>
              </a:rPr>
              <a:t>galvanizadas a fogo</a:t>
            </a:r>
            <a:r>
              <a:rPr b="0" i="0" lang="pt-BR" sz="1200" u="none" cap="none" strike="noStrike">
                <a:solidFill>
                  <a:srgbClr val="000000"/>
                </a:solidFill>
                <a:latin typeface="Poppins"/>
                <a:ea typeface="Poppins"/>
                <a:cs typeface="Poppins"/>
                <a:sym typeface="Poppins"/>
              </a:rPr>
              <a:t>, com pintura sintética na </a:t>
            </a:r>
            <a:r>
              <a:rPr b="1" i="0" lang="pt-BR" sz="1200" u="none" cap="none" strike="noStrike">
                <a:solidFill>
                  <a:srgbClr val="000000"/>
                </a:solidFill>
                <a:latin typeface="Poppins"/>
                <a:ea typeface="Poppins"/>
                <a:cs typeface="Poppins"/>
                <a:sym typeface="Poppins"/>
              </a:rPr>
              <a:t>cor branca</a:t>
            </a:r>
            <a:r>
              <a:rPr b="0" i="0" lang="pt-BR" sz="1200" u="none" cap="none" strike="noStrike">
                <a:solidFill>
                  <a:srgbClr val="000000"/>
                </a:solidFill>
                <a:latin typeface="Poppins"/>
                <a:ea typeface="Poppins"/>
                <a:cs typeface="Poppins"/>
                <a:sym typeface="Poppins"/>
              </a:rPr>
              <a:t>, tamanho</a:t>
            </a:r>
            <a:r>
              <a:rPr b="1" i="0" lang="pt-BR" sz="1200" u="none" cap="none" strike="noStrike">
                <a:solidFill>
                  <a:srgbClr val="000000"/>
                </a:solidFill>
                <a:latin typeface="Poppins"/>
                <a:ea typeface="Poppins"/>
                <a:cs typeface="Poppins"/>
                <a:sym typeface="Poppins"/>
              </a:rPr>
              <a:t> (*Campo Oficial Padrão FIFA – 7,32m x 2,44m – mais de 7.000m² / Society – 5,00m x 2,20m – 1.125,00m² / Intermediário – 4,00m x 2,20m – 325,00m²/ Futsal – 3,00m x 2,00m – até 800,00m²)</a:t>
            </a:r>
            <a:r>
              <a:rPr b="0" i="0" lang="pt-BR" sz="1200" u="none" cap="none" strike="noStrike">
                <a:solidFill>
                  <a:srgbClr val="000000"/>
                </a:solidFill>
                <a:latin typeface="Poppins"/>
                <a:ea typeface="Poppins"/>
                <a:cs typeface="Poppins"/>
                <a:sym typeface="Poppins"/>
              </a:rPr>
              <a:t> haste de 0,50m e profundidade 0,90m, desmontável;</a:t>
            </a:r>
            <a:endParaRPr b="0" i="0" sz="1200" u="none" cap="none" strike="noStrike">
              <a:latin typeface="Arial"/>
              <a:ea typeface="Arial"/>
              <a:cs typeface="Arial"/>
              <a:sym typeface="Arial"/>
            </a:endParaRPr>
          </a:p>
          <a:p>
            <a:pPr indent="-228600" lvl="0" marL="228600" marR="0" rtl="0" algn="just">
              <a:lnSpc>
                <a:spcPct val="15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Redes para futsal fio 4, nylon virgem, malha 12 x 12, recuo 30/70;</a:t>
            </a:r>
            <a:endParaRPr b="0" i="0" sz="1200" u="none" cap="none" strike="noStrike">
              <a:latin typeface="Arial"/>
              <a:ea typeface="Arial"/>
              <a:cs typeface="Arial"/>
              <a:sym typeface="Arial"/>
            </a:endParaRPr>
          </a:p>
          <a:p>
            <a:pPr indent="0" lvl="0" marL="0" marR="0" rtl="0" algn="just">
              <a:lnSpc>
                <a:spcPct val="150000"/>
              </a:lnSpc>
              <a:spcBef>
                <a:spcPts val="0"/>
              </a:spcBef>
              <a:spcAft>
                <a:spcPts val="0"/>
              </a:spcAft>
              <a:buNone/>
            </a:pPr>
            <a:r>
              <a:t/>
            </a:r>
            <a:endParaRPr b="0" i="0" sz="1200" u="none" cap="none" strike="noStrike">
              <a:latin typeface="Arial"/>
              <a:ea typeface="Arial"/>
              <a:cs typeface="Arial"/>
              <a:sym typeface="Arial"/>
            </a:endParaRPr>
          </a:p>
        </p:txBody>
      </p:sp>
      <p:sp>
        <p:nvSpPr>
          <p:cNvPr id="398" name="Google Shape;398;p32"/>
          <p:cNvSpPr txBox="1"/>
          <p:nvPr/>
        </p:nvSpPr>
        <p:spPr>
          <a:xfrm>
            <a:off x="2137680" y="922680"/>
            <a:ext cx="9622800" cy="1778760"/>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20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XX projetores em módulo de LED 200 W;</a:t>
            </a:r>
            <a:endParaRPr b="0" i="0" sz="1200" u="none" cap="none" strike="noStrike">
              <a:latin typeface="Arial"/>
              <a:ea typeface="Arial"/>
              <a:cs typeface="Arial"/>
              <a:sym typeface="Arial"/>
            </a:endParaRPr>
          </a:p>
          <a:p>
            <a:pPr indent="-228600" lvl="0" marL="228600" marR="0" rtl="0" algn="just">
              <a:lnSpc>
                <a:spcPct val="20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04 postes telecônicos metálicos, galvanizados a fogo, diâmetro de 114,4mm a 76mm e espessura de 2,25mm, com altura livre de 8,0m com pintura especial na cor verde;</a:t>
            </a:r>
            <a:endParaRPr b="0" i="0" sz="1200" u="none" cap="none" strike="noStrike">
              <a:latin typeface="Arial"/>
              <a:ea typeface="Arial"/>
              <a:cs typeface="Arial"/>
              <a:sym typeface="Arial"/>
            </a:endParaRPr>
          </a:p>
          <a:p>
            <a:pPr indent="-228600" lvl="0" marL="228600" marR="0" rtl="0" algn="just">
              <a:lnSpc>
                <a:spcPct val="200000"/>
              </a:lnSpc>
              <a:spcBef>
                <a:spcPts val="0"/>
              </a:spcBef>
              <a:spcAft>
                <a:spcPts val="0"/>
              </a:spcAft>
              <a:buClr>
                <a:srgbClr val="FF0000"/>
              </a:buClr>
              <a:buSzPts val="1200"/>
              <a:buFont typeface="Arial"/>
              <a:buChar char="•"/>
            </a:pPr>
            <a:r>
              <a:rPr b="0" i="0" lang="pt-BR" sz="1200" u="none" cap="none" strike="noStrike">
                <a:solidFill>
                  <a:srgbClr val="000000"/>
                </a:solidFill>
                <a:latin typeface="Poppins"/>
                <a:ea typeface="Poppins"/>
                <a:cs typeface="Poppins"/>
                <a:sym typeface="Poppins"/>
              </a:rPr>
              <a:t>04 cruzetas simples para 04 projetores, galvanizadas a fogo, com pintura especial na cor verde.</a:t>
            </a:r>
            <a:endParaRPr b="0" i="0" sz="1200" u="none" cap="none" strike="noStrike">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3" name="Shape 403"/>
        <p:cNvGrpSpPr/>
        <p:nvPr/>
      </p:nvGrpSpPr>
      <p:grpSpPr>
        <a:xfrm>
          <a:off x="0" y="0"/>
          <a:ext cx="0" cy="0"/>
          <a:chOff x="0" y="0"/>
          <a:chExt cx="0" cy="0"/>
        </a:xfrm>
      </p:grpSpPr>
      <p:sp>
        <p:nvSpPr>
          <p:cNvPr id="404" name="Google Shape;404;p33"/>
          <p:cNvSpPr txBox="1"/>
          <p:nvPr/>
        </p:nvSpPr>
        <p:spPr>
          <a:xfrm>
            <a:off x="2104920" y="4642920"/>
            <a:ext cx="5705640" cy="3654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0" i="0" lang="pt-BR" sz="1200" u="none" cap="none" strike="noStrike">
                <a:solidFill>
                  <a:srgbClr val="000000"/>
                </a:solidFill>
                <a:latin typeface="Poppins"/>
                <a:ea typeface="Poppins"/>
                <a:cs typeface="Poppins"/>
                <a:sym typeface="Poppins"/>
              </a:rPr>
              <a:t>***Valores válidos somente para contratação simultânea dos serviços.</a:t>
            </a:r>
            <a:endParaRPr b="0" i="0" sz="1200" u="none" cap="none" strike="noStrike">
              <a:latin typeface="Arial"/>
              <a:ea typeface="Arial"/>
              <a:cs typeface="Arial"/>
              <a:sym typeface="Arial"/>
            </a:endParaRPr>
          </a:p>
        </p:txBody>
      </p:sp>
      <p:sp>
        <p:nvSpPr>
          <p:cNvPr id="405" name="Google Shape;405;p33"/>
          <p:cNvSpPr/>
          <p:nvPr/>
        </p:nvSpPr>
        <p:spPr>
          <a:xfrm>
            <a:off x="0" y="0"/>
            <a:ext cx="1914480" cy="6858000"/>
          </a:xfrm>
          <a:custGeom>
            <a:rect b="b" l="l" r="r" t="t"/>
            <a:pathLst>
              <a:path extrusionOk="0" h="21600" w="21600">
                <a:moveTo>
                  <a:pt x="0" y="0"/>
                </a:moveTo>
                <a:lnTo>
                  <a:pt x="21600" y="0"/>
                </a:lnTo>
                <a:lnTo>
                  <a:pt x="21600" y="21600"/>
                </a:lnTo>
                <a:lnTo>
                  <a:pt x="0" y="21600"/>
                </a:lnTo>
                <a:close/>
              </a:path>
            </a:pathLst>
          </a:custGeom>
          <a:solidFill>
            <a:srgbClr val="FF0000"/>
          </a:solidFill>
          <a:ln cap="flat" cmpd="sng" w="12600">
            <a:solidFill>
              <a:srgbClr val="FF0000"/>
            </a:solidFill>
            <a:prstDash val="solid"/>
            <a:miter lim="8000"/>
            <a:headEnd len="sm" w="sm" type="none"/>
            <a:tailEnd len="sm" w="sm" type="none"/>
          </a:ln>
        </p:spPr>
      </p:sp>
      <p:pic>
        <p:nvPicPr>
          <p:cNvPr descr="Desenho de um círculo&#10;&#10;Descrição gerada automaticamente com confiança baixa" id="406" name="Google Shape;406;p33"/>
          <p:cNvPicPr preferRelativeResize="0"/>
          <p:nvPr/>
        </p:nvPicPr>
        <p:blipFill rotWithShape="1">
          <a:blip r:embed="rId3">
            <a:alphaModFix/>
          </a:blip>
          <a:srcRect b="0" l="0" r="0" t="0"/>
          <a:stretch/>
        </p:blipFill>
        <p:spPr>
          <a:xfrm>
            <a:off x="277560" y="322560"/>
            <a:ext cx="622800" cy="600120"/>
          </a:xfrm>
          <a:prstGeom prst="rect">
            <a:avLst/>
          </a:prstGeom>
          <a:noFill/>
          <a:ln>
            <a:noFill/>
          </a:ln>
        </p:spPr>
      </p:pic>
      <p:sp>
        <p:nvSpPr>
          <p:cNvPr id="407" name="Google Shape;407;p33"/>
          <p:cNvSpPr txBox="1"/>
          <p:nvPr/>
        </p:nvSpPr>
        <p:spPr>
          <a:xfrm>
            <a:off x="39600" y="19116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Projeto</a:t>
            </a:r>
            <a:endParaRPr b="0" i="0" sz="1400" u="none" cap="none" strike="noStrike">
              <a:latin typeface="Arial"/>
              <a:ea typeface="Arial"/>
              <a:cs typeface="Arial"/>
              <a:sym typeface="Arial"/>
            </a:endParaRPr>
          </a:p>
        </p:txBody>
      </p:sp>
      <p:sp>
        <p:nvSpPr>
          <p:cNvPr id="408" name="Google Shape;408;p33"/>
          <p:cNvSpPr txBox="1"/>
          <p:nvPr/>
        </p:nvSpPr>
        <p:spPr>
          <a:xfrm>
            <a:off x="39600" y="26604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Pagamento</a:t>
            </a:r>
            <a:endParaRPr b="0" i="0" sz="1400" u="none" cap="none" strike="noStrike">
              <a:latin typeface="Arial"/>
              <a:ea typeface="Arial"/>
              <a:cs typeface="Arial"/>
              <a:sym typeface="Arial"/>
            </a:endParaRPr>
          </a:p>
        </p:txBody>
      </p:sp>
      <p:sp>
        <p:nvSpPr>
          <p:cNvPr id="409" name="Google Shape;409;p33"/>
          <p:cNvSpPr txBox="1"/>
          <p:nvPr/>
        </p:nvSpPr>
        <p:spPr>
          <a:xfrm>
            <a:off x="39600" y="22860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1400" u="none" cap="none" strike="noStrike">
                <a:solidFill>
                  <a:srgbClr val="FFFFFF"/>
                </a:solidFill>
                <a:latin typeface="Poppins"/>
                <a:ea typeface="Poppins"/>
                <a:cs typeface="Poppins"/>
                <a:sym typeface="Poppins"/>
              </a:rPr>
              <a:t>Investimento</a:t>
            </a:r>
            <a:endParaRPr b="0" i="0" sz="1400" u="none" cap="none" strike="noStrike">
              <a:latin typeface="Arial"/>
              <a:ea typeface="Arial"/>
              <a:cs typeface="Arial"/>
              <a:sym typeface="Arial"/>
            </a:endParaRPr>
          </a:p>
        </p:txBody>
      </p:sp>
      <p:sp>
        <p:nvSpPr>
          <p:cNvPr id="410" name="Google Shape;410;p33"/>
          <p:cNvSpPr txBox="1"/>
          <p:nvPr/>
        </p:nvSpPr>
        <p:spPr>
          <a:xfrm>
            <a:off x="39600" y="30348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Prazos</a:t>
            </a:r>
            <a:endParaRPr b="0" i="0" sz="1400" u="none" cap="none" strike="noStrike">
              <a:latin typeface="Arial"/>
              <a:ea typeface="Arial"/>
              <a:cs typeface="Arial"/>
              <a:sym typeface="Arial"/>
            </a:endParaRPr>
          </a:p>
        </p:txBody>
      </p:sp>
      <p:sp>
        <p:nvSpPr>
          <p:cNvPr id="411" name="Google Shape;411;p33"/>
          <p:cNvSpPr txBox="1"/>
          <p:nvPr/>
        </p:nvSpPr>
        <p:spPr>
          <a:xfrm>
            <a:off x="39600" y="340920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Garantia</a:t>
            </a:r>
            <a:endParaRPr b="0" i="0" sz="1400" u="none" cap="none" strike="noStrike">
              <a:latin typeface="Arial"/>
              <a:ea typeface="Arial"/>
              <a:cs typeface="Arial"/>
              <a:sym typeface="Arial"/>
            </a:endParaRPr>
          </a:p>
        </p:txBody>
      </p:sp>
      <p:sp>
        <p:nvSpPr>
          <p:cNvPr id="412" name="Google Shape;412;p33"/>
          <p:cNvSpPr txBox="1"/>
          <p:nvPr/>
        </p:nvSpPr>
        <p:spPr>
          <a:xfrm>
            <a:off x="39600" y="3783240"/>
            <a:ext cx="2064960" cy="307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pt-BR" sz="1400" u="none" cap="none" strike="noStrike">
                <a:solidFill>
                  <a:srgbClr val="FFFFFF"/>
                </a:solidFill>
                <a:latin typeface="Poppins"/>
                <a:ea typeface="Poppins"/>
                <a:cs typeface="Poppins"/>
                <a:sym typeface="Poppins"/>
              </a:rPr>
              <a:t>Regras </a:t>
            </a:r>
            <a:endParaRPr b="0" i="0" sz="1400" u="none" cap="none" strike="noStrike">
              <a:latin typeface="Arial"/>
              <a:ea typeface="Arial"/>
              <a:cs typeface="Arial"/>
              <a:sym typeface="Arial"/>
            </a:endParaRPr>
          </a:p>
        </p:txBody>
      </p:sp>
      <p:sp>
        <p:nvSpPr>
          <p:cNvPr id="413" name="Google Shape;413;p33"/>
          <p:cNvSpPr txBox="1"/>
          <p:nvPr/>
        </p:nvSpPr>
        <p:spPr>
          <a:xfrm>
            <a:off x="2104920" y="115200"/>
            <a:ext cx="390744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pt-BR" sz="3200" u="none" cap="none" strike="noStrike">
                <a:solidFill>
                  <a:srgbClr val="FF0000"/>
                </a:solidFill>
                <a:latin typeface="Poppins"/>
                <a:ea typeface="Poppins"/>
                <a:cs typeface="Poppins"/>
                <a:sym typeface="Poppins"/>
              </a:rPr>
              <a:t>2. Investimento</a:t>
            </a:r>
            <a:endParaRPr b="0" i="0" sz="3200" u="none" cap="none" strike="noStrike">
              <a:latin typeface="Arial"/>
              <a:ea typeface="Arial"/>
              <a:cs typeface="Arial"/>
              <a:sym typeface="Arial"/>
            </a:endParaRPr>
          </a:p>
        </p:txBody>
      </p:sp>
      <p:graphicFrame>
        <p:nvGraphicFramePr>
          <p:cNvPr id="414" name="Google Shape;414;p33"/>
          <p:cNvGraphicFramePr/>
          <p:nvPr/>
        </p:nvGraphicFramePr>
        <p:xfrm>
          <a:off x="2135520" y="906120"/>
          <a:ext cx="3000000" cy="3000000"/>
        </p:xfrm>
        <a:graphic>
          <a:graphicData uri="http://schemas.openxmlformats.org/drawingml/2006/table">
            <a:tbl>
              <a:tblPr>
                <a:noFill/>
                <a:tableStyleId>{14C4FDF2-3EB4-4EA4-AF82-7B011E0BD6D1}</a:tableStyleId>
              </a:tblPr>
              <a:tblGrid>
                <a:gridCol w="5101200"/>
                <a:gridCol w="1324450"/>
                <a:gridCol w="1454750"/>
                <a:gridCol w="1797475"/>
              </a:tblGrid>
              <a:tr h="416150">
                <a:tc>
                  <a:txBody>
                    <a:bodyPr/>
                    <a:lstStyle/>
                    <a:p>
                      <a:pPr indent="-216000" lvl="0" marL="216000" marR="0" rtl="0" algn="l">
                        <a:lnSpc>
                          <a:spcPct val="150000"/>
                        </a:lnSpc>
                        <a:spcBef>
                          <a:spcPts val="0"/>
                        </a:spcBef>
                        <a:spcAft>
                          <a:spcPts val="0"/>
                        </a:spcAft>
                        <a:buClr>
                          <a:srgbClr val="000000"/>
                        </a:buClr>
                        <a:buSzPts val="810"/>
                        <a:buFont typeface="Noto Sans Symbols"/>
                        <a:buChar char="●"/>
                      </a:pPr>
                      <a:r>
                        <a:rPr b="0" lang="pt-BR" sz="1800" u="none" cap="none" strike="noStrike">
                          <a:latin typeface="Poppins"/>
                          <a:ea typeface="Poppins"/>
                          <a:cs typeface="Poppins"/>
                          <a:sym typeface="Poppins"/>
                        </a:rPr>
                        <a:t>Campo de Futebol – Grama Sintética </a:t>
                      </a:r>
                      <a:endParaRPr b="0" sz="1800" u="none" cap="none" strike="noStrike">
                        <a:latin typeface="Arial"/>
                        <a:ea typeface="Arial"/>
                        <a:cs typeface="Arial"/>
                        <a:sym typeface="Arial"/>
                      </a:endParaRPr>
                    </a:p>
                  </a:txBody>
                  <a:tcPr marT="45725" marB="45725" marR="91450" marL="91450">
                    <a:solidFill>
                      <a:srgbClr val="4472C4"/>
                    </a:solidFill>
                  </a:tcPr>
                </a:tc>
                <a:tc>
                  <a:txBody>
                    <a:bodyPr/>
                    <a:lstStyle/>
                    <a:p>
                      <a:pPr indent="-216000" lvl="0" marL="216000" marR="0" rtl="0" algn="ctr">
                        <a:lnSpc>
                          <a:spcPct val="150000"/>
                        </a:lnSpc>
                        <a:spcBef>
                          <a:spcPts val="0"/>
                        </a:spcBef>
                        <a:spcAft>
                          <a:spcPts val="0"/>
                        </a:spcAft>
                        <a:buClr>
                          <a:srgbClr val="000000"/>
                        </a:buClr>
                        <a:buSzPts val="810"/>
                        <a:buFont typeface="Noto Sans Symbols"/>
                        <a:buChar char="●"/>
                      </a:pPr>
                      <a:r>
                        <a:rPr b="1" lang="pt-BR" sz="1800" u="none" cap="none" strike="noStrike">
                          <a:solidFill>
                            <a:srgbClr val="FFFFFF"/>
                          </a:solidFill>
                          <a:latin typeface="Poppins"/>
                          <a:ea typeface="Poppins"/>
                          <a:cs typeface="Poppins"/>
                          <a:sym typeface="Poppins"/>
                        </a:rPr>
                        <a:t>Qtde.</a:t>
                      </a:r>
                      <a:endParaRPr b="1" sz="1800" u="none" cap="none" strike="noStrike">
                        <a:solidFill>
                          <a:srgbClr val="FFFFFF"/>
                        </a:solidFill>
                        <a:latin typeface="Arial"/>
                        <a:ea typeface="Arial"/>
                        <a:cs typeface="Arial"/>
                        <a:sym typeface="Arial"/>
                      </a:endParaRPr>
                    </a:p>
                  </a:txBody>
                  <a:tcPr marT="45725" marB="45725" marR="91450" marL="91450">
                    <a:solidFill>
                      <a:srgbClr val="4472C4"/>
                    </a:solidFill>
                  </a:tcPr>
                </a:tc>
                <a:tc>
                  <a:txBody>
                    <a:bodyPr/>
                    <a:lstStyle/>
                    <a:p>
                      <a:pPr indent="-216000" lvl="0" marL="216000" marR="0" rtl="0" algn="ctr">
                        <a:lnSpc>
                          <a:spcPct val="150000"/>
                        </a:lnSpc>
                        <a:spcBef>
                          <a:spcPts val="0"/>
                        </a:spcBef>
                        <a:spcAft>
                          <a:spcPts val="0"/>
                        </a:spcAft>
                        <a:buClr>
                          <a:srgbClr val="000000"/>
                        </a:buClr>
                        <a:buSzPts val="810"/>
                        <a:buFont typeface="Noto Sans Symbols"/>
                        <a:buChar char="●"/>
                      </a:pPr>
                      <a:r>
                        <a:rPr b="1" lang="pt-BR" sz="1800" u="none" cap="none" strike="noStrike">
                          <a:solidFill>
                            <a:srgbClr val="FFFFFF"/>
                          </a:solidFill>
                          <a:latin typeface="Poppins"/>
                          <a:ea typeface="Poppins"/>
                          <a:cs typeface="Poppins"/>
                          <a:sym typeface="Poppins"/>
                        </a:rPr>
                        <a:t>Unid.</a:t>
                      </a:r>
                      <a:endParaRPr b="1" sz="1800" u="none" cap="none" strike="noStrike">
                        <a:solidFill>
                          <a:srgbClr val="FFFFFF"/>
                        </a:solidFill>
                        <a:latin typeface="Arial"/>
                        <a:ea typeface="Arial"/>
                        <a:cs typeface="Arial"/>
                        <a:sym typeface="Arial"/>
                      </a:endParaRPr>
                    </a:p>
                  </a:txBody>
                  <a:tcPr marT="45725" marB="45725" marR="91450" marL="91450">
                    <a:solidFill>
                      <a:srgbClr val="4472C4"/>
                    </a:solidFill>
                  </a:tcPr>
                </a:tc>
                <a:tc>
                  <a:txBody>
                    <a:bodyPr/>
                    <a:lstStyle/>
                    <a:p>
                      <a:pPr indent="-216000" lvl="0" marL="216000" marR="0" rtl="0" algn="ctr">
                        <a:lnSpc>
                          <a:spcPct val="150000"/>
                        </a:lnSpc>
                        <a:spcBef>
                          <a:spcPts val="0"/>
                        </a:spcBef>
                        <a:spcAft>
                          <a:spcPts val="0"/>
                        </a:spcAft>
                        <a:buClr>
                          <a:srgbClr val="000000"/>
                        </a:buClr>
                        <a:buSzPts val="810"/>
                        <a:buFont typeface="Noto Sans Symbols"/>
                        <a:buChar char="●"/>
                      </a:pPr>
                      <a:r>
                        <a:rPr b="1" lang="pt-BR" sz="1800" u="none" cap="none" strike="noStrike">
                          <a:solidFill>
                            <a:srgbClr val="FFFFFF"/>
                          </a:solidFill>
                          <a:latin typeface="Poppins"/>
                          <a:ea typeface="Poppins"/>
                          <a:cs typeface="Poppins"/>
                          <a:sym typeface="Poppins"/>
                        </a:rPr>
                        <a:t>Valor</a:t>
                      </a:r>
                      <a:endParaRPr b="1" sz="1800" u="none" cap="none" strike="noStrike">
                        <a:solidFill>
                          <a:srgbClr val="FFFFFF"/>
                        </a:solidFill>
                        <a:latin typeface="Arial"/>
                        <a:ea typeface="Arial"/>
                        <a:cs typeface="Arial"/>
                        <a:sym typeface="Arial"/>
                      </a:endParaRPr>
                    </a:p>
                  </a:txBody>
                  <a:tcPr marT="45725" marB="45725" marR="91450" marL="91450">
                    <a:solidFill>
                      <a:srgbClr val="4472C4"/>
                    </a:solidFill>
                  </a:tcPr>
                </a:tc>
              </a:tr>
              <a:tr h="636475">
                <a:tc>
                  <a:txBody>
                    <a:bodyPr/>
                    <a:lstStyle/>
                    <a:p>
                      <a:pPr indent="-216000" lvl="0" marL="216000" marR="0" rtl="0" algn="l">
                        <a:spcBef>
                          <a:spcPts val="0"/>
                        </a:spcBef>
                        <a:spcAft>
                          <a:spcPts val="0"/>
                        </a:spcAft>
                        <a:buClr>
                          <a:srgbClr val="000000"/>
                        </a:buClr>
                        <a:buSzPts val="540"/>
                        <a:buFont typeface="Noto Sans Symbols"/>
                        <a:buChar char="●"/>
                      </a:pPr>
                      <a:r>
                        <a:rPr b="0" lang="pt-BR" sz="1200" u="none" cap="none" strike="noStrike">
                          <a:latin typeface="Poppins"/>
                          <a:ea typeface="Poppins"/>
                          <a:cs typeface="Poppins"/>
                          <a:sym typeface="Poppins"/>
                        </a:rPr>
                        <a:t>Sistema de Drenagem tipo espinha de peixe e Base asfáltica drenante</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216000" lvl="0" marL="216000" marR="0" rtl="0" algn="ctr">
                        <a:spcBef>
                          <a:spcPts val="0"/>
                        </a:spcBef>
                        <a:spcAft>
                          <a:spcPts val="0"/>
                        </a:spcAft>
                        <a:buClr>
                          <a:srgbClr val="000000"/>
                        </a:buClr>
                        <a:buSzPts val="540"/>
                        <a:buFont typeface="Noto Sans Symbols"/>
                        <a:buChar char="●"/>
                      </a:pPr>
                      <a:r>
                        <a:rPr b="0" lang="pt-BR" sz="1200" u="none" cap="none" strike="noStrike">
                          <a:latin typeface="Poppins"/>
                          <a:ea typeface="Poppins"/>
                          <a:cs typeface="Poppins"/>
                          <a:sym typeface="Poppins"/>
                        </a:rPr>
                        <a:t>xx</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216000" lvl="0" marL="216000" marR="0" rtl="0" algn="ctr">
                        <a:spcBef>
                          <a:spcPts val="0"/>
                        </a:spcBef>
                        <a:spcAft>
                          <a:spcPts val="0"/>
                        </a:spcAft>
                        <a:buClr>
                          <a:srgbClr val="000000"/>
                        </a:buClr>
                        <a:buSzPts val="540"/>
                        <a:buFont typeface="Noto Sans Symbols"/>
                        <a:buChar char="●"/>
                      </a:pPr>
                      <a:r>
                        <a:rPr b="0" lang="pt-BR" sz="1200" u="none" cap="none" strike="noStrike">
                          <a:latin typeface="Poppins"/>
                          <a:ea typeface="Poppins"/>
                          <a:cs typeface="Poppins"/>
                          <a:sym typeface="Poppins"/>
                        </a:rPr>
                        <a:t>m²</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216000" lvl="0" marL="216000" marR="0" rtl="0" algn="l">
                        <a:spcBef>
                          <a:spcPts val="0"/>
                        </a:spcBef>
                        <a:spcAft>
                          <a:spcPts val="0"/>
                        </a:spcAft>
                        <a:buClr>
                          <a:srgbClr val="000000"/>
                        </a:buClr>
                        <a:buSzPts val="540"/>
                        <a:buFont typeface="Noto Sans Symbols"/>
                        <a:buChar char="●"/>
                      </a:pPr>
                      <a:r>
                        <a:rPr b="0" lang="pt-BR" sz="1200" u="none" cap="none" strike="noStrike">
                          <a:latin typeface="Poppins"/>
                          <a:ea typeface="Poppins"/>
                          <a:cs typeface="Poppins"/>
                          <a:sym typeface="Poppins"/>
                        </a:rPr>
                        <a:t>R$</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r>
              <a:tr h="636475">
                <a:tc>
                  <a:txBody>
                    <a:bodyPr/>
                    <a:lstStyle/>
                    <a:p>
                      <a:pPr indent="-216000" lvl="0" marL="216000" marR="0" rtl="0" algn="l">
                        <a:spcBef>
                          <a:spcPts val="0"/>
                        </a:spcBef>
                        <a:spcAft>
                          <a:spcPts val="0"/>
                        </a:spcAft>
                        <a:buClr>
                          <a:srgbClr val="000000"/>
                        </a:buClr>
                        <a:buSzPts val="540"/>
                        <a:buFont typeface="Noto Sans Symbols"/>
                        <a:buChar char="●"/>
                      </a:pPr>
                      <a:r>
                        <a:rPr b="0" lang="pt-BR" sz="1200" u="none" cap="none" strike="noStrike">
                          <a:solidFill>
                            <a:srgbClr val="000000"/>
                          </a:solidFill>
                          <a:latin typeface="Poppins"/>
                          <a:ea typeface="Poppins"/>
                          <a:cs typeface="Poppins"/>
                          <a:sym typeface="Poppins"/>
                        </a:rPr>
                        <a:t>Campo Society - Grama Sintética 50mm - DM400-50</a:t>
                      </a:r>
                      <a:endParaRPr b="0" sz="1200" u="none" cap="none" strike="noStrike">
                        <a:solidFill>
                          <a:srgbClr val="000000"/>
                        </a:solidFill>
                        <a:latin typeface="Arial"/>
                        <a:ea typeface="Arial"/>
                        <a:cs typeface="Arial"/>
                        <a:sym typeface="Arial"/>
                      </a:endParaRPr>
                    </a:p>
                    <a:p>
                      <a:pPr indent="-216000" lvl="0" marL="216000" marR="0" rtl="0" algn="l">
                        <a:lnSpc>
                          <a:spcPct val="150000"/>
                        </a:lnSpc>
                        <a:spcBef>
                          <a:spcPts val="0"/>
                        </a:spcBef>
                        <a:spcAft>
                          <a:spcPts val="0"/>
                        </a:spcAft>
                        <a:buClr>
                          <a:srgbClr val="000000"/>
                        </a:buClr>
                        <a:buSzPts val="540"/>
                        <a:buFont typeface="Noto Sans Symbols"/>
                        <a:buChar char="●"/>
                      </a:pPr>
                      <a:r>
                        <a:rPr b="0" lang="pt-BR" sz="1200" u="none" cap="none" strike="noStrike">
                          <a:solidFill>
                            <a:srgbClr val="000000"/>
                          </a:solidFill>
                          <a:latin typeface="Poppins"/>
                          <a:ea typeface="Poppins"/>
                          <a:cs typeface="Poppins"/>
                          <a:sym typeface="Poppins"/>
                        </a:rPr>
                        <a:t>Aprovada pela FIFA Quality Pro</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c>
                  <a:txBody>
                    <a:bodyPr/>
                    <a:lstStyle/>
                    <a:p>
                      <a:pPr indent="-216000" lvl="0" marL="216000" marR="0" rtl="0" algn="ctr">
                        <a:spcBef>
                          <a:spcPts val="0"/>
                        </a:spcBef>
                        <a:spcAft>
                          <a:spcPts val="0"/>
                        </a:spcAft>
                        <a:buClr>
                          <a:srgbClr val="000000"/>
                        </a:buClr>
                        <a:buSzPts val="540"/>
                        <a:buFont typeface="Noto Sans Symbols"/>
                        <a:buChar char="●"/>
                      </a:pPr>
                      <a:r>
                        <a:rPr b="0" lang="pt-BR" sz="1200" u="none" cap="none" strike="noStrike">
                          <a:solidFill>
                            <a:srgbClr val="000000"/>
                          </a:solidFill>
                          <a:latin typeface="Poppins"/>
                          <a:ea typeface="Poppins"/>
                          <a:cs typeface="Poppins"/>
                          <a:sym typeface="Poppins"/>
                        </a:rPr>
                        <a:t>xx</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c>
                  <a:txBody>
                    <a:bodyPr/>
                    <a:lstStyle/>
                    <a:p>
                      <a:pPr indent="0" lvl="0" marL="0" marR="0" rtl="0" algn="ctr">
                        <a:lnSpc>
                          <a:spcPct val="100000"/>
                        </a:lnSpc>
                        <a:spcBef>
                          <a:spcPts val="0"/>
                        </a:spcBef>
                        <a:spcAft>
                          <a:spcPts val="0"/>
                        </a:spcAft>
                        <a:buNone/>
                      </a:pPr>
                      <a:r>
                        <a:rPr b="0" lang="pt-BR" sz="1200" u="none" cap="none" strike="noStrike">
                          <a:solidFill>
                            <a:srgbClr val="000000"/>
                          </a:solidFill>
                          <a:latin typeface="Poppins"/>
                          <a:ea typeface="Poppins"/>
                          <a:cs typeface="Poppins"/>
                          <a:sym typeface="Poppins"/>
                        </a:rPr>
                        <a:t>m²</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c>
                  <a:txBody>
                    <a:bodyPr/>
                    <a:lstStyle/>
                    <a:p>
                      <a:pPr indent="-216000" lvl="0" marL="216000" marR="0" rtl="0" algn="l">
                        <a:spcBef>
                          <a:spcPts val="0"/>
                        </a:spcBef>
                        <a:spcAft>
                          <a:spcPts val="0"/>
                        </a:spcAft>
                        <a:buClr>
                          <a:srgbClr val="000000"/>
                        </a:buClr>
                        <a:buSzPts val="540"/>
                        <a:buFont typeface="Noto Sans Symbols"/>
                        <a:buChar char="●"/>
                      </a:pPr>
                      <a:r>
                        <a:rPr b="0" lang="pt-BR" sz="1200" u="none" cap="none" strike="noStrike">
                          <a:solidFill>
                            <a:srgbClr val="000000"/>
                          </a:solidFill>
                          <a:latin typeface="Poppins"/>
                          <a:ea typeface="Poppins"/>
                          <a:cs typeface="Poppins"/>
                          <a:sym typeface="Poppins"/>
                        </a:rPr>
                        <a:t>R$</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r>
              <a:tr h="636475">
                <a:tc>
                  <a:txBody>
                    <a:bodyPr/>
                    <a:lstStyle/>
                    <a:p>
                      <a:pPr indent="-216000" lvl="0" marL="216000" marR="0" rtl="0" algn="just">
                        <a:lnSpc>
                          <a:spcPct val="150000"/>
                        </a:lnSpc>
                        <a:spcBef>
                          <a:spcPts val="0"/>
                        </a:spcBef>
                        <a:spcAft>
                          <a:spcPts val="0"/>
                        </a:spcAft>
                        <a:buClr>
                          <a:srgbClr val="000000"/>
                        </a:buClr>
                        <a:buSzPts val="540"/>
                        <a:buFont typeface="Noto Sans Symbols"/>
                        <a:buChar char="●"/>
                      </a:pPr>
                      <a:r>
                        <a:rPr b="0" lang="pt-BR" sz="1200" u="none" cap="none" strike="noStrike">
                          <a:latin typeface="Poppins"/>
                          <a:ea typeface="Poppins"/>
                          <a:cs typeface="Poppins"/>
                          <a:sym typeface="Poppins"/>
                        </a:rPr>
                        <a:t>Alambrado – Tubos galvanizados eletroliticamente/ fogo , com xx travamentos / sem travamentos, tela revestida  em PVC</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216000" lvl="0" marL="216000" marR="0" rtl="0" algn="ctr">
                        <a:spcBef>
                          <a:spcPts val="0"/>
                        </a:spcBef>
                        <a:spcAft>
                          <a:spcPts val="0"/>
                        </a:spcAft>
                        <a:buClr>
                          <a:srgbClr val="000000"/>
                        </a:buClr>
                        <a:buSzPts val="540"/>
                        <a:buFont typeface="Noto Sans Symbols"/>
                        <a:buChar char="●"/>
                      </a:pPr>
                      <a:r>
                        <a:rPr b="0" lang="pt-BR" sz="1200" u="none" cap="none" strike="noStrike">
                          <a:latin typeface="Poppins"/>
                          <a:ea typeface="Poppins"/>
                          <a:cs typeface="Poppins"/>
                          <a:sym typeface="Poppins"/>
                        </a:rPr>
                        <a:t>xx</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0" lvl="0" marL="0" marR="0" rtl="0" algn="ctr">
                        <a:lnSpc>
                          <a:spcPct val="100000"/>
                        </a:lnSpc>
                        <a:spcBef>
                          <a:spcPts val="0"/>
                        </a:spcBef>
                        <a:spcAft>
                          <a:spcPts val="0"/>
                        </a:spcAft>
                        <a:buNone/>
                      </a:pPr>
                      <a:r>
                        <a:rPr b="0" lang="pt-BR" sz="1200" u="none" cap="none" strike="noStrike">
                          <a:latin typeface="Poppins"/>
                          <a:ea typeface="Poppins"/>
                          <a:cs typeface="Poppins"/>
                          <a:sym typeface="Poppins"/>
                        </a:rPr>
                        <a:t>m²</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216000" lvl="0" marL="216000" marR="0" rtl="0" algn="l">
                        <a:spcBef>
                          <a:spcPts val="0"/>
                        </a:spcBef>
                        <a:spcAft>
                          <a:spcPts val="0"/>
                        </a:spcAft>
                        <a:buClr>
                          <a:srgbClr val="000000"/>
                        </a:buClr>
                        <a:buSzPts val="540"/>
                        <a:buFont typeface="Noto Sans Symbols"/>
                        <a:buChar char="●"/>
                      </a:pPr>
                      <a:r>
                        <a:rPr b="0" lang="pt-BR" sz="1200" u="none" cap="none" strike="noStrike">
                          <a:latin typeface="Poppins"/>
                          <a:ea typeface="Poppins"/>
                          <a:cs typeface="Poppins"/>
                          <a:sym typeface="Poppins"/>
                        </a:rPr>
                        <a:t>R$</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r>
              <a:tr h="636475">
                <a:tc>
                  <a:txBody>
                    <a:bodyPr/>
                    <a:lstStyle/>
                    <a:p>
                      <a:pPr indent="0" lvl="0" marL="0" marR="0" rtl="0" algn="l">
                        <a:lnSpc>
                          <a:spcPct val="100000"/>
                        </a:lnSpc>
                        <a:spcBef>
                          <a:spcPts val="0"/>
                        </a:spcBef>
                        <a:spcAft>
                          <a:spcPts val="0"/>
                        </a:spcAft>
                        <a:buNone/>
                      </a:pPr>
                      <a:r>
                        <a:rPr b="0" lang="pt-BR" sz="1200" u="none" cap="none" strike="noStrike">
                          <a:solidFill>
                            <a:srgbClr val="000000"/>
                          </a:solidFill>
                          <a:latin typeface="Poppins"/>
                          <a:ea typeface="Poppins"/>
                          <a:cs typeface="Poppins"/>
                          <a:sym typeface="Poppins"/>
                        </a:rPr>
                        <a:t>Acessórios –  Futsal: Traves galvanizadas a fogo e rede</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c>
                  <a:txBody>
                    <a:bodyPr/>
                    <a:lstStyle/>
                    <a:p>
                      <a:pPr indent="0" lvl="0" marL="0" marR="0" rtl="0" algn="ctr">
                        <a:lnSpc>
                          <a:spcPct val="100000"/>
                        </a:lnSpc>
                        <a:spcBef>
                          <a:spcPts val="0"/>
                        </a:spcBef>
                        <a:spcAft>
                          <a:spcPts val="0"/>
                        </a:spcAft>
                        <a:buNone/>
                      </a:pPr>
                      <a:r>
                        <a:rPr b="0" lang="pt-BR" sz="1200" u="none" cap="none" strike="noStrike">
                          <a:solidFill>
                            <a:srgbClr val="000000"/>
                          </a:solidFill>
                          <a:latin typeface="Poppins"/>
                          <a:ea typeface="Poppins"/>
                          <a:cs typeface="Poppins"/>
                          <a:sym typeface="Poppins"/>
                        </a:rPr>
                        <a:t>xx</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c>
                  <a:txBody>
                    <a:bodyPr/>
                    <a:lstStyle/>
                    <a:p>
                      <a:pPr indent="-216000" lvl="0" marL="216000" marR="0" rtl="0" algn="ctr">
                        <a:spcBef>
                          <a:spcPts val="0"/>
                        </a:spcBef>
                        <a:spcAft>
                          <a:spcPts val="0"/>
                        </a:spcAft>
                        <a:buClr>
                          <a:srgbClr val="000000"/>
                        </a:buClr>
                        <a:buSzPts val="540"/>
                        <a:buFont typeface="Noto Sans Symbols"/>
                        <a:buChar char="●"/>
                      </a:pPr>
                      <a:r>
                        <a:rPr b="0" lang="pt-BR" sz="1200" u="none" cap="none" strike="noStrike">
                          <a:solidFill>
                            <a:srgbClr val="000000"/>
                          </a:solidFill>
                          <a:latin typeface="Poppins"/>
                          <a:ea typeface="Poppins"/>
                          <a:cs typeface="Poppins"/>
                          <a:sym typeface="Poppins"/>
                        </a:rPr>
                        <a:t>Par</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c>
                  <a:txBody>
                    <a:bodyPr/>
                    <a:lstStyle/>
                    <a:p>
                      <a:pPr indent="-216000" lvl="0" marL="216000" marR="0" rtl="0" algn="l">
                        <a:spcBef>
                          <a:spcPts val="0"/>
                        </a:spcBef>
                        <a:spcAft>
                          <a:spcPts val="0"/>
                        </a:spcAft>
                        <a:buClr>
                          <a:srgbClr val="000000"/>
                        </a:buClr>
                        <a:buSzPts val="540"/>
                        <a:buFont typeface="Noto Sans Symbols"/>
                        <a:buChar char="●"/>
                      </a:pPr>
                      <a:r>
                        <a:rPr b="0" lang="pt-BR" sz="1200" u="none" cap="none" strike="noStrike">
                          <a:solidFill>
                            <a:srgbClr val="000000"/>
                          </a:solidFill>
                          <a:latin typeface="Poppins"/>
                          <a:ea typeface="Poppins"/>
                          <a:cs typeface="Poppins"/>
                          <a:sym typeface="Poppins"/>
                        </a:rPr>
                        <a:t>R$</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r>
              <a:tr h="636475">
                <a:tc>
                  <a:txBody>
                    <a:bodyPr/>
                    <a:lstStyle/>
                    <a:p>
                      <a:pPr indent="0" lvl="0" marL="0" marR="0" rtl="0" algn="l">
                        <a:lnSpc>
                          <a:spcPct val="100000"/>
                        </a:lnSpc>
                        <a:spcBef>
                          <a:spcPts val="0"/>
                        </a:spcBef>
                        <a:spcAft>
                          <a:spcPts val="0"/>
                        </a:spcAft>
                        <a:buNone/>
                      </a:pPr>
                      <a:r>
                        <a:rPr b="0" lang="pt-BR" sz="1200" u="none" cap="none" strike="noStrike">
                          <a:latin typeface="Poppins"/>
                          <a:ea typeface="Poppins"/>
                          <a:cs typeface="Poppins"/>
                          <a:sym typeface="Poppins"/>
                        </a:rPr>
                        <a:t>Iluminação – xx projetores de LED 200 W 220 Volts – xx postes galvanizados a fogo</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0" lvl="0" marL="0" marR="0" rtl="0" algn="ctr">
                        <a:lnSpc>
                          <a:spcPct val="100000"/>
                        </a:lnSpc>
                        <a:spcBef>
                          <a:spcPts val="0"/>
                        </a:spcBef>
                        <a:spcAft>
                          <a:spcPts val="0"/>
                        </a:spcAft>
                        <a:buNone/>
                      </a:pPr>
                      <a:r>
                        <a:rPr b="0" lang="pt-BR" sz="1200" u="none" cap="none" strike="noStrike">
                          <a:solidFill>
                            <a:srgbClr val="000000"/>
                          </a:solidFill>
                          <a:latin typeface="Poppins"/>
                          <a:ea typeface="Poppins"/>
                          <a:cs typeface="Poppins"/>
                          <a:sym typeface="Poppins"/>
                        </a:rPr>
                        <a:t>xx</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216000" lvl="0" marL="216000" marR="0" rtl="0" algn="ctr">
                        <a:spcBef>
                          <a:spcPts val="0"/>
                        </a:spcBef>
                        <a:spcAft>
                          <a:spcPts val="0"/>
                        </a:spcAft>
                        <a:buClr>
                          <a:srgbClr val="000000"/>
                        </a:buClr>
                        <a:buSzPts val="540"/>
                        <a:buFont typeface="Noto Sans Symbols"/>
                        <a:buChar char="●"/>
                      </a:pPr>
                      <a:r>
                        <a:rPr b="0" lang="pt-BR" sz="1200" u="none" cap="none" strike="noStrike">
                          <a:latin typeface="Poppins"/>
                          <a:ea typeface="Poppins"/>
                          <a:cs typeface="Poppins"/>
                          <a:sym typeface="Poppins"/>
                        </a:rPr>
                        <a:t>Conjunto</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216000" lvl="0" marL="216000" marR="0" rtl="0" algn="l">
                        <a:spcBef>
                          <a:spcPts val="0"/>
                        </a:spcBef>
                        <a:spcAft>
                          <a:spcPts val="0"/>
                        </a:spcAft>
                        <a:buClr>
                          <a:srgbClr val="000000"/>
                        </a:buClr>
                        <a:buSzPts val="540"/>
                        <a:buFont typeface="Noto Sans Symbols"/>
                        <a:buChar char="●"/>
                      </a:pPr>
                      <a:r>
                        <a:rPr b="0" lang="pt-BR" sz="1200" u="none" cap="none" strike="noStrike">
                          <a:latin typeface="Poppins"/>
                          <a:ea typeface="Poppins"/>
                          <a:cs typeface="Poppins"/>
                          <a:sym typeface="Poppins"/>
                        </a:rPr>
                        <a:t>R$</a:t>
                      </a:r>
                      <a:endParaRPr b="0" sz="1200" u="none" cap="none" strike="noStrike">
                        <a:latin typeface="Times New Roman"/>
                        <a:ea typeface="Times New Roman"/>
                        <a:cs typeface="Times New Roman"/>
                        <a:sym typeface="Times New Roman"/>
                      </a:endParaRPr>
                    </a:p>
                  </a:txBody>
                  <a:tcPr marT="45725" marB="45725" marR="91450" marL="91450">
                    <a:solidFill>
                      <a:srgbClr val="4472C4"/>
                    </a:solidFill>
                  </a:tcPr>
                </a:tc>
              </a:tr>
              <a:tr h="636475">
                <a:tc>
                  <a:txBody>
                    <a:bodyPr/>
                    <a:lstStyle/>
                    <a:p>
                      <a:pPr indent="0" lvl="0" marL="0" marR="0" rtl="0" algn="l">
                        <a:lnSpc>
                          <a:spcPct val="100000"/>
                        </a:lnSpc>
                        <a:spcBef>
                          <a:spcPts val="0"/>
                        </a:spcBef>
                        <a:spcAft>
                          <a:spcPts val="0"/>
                        </a:spcAft>
                        <a:buNone/>
                      </a:pPr>
                      <a:r>
                        <a:rPr b="0" lang="pt-BR" sz="1200" u="none" cap="none" strike="noStrike">
                          <a:solidFill>
                            <a:srgbClr val="000000"/>
                          </a:solidFill>
                          <a:latin typeface="Poppins"/>
                          <a:ea typeface="Poppins"/>
                          <a:cs typeface="Poppins"/>
                          <a:sym typeface="Poppins"/>
                        </a:rPr>
                        <a:t>Tela de Proteção Superior</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c>
                  <a:txBody>
                    <a:bodyPr/>
                    <a:lstStyle/>
                    <a:p>
                      <a:pPr indent="-216000" lvl="0" marL="216000" marR="0" rtl="0" algn="ctr">
                        <a:spcBef>
                          <a:spcPts val="0"/>
                        </a:spcBef>
                        <a:spcAft>
                          <a:spcPts val="0"/>
                        </a:spcAft>
                        <a:buClr>
                          <a:srgbClr val="000000"/>
                        </a:buClr>
                        <a:buSzPts val="540"/>
                        <a:buFont typeface="Noto Sans Symbols"/>
                        <a:buChar char="●"/>
                      </a:pPr>
                      <a:r>
                        <a:rPr b="0" lang="pt-BR" sz="1200" u="none" cap="none" strike="noStrike">
                          <a:solidFill>
                            <a:srgbClr val="000000"/>
                          </a:solidFill>
                          <a:latin typeface="Poppins"/>
                          <a:ea typeface="Poppins"/>
                          <a:cs typeface="Poppins"/>
                          <a:sym typeface="Poppins"/>
                        </a:rPr>
                        <a:t>xx</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c>
                  <a:txBody>
                    <a:bodyPr/>
                    <a:lstStyle/>
                    <a:p>
                      <a:pPr indent="-216000" lvl="0" marL="216000" marR="0" rtl="0" algn="ctr">
                        <a:spcBef>
                          <a:spcPts val="0"/>
                        </a:spcBef>
                        <a:spcAft>
                          <a:spcPts val="0"/>
                        </a:spcAft>
                        <a:buClr>
                          <a:srgbClr val="000000"/>
                        </a:buClr>
                        <a:buSzPts val="540"/>
                        <a:buFont typeface="Noto Sans Symbols"/>
                        <a:buChar char="●"/>
                      </a:pPr>
                      <a:r>
                        <a:rPr b="0" lang="pt-BR" sz="1200" u="none" cap="none" strike="noStrike">
                          <a:solidFill>
                            <a:srgbClr val="000000"/>
                          </a:solidFill>
                          <a:latin typeface="Poppins"/>
                          <a:ea typeface="Poppins"/>
                          <a:cs typeface="Poppins"/>
                          <a:sym typeface="Poppins"/>
                        </a:rPr>
                        <a:t>m²</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c>
                  <a:txBody>
                    <a:bodyPr/>
                    <a:lstStyle/>
                    <a:p>
                      <a:pPr indent="-216000" lvl="0" marL="216000" marR="0" rtl="0" algn="l">
                        <a:spcBef>
                          <a:spcPts val="0"/>
                        </a:spcBef>
                        <a:spcAft>
                          <a:spcPts val="0"/>
                        </a:spcAft>
                        <a:buClr>
                          <a:srgbClr val="000000"/>
                        </a:buClr>
                        <a:buSzPts val="540"/>
                        <a:buFont typeface="Noto Sans Symbols"/>
                        <a:buChar char="●"/>
                      </a:pPr>
                      <a:r>
                        <a:rPr b="0" lang="pt-BR" sz="1200" u="none" cap="none" strike="noStrike">
                          <a:solidFill>
                            <a:srgbClr val="000000"/>
                          </a:solidFill>
                          <a:latin typeface="Poppins"/>
                          <a:ea typeface="Poppins"/>
                          <a:cs typeface="Poppins"/>
                          <a:sym typeface="Poppins"/>
                        </a:rPr>
                        <a:t>R$</a:t>
                      </a:r>
                      <a:endParaRPr b="0" sz="1200" u="none" cap="none" strike="noStrike">
                        <a:solidFill>
                          <a:srgbClr val="000000"/>
                        </a:solidFill>
                        <a:latin typeface="Arial"/>
                        <a:ea typeface="Arial"/>
                        <a:cs typeface="Arial"/>
                        <a:sym typeface="Arial"/>
                      </a:endParaRPr>
                    </a:p>
                  </a:txBody>
                  <a:tcPr marT="45725" marB="45725" marR="91450" marL="91450">
                    <a:solidFill>
                      <a:srgbClr val="4472C4"/>
                    </a:solidFill>
                  </a:tcPr>
                </a:tc>
              </a:tr>
              <a:tr h="637200">
                <a:tc>
                  <a:txBody>
                    <a:bodyPr/>
                    <a:lstStyle/>
                    <a:p>
                      <a:pPr indent="-216000" lvl="0" marL="216000" marR="0" rtl="0" algn="l">
                        <a:spcBef>
                          <a:spcPts val="0"/>
                        </a:spcBef>
                        <a:spcAft>
                          <a:spcPts val="0"/>
                        </a:spcAft>
                        <a:buClr>
                          <a:srgbClr val="000000"/>
                        </a:buClr>
                        <a:buSzPts val="630"/>
                        <a:buFont typeface="Noto Sans Symbols"/>
                        <a:buChar char="●"/>
                      </a:pPr>
                      <a:r>
                        <a:rPr b="1" lang="pt-BR" sz="1400" u="none" cap="none" strike="noStrike">
                          <a:solidFill>
                            <a:srgbClr val="FF0000"/>
                          </a:solidFill>
                          <a:latin typeface="Poppins"/>
                          <a:ea typeface="Poppins"/>
                          <a:cs typeface="Poppins"/>
                          <a:sym typeface="Poppins"/>
                        </a:rPr>
                        <a:t>VALOR TOTAL</a:t>
                      </a:r>
                      <a:endParaRPr b="0" sz="1400" u="none" cap="none" strike="noStrike">
                        <a:latin typeface="Times New Roman"/>
                        <a:ea typeface="Times New Roman"/>
                        <a:cs typeface="Times New Roman"/>
                        <a:sym typeface="Times New Roman"/>
                      </a:endParaRPr>
                    </a:p>
                  </a:txBody>
                  <a:tcPr marT="45725" marB="45725" marR="91450" marL="91450">
                    <a:solidFill>
                      <a:srgbClr val="4472C4"/>
                    </a:solidFill>
                  </a:tcPr>
                </a:tc>
                <a:tc>
                  <a:txBody>
                    <a:bodyPr/>
                    <a:lstStyle/>
                    <a:p>
                      <a:pPr indent="0" lvl="0" marL="0" rtl="0" algn="l">
                        <a:spcBef>
                          <a:spcPts val="0"/>
                        </a:spcBef>
                        <a:spcAft>
                          <a:spcPts val="0"/>
                        </a:spcAft>
                        <a:buNone/>
                      </a:pPr>
                      <a:r>
                        <a:t/>
                      </a:r>
                      <a:endParaRPr/>
                    </a:p>
                  </a:txBody>
                  <a:tcPr marT="91425" marB="91425" marR="91425" marL="91425">
                    <a:solidFill>
                      <a:srgbClr val="4472C4"/>
                    </a:solidFill>
                  </a:tcPr>
                </a:tc>
                <a:tc>
                  <a:txBody>
                    <a:bodyPr/>
                    <a:lstStyle/>
                    <a:p>
                      <a:pPr indent="0" lvl="0" marL="0" rtl="0" algn="l">
                        <a:spcBef>
                          <a:spcPts val="0"/>
                        </a:spcBef>
                        <a:spcAft>
                          <a:spcPts val="0"/>
                        </a:spcAft>
                        <a:buNone/>
                      </a:pPr>
                      <a:r>
                        <a:t/>
                      </a:r>
                      <a:endParaRPr/>
                    </a:p>
                  </a:txBody>
                  <a:tcPr marT="91425" marB="91425" marR="91425" marL="91425">
                    <a:solidFill>
                      <a:srgbClr val="4472C4"/>
                    </a:solidFill>
                  </a:tcPr>
                </a:tc>
                <a:tc>
                  <a:txBody>
                    <a:bodyPr/>
                    <a:lstStyle/>
                    <a:p>
                      <a:pPr indent="-216000" lvl="0" marL="216000" marR="0" rtl="0" algn="l">
                        <a:spcBef>
                          <a:spcPts val="0"/>
                        </a:spcBef>
                        <a:spcAft>
                          <a:spcPts val="0"/>
                        </a:spcAft>
                        <a:buClr>
                          <a:srgbClr val="000000"/>
                        </a:buClr>
                        <a:buSzPts val="630"/>
                        <a:buFont typeface="Noto Sans Symbols"/>
                        <a:buChar char="●"/>
                      </a:pPr>
                      <a:r>
                        <a:rPr b="1" lang="pt-BR" sz="1400" u="none" cap="none" strike="noStrike">
                          <a:solidFill>
                            <a:srgbClr val="FF0000"/>
                          </a:solidFill>
                          <a:latin typeface="Poppins"/>
                          <a:ea typeface="Poppins"/>
                          <a:cs typeface="Poppins"/>
                          <a:sym typeface="Poppins"/>
                        </a:rPr>
                        <a:t>R$</a:t>
                      </a:r>
                      <a:endParaRPr b="0" sz="1400" u="none" cap="none" strike="noStrike">
                        <a:latin typeface="Times New Roman"/>
                        <a:ea typeface="Times New Roman"/>
                        <a:cs typeface="Times New Roman"/>
                        <a:sym typeface="Times New Roman"/>
                      </a:endParaRPr>
                    </a:p>
                  </a:txBody>
                  <a:tcPr marT="45725" marB="45725" marR="91450" marL="91450">
                    <a:solidFill>
                      <a:srgbClr val="4472C4"/>
                    </a:solidFill>
                  </a:tcPr>
                </a:tc>
              </a:tr>
            </a:tbl>
          </a:graphicData>
        </a:graphic>
      </p:graphicFrame>
      <p:sp>
        <p:nvSpPr>
          <p:cNvPr id="415" name="Google Shape;415;p33"/>
          <p:cNvSpPr txBox="1"/>
          <p:nvPr/>
        </p:nvSpPr>
        <p:spPr>
          <a:xfrm>
            <a:off x="4058640" y="6003360"/>
            <a:ext cx="6362640" cy="3654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pt-BR" sz="1200" u="none" cap="none" strike="noStrike">
                <a:solidFill>
                  <a:srgbClr val="FF0000"/>
                </a:solidFill>
                <a:latin typeface="Poppins"/>
                <a:ea typeface="Poppins"/>
                <a:cs typeface="Poppins"/>
                <a:sym typeface="Poppins"/>
              </a:rPr>
              <a:t>***Valores válidos somente para contratação simultânea dos serviços.</a:t>
            </a:r>
            <a:endParaRPr b="0" i="0" sz="1200" u="none" cap="none"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