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Poppins"/>
      <p:bold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r/5VbwD5HOP6Up5X8o4cRD/ch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1E40585-C4F1-4EAA-9EBD-67F35130A50B}">
  <a:tblStyle styleId="{51E40585-C4F1-4EAA-9EBD-67F35130A50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oppins-bold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font" Target="fonts/Poppi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13fd3e136_0_862:notes"/>
          <p:cNvSpPr txBox="1"/>
          <p:nvPr>
            <p:ph idx="1" type="body"/>
          </p:nvPr>
        </p:nvSpPr>
        <p:spPr>
          <a:xfrm>
            <a:off x="685801" y="4400555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g3e13fd3e136_0_862:notes"/>
          <p:cNvSpPr/>
          <p:nvPr>
            <p:ph idx="2" type="sldImg"/>
          </p:nvPr>
        </p:nvSpPr>
        <p:spPr>
          <a:xfrm>
            <a:off x="426022" y="1143550"/>
            <a:ext cx="60060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13fd3e136_0_869:notes"/>
          <p:cNvSpPr/>
          <p:nvPr>
            <p:ph idx="2" type="sldImg"/>
          </p:nvPr>
        </p:nvSpPr>
        <p:spPr>
          <a:xfrm>
            <a:off x="426022" y="1143550"/>
            <a:ext cx="60060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g3e13fd3e136_0_869:notes"/>
          <p:cNvSpPr txBox="1"/>
          <p:nvPr>
            <p:ph idx="1" type="body"/>
          </p:nvPr>
        </p:nvSpPr>
        <p:spPr>
          <a:xfrm>
            <a:off x="685801" y="4400555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en-US"/>
              <a:t>MEXER APENAS NAS INFORMAÇÕES EM PRETO, NÚMERO DA PROPOSTA E DATAS.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br>
              <a:rPr b="1" lang="en-US"/>
            </a:br>
            <a:r>
              <a:rPr lang="en-US"/>
              <a:t>NÃO DESCONFIGURAR NADA!</a:t>
            </a:r>
            <a:br>
              <a:rPr lang="en-US"/>
            </a:br>
            <a:r>
              <a:rPr lang="en-US"/>
              <a:t>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g3e13fd3e136_0_869:notes"/>
          <p:cNvSpPr txBox="1"/>
          <p:nvPr>
            <p:ph idx="12" type="sldNum"/>
          </p:nvPr>
        </p:nvSpPr>
        <p:spPr>
          <a:xfrm>
            <a:off x="3884613" y="868522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13fd3e136_0_883:notes"/>
          <p:cNvSpPr/>
          <p:nvPr>
            <p:ph idx="2" type="sldImg"/>
          </p:nvPr>
        </p:nvSpPr>
        <p:spPr>
          <a:xfrm>
            <a:off x="426022" y="1143550"/>
            <a:ext cx="60060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3e13fd3e136_0_883:notes"/>
          <p:cNvSpPr txBox="1"/>
          <p:nvPr>
            <p:ph idx="1" type="body"/>
          </p:nvPr>
        </p:nvSpPr>
        <p:spPr>
          <a:xfrm>
            <a:off x="685801" y="4400555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en-US"/>
              <a:t>MEXER APENAS NAS INFORMAÇÕES EM PRETO, NÚMERO DA PROPOSTA E DATAS.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br>
              <a:rPr b="1" lang="en-US"/>
            </a:br>
            <a:r>
              <a:rPr lang="en-US"/>
              <a:t>NÃO DESCONFIGURAR NADA!</a:t>
            </a:r>
            <a:br>
              <a:rPr lang="en-US"/>
            </a:br>
            <a:r>
              <a:rPr lang="en-US"/>
              <a:t>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e13fd3e136_0_883:notes"/>
          <p:cNvSpPr txBox="1"/>
          <p:nvPr>
            <p:ph idx="12" type="sldNum"/>
          </p:nvPr>
        </p:nvSpPr>
        <p:spPr>
          <a:xfrm>
            <a:off x="3884613" y="868522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13fd3e136_0_897:notes"/>
          <p:cNvSpPr/>
          <p:nvPr>
            <p:ph idx="2" type="sldImg"/>
          </p:nvPr>
        </p:nvSpPr>
        <p:spPr>
          <a:xfrm>
            <a:off x="426022" y="1143550"/>
            <a:ext cx="60060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3e13fd3e136_0_897:notes"/>
          <p:cNvSpPr txBox="1"/>
          <p:nvPr>
            <p:ph idx="1" type="body"/>
          </p:nvPr>
        </p:nvSpPr>
        <p:spPr>
          <a:xfrm>
            <a:off x="685801" y="4400555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en-US"/>
              <a:t>MEXER APENAS NAS INFORMAÇÕES EM PRETO, NÚMERO DA PROPOSTA E DATAS.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br>
              <a:rPr b="1" lang="en-US"/>
            </a:br>
            <a:r>
              <a:rPr lang="en-US"/>
              <a:t>NÃO DESCONFIGURAR NADA!</a:t>
            </a:r>
            <a:br>
              <a:rPr lang="en-US"/>
            </a:br>
            <a:r>
              <a:rPr lang="en-US"/>
              <a:t>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e13fd3e136_0_897:notes"/>
          <p:cNvSpPr txBox="1"/>
          <p:nvPr>
            <p:ph idx="12" type="sldNum"/>
          </p:nvPr>
        </p:nvSpPr>
        <p:spPr>
          <a:xfrm>
            <a:off x="3884613" y="868522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13fd3e136_0_914:notes"/>
          <p:cNvSpPr/>
          <p:nvPr>
            <p:ph idx="2" type="sldImg"/>
          </p:nvPr>
        </p:nvSpPr>
        <p:spPr>
          <a:xfrm>
            <a:off x="426022" y="1143550"/>
            <a:ext cx="60060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e13fd3e136_0_914:notes"/>
          <p:cNvSpPr txBox="1"/>
          <p:nvPr>
            <p:ph idx="1" type="body"/>
          </p:nvPr>
        </p:nvSpPr>
        <p:spPr>
          <a:xfrm>
            <a:off x="685801" y="4400555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en-US"/>
              <a:t>MEXER APENAS NAS INFORMAÇÕES EM PRETO, NÚMERO DA PROPOSTA E DATAS.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br>
              <a:rPr b="1" lang="en-US"/>
            </a:br>
            <a:r>
              <a:rPr lang="en-US"/>
              <a:t>NÃO DESCONFIGURAR NADA!</a:t>
            </a:r>
            <a:br>
              <a:rPr lang="en-US"/>
            </a:br>
            <a:r>
              <a:rPr lang="en-US"/>
              <a:t>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e13fd3e136_0_914:notes"/>
          <p:cNvSpPr txBox="1"/>
          <p:nvPr>
            <p:ph idx="12" type="sldNum"/>
          </p:nvPr>
        </p:nvSpPr>
        <p:spPr>
          <a:xfrm>
            <a:off x="3884613" y="868522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13fd3e136_0_930:notes"/>
          <p:cNvSpPr/>
          <p:nvPr>
            <p:ph idx="2" type="sldImg"/>
          </p:nvPr>
        </p:nvSpPr>
        <p:spPr>
          <a:xfrm>
            <a:off x="426022" y="1143550"/>
            <a:ext cx="60060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3e13fd3e136_0_930:notes"/>
          <p:cNvSpPr txBox="1"/>
          <p:nvPr>
            <p:ph idx="1" type="body"/>
          </p:nvPr>
        </p:nvSpPr>
        <p:spPr>
          <a:xfrm>
            <a:off x="685801" y="4400555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en-US"/>
              <a:t>MEXER APENAS NAS INFORMAÇÕES EM PRETO, NÚMERO DA PROPOSTA E DATAS.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br>
              <a:rPr b="1" lang="en-US"/>
            </a:br>
            <a:r>
              <a:rPr lang="en-US"/>
              <a:t>NÃO DESCONFIGURAR NADA!</a:t>
            </a:r>
            <a:br>
              <a:rPr lang="en-US"/>
            </a:br>
            <a:endParaRPr/>
          </a:p>
        </p:txBody>
      </p:sp>
      <p:sp>
        <p:nvSpPr>
          <p:cNvPr id="145" name="Google Shape;145;g3e13fd3e136_0_930:notes"/>
          <p:cNvSpPr txBox="1"/>
          <p:nvPr>
            <p:ph idx="12" type="sldNum"/>
          </p:nvPr>
        </p:nvSpPr>
        <p:spPr>
          <a:xfrm>
            <a:off x="3884613" y="868522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e13fd3e136_0_945:notes"/>
          <p:cNvSpPr/>
          <p:nvPr>
            <p:ph idx="2" type="sldImg"/>
          </p:nvPr>
        </p:nvSpPr>
        <p:spPr>
          <a:xfrm>
            <a:off x="426022" y="1143550"/>
            <a:ext cx="60060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g3e13fd3e136_0_945:notes"/>
          <p:cNvSpPr txBox="1"/>
          <p:nvPr>
            <p:ph idx="1" type="body"/>
          </p:nvPr>
        </p:nvSpPr>
        <p:spPr>
          <a:xfrm>
            <a:off x="685801" y="4400555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en-US"/>
              <a:t>MEXER APENAS NAS INFORMAÇÕES EM PRETO, NÚMERO DA PROPOSTA E DATAS.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br>
              <a:rPr b="1" lang="en-US"/>
            </a:br>
            <a:r>
              <a:rPr lang="en-US"/>
              <a:t>NÃO DESCONFIGURAR NADA!</a:t>
            </a:r>
            <a:br>
              <a:rPr lang="en-US"/>
            </a:br>
            <a:r>
              <a:rPr lang="en-US"/>
              <a:t>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e13fd3e136_0_945:notes"/>
          <p:cNvSpPr txBox="1"/>
          <p:nvPr>
            <p:ph idx="12" type="sldNum"/>
          </p:nvPr>
        </p:nvSpPr>
        <p:spPr>
          <a:xfrm>
            <a:off x="3884613" y="868522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1" name="Google Shape;11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12" name="Google Shape;12;p31"/>
          <p:cNvSpPr txBox="1"/>
          <p:nvPr>
            <p:ph idx="12" type="sldNum"/>
          </p:nvPr>
        </p:nvSpPr>
        <p:spPr>
          <a:xfrm>
            <a:off x="11095181" y="6414762"/>
            <a:ext cx="258620" cy="2483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e0ecafcc09_0_9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15" name="Google Shape;15;g3e0ecafcc09_0_9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g3e0ecafcc09_0_9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g3e0ecafcc09_0_9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g3e0ecafcc09_0_92"/>
          <p:cNvSpPr txBox="1"/>
          <p:nvPr>
            <p:ph idx="12" type="sldNum"/>
          </p:nvPr>
        </p:nvSpPr>
        <p:spPr>
          <a:xfrm>
            <a:off x="8610600" y="6356350"/>
            <a:ext cx="2743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">
  <p:cSld name="TITLE_AND_BODY 2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1" name="Google Shape;21;p3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22" name="Google Shape;22;p32"/>
          <p:cNvSpPr txBox="1"/>
          <p:nvPr>
            <p:ph idx="12" type="sldNum"/>
          </p:nvPr>
        </p:nvSpPr>
        <p:spPr>
          <a:xfrm>
            <a:off x="11095217" y="6414780"/>
            <a:ext cx="258584" cy="2482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3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sz="60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33"/>
          <p:cNvSpPr txBox="1"/>
          <p:nvPr>
            <p:ph idx="1" type="body"/>
          </p:nvPr>
        </p:nvSpPr>
        <p:spPr>
          <a:xfrm>
            <a:off x="1524000" y="3602037"/>
            <a:ext cx="9144000" cy="16557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1pPr>
            <a:lvl2pPr indent="-228600" lvl="1" marL="9144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2pPr>
            <a:lvl3pPr indent="-228600" lvl="2" marL="1371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3pPr>
            <a:lvl4pPr indent="-228600" lvl="3" marL="18288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4pPr>
            <a:lvl5pPr indent="-228600" lvl="4" marL="22860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26" name="Google Shape;26;p33"/>
          <p:cNvSpPr txBox="1"/>
          <p:nvPr>
            <p:ph idx="12" type="sldNum"/>
          </p:nvPr>
        </p:nvSpPr>
        <p:spPr>
          <a:xfrm>
            <a:off x="11095181" y="6414762"/>
            <a:ext cx="258620" cy="2483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4"/>
          <p:cNvSpPr txBox="1"/>
          <p:nvPr>
            <p:ph idx="12" type="sldNum"/>
          </p:nvPr>
        </p:nvSpPr>
        <p:spPr>
          <a:xfrm>
            <a:off x="11095217" y="6414780"/>
            <a:ext cx="258584" cy="2482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5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1" name="Google Shape;31;p35"/>
          <p:cNvSpPr txBox="1"/>
          <p:nvPr>
            <p:ph idx="1" type="body"/>
          </p:nvPr>
        </p:nvSpPr>
        <p:spPr>
          <a:xfrm>
            <a:off x="1524000" y="3602037"/>
            <a:ext cx="9144000" cy="1655765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1pPr>
            <a:lvl2pPr indent="-228600" lvl="1" marL="9144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2pPr>
            <a:lvl3pPr indent="-228600" lvl="2" marL="1371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3pPr>
            <a:lvl4pPr indent="-228600" lvl="3" marL="18288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4pPr>
            <a:lvl5pPr indent="-228600" lvl="4" marL="22860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32" name="Google Shape;32;p35"/>
          <p:cNvSpPr txBox="1"/>
          <p:nvPr>
            <p:ph idx="12" type="sldNum"/>
          </p:nvPr>
        </p:nvSpPr>
        <p:spPr>
          <a:xfrm>
            <a:off x="11095217" y="6414780"/>
            <a:ext cx="258584" cy="2482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5" name="Google Shape;35;p36"/>
          <p:cNvSpPr txBox="1"/>
          <p:nvPr>
            <p:ph idx="1" type="body"/>
          </p:nvPr>
        </p:nvSpPr>
        <p:spPr>
          <a:xfrm>
            <a:off x="831850" y="4589462"/>
            <a:ext cx="10515600" cy="1500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</a:defRPr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36" name="Google Shape;36;p36"/>
          <p:cNvSpPr txBox="1"/>
          <p:nvPr>
            <p:ph idx="12" type="sldNum"/>
          </p:nvPr>
        </p:nvSpPr>
        <p:spPr>
          <a:xfrm>
            <a:off x="11095217" y="6414780"/>
            <a:ext cx="258584" cy="2482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9" name="Google Shape;39;p3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40" name="Google Shape;40;p37"/>
          <p:cNvSpPr txBox="1"/>
          <p:nvPr>
            <p:ph idx="12" type="sldNum"/>
          </p:nvPr>
        </p:nvSpPr>
        <p:spPr>
          <a:xfrm>
            <a:off x="11095217" y="6414780"/>
            <a:ext cx="258584" cy="2482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8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3" name="Google Shape;43;p38"/>
          <p:cNvSpPr txBox="1"/>
          <p:nvPr>
            <p:ph idx="1" type="body"/>
          </p:nvPr>
        </p:nvSpPr>
        <p:spPr>
          <a:xfrm>
            <a:off x="839787" y="1681163"/>
            <a:ext cx="5157790" cy="823915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44" name="Google Shape;44;p38"/>
          <p:cNvSpPr txBox="1"/>
          <p:nvPr>
            <p:ph idx="2" type="body"/>
          </p:nvPr>
        </p:nvSpPr>
        <p:spPr>
          <a:xfrm>
            <a:off x="6172200" y="1681163"/>
            <a:ext cx="5183188" cy="823914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45" name="Google Shape;45;p38"/>
          <p:cNvSpPr txBox="1"/>
          <p:nvPr>
            <p:ph idx="12" type="sldNum"/>
          </p:nvPr>
        </p:nvSpPr>
        <p:spPr>
          <a:xfrm>
            <a:off x="11095217" y="6414780"/>
            <a:ext cx="258584" cy="2482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8" name="Google Shape;48;p39"/>
          <p:cNvSpPr txBox="1"/>
          <p:nvPr>
            <p:ph idx="12" type="sldNum"/>
          </p:nvPr>
        </p:nvSpPr>
        <p:spPr>
          <a:xfrm>
            <a:off x="11095217" y="6414780"/>
            <a:ext cx="258584" cy="2482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0"/>
          <p:cNvSpPr txBox="1"/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1" name="Google Shape;51;p40"/>
          <p:cNvSpPr txBox="1"/>
          <p:nvPr>
            <p:ph idx="1" type="body"/>
          </p:nvPr>
        </p:nvSpPr>
        <p:spPr>
          <a:xfrm>
            <a:off x="5183187" y="987425"/>
            <a:ext cx="6172203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318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2pPr>
            <a:lvl3pPr indent="-4318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3pPr>
            <a:lvl4pPr indent="-4318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4pPr>
            <a:lvl5pPr indent="-4318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52" name="Google Shape;52;p40"/>
          <p:cNvSpPr txBox="1"/>
          <p:nvPr>
            <p:ph idx="2" type="body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53" name="Google Shape;53;p40"/>
          <p:cNvSpPr txBox="1"/>
          <p:nvPr>
            <p:ph idx="12" type="sldNum"/>
          </p:nvPr>
        </p:nvSpPr>
        <p:spPr>
          <a:xfrm>
            <a:off x="11095217" y="6414780"/>
            <a:ext cx="258584" cy="2482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1"/>
          <p:cNvSpPr txBox="1"/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6" name="Google Shape;56;p41"/>
          <p:cNvSpPr/>
          <p:nvPr>
            <p:ph idx="2" type="pic"/>
          </p:nvPr>
        </p:nvSpPr>
        <p:spPr>
          <a:xfrm>
            <a:off x="5183187" y="987425"/>
            <a:ext cx="6172203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41"/>
          <p:cNvSpPr txBox="1"/>
          <p:nvPr>
            <p:ph idx="1" type="body"/>
          </p:nvPr>
        </p:nvSpPr>
        <p:spPr>
          <a:xfrm>
            <a:off x="839787" y="2057400"/>
            <a:ext cx="3932240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58" name="Google Shape;58;p41"/>
          <p:cNvSpPr txBox="1"/>
          <p:nvPr>
            <p:ph idx="12" type="sldNum"/>
          </p:nvPr>
        </p:nvSpPr>
        <p:spPr>
          <a:xfrm>
            <a:off x="11095217" y="6414780"/>
            <a:ext cx="258584" cy="2482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e13fd3e136_0_693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61" name="Google Shape;61;g3e13fd3e136_0_693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62" name="Google Shape;62;g3e13fd3e136_0_69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g3e13fd3e136_0_69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g3e13fd3e136_0_693"/>
          <p:cNvSpPr txBox="1"/>
          <p:nvPr>
            <p:ph idx="12" type="sldNum"/>
          </p:nvPr>
        </p:nvSpPr>
        <p:spPr>
          <a:xfrm>
            <a:off x="8610600" y="6356350"/>
            <a:ext cx="2743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 type="blank">
  <p:cSld name="BLANK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13fd3e136_0_69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g3e13fd3e136_0_69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g3e13fd3e136_0_699"/>
          <p:cNvSpPr txBox="1"/>
          <p:nvPr>
            <p:ph idx="12" type="sldNum"/>
          </p:nvPr>
        </p:nvSpPr>
        <p:spPr>
          <a:xfrm>
            <a:off x="8610600" y="6356350"/>
            <a:ext cx="2743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3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06400" lvl="2" marL="1371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06400" lvl="3" marL="1828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6400" lvl="4" marL="2286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06400" lvl="5" marL="2743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06400" lvl="6" marL="3200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06400" lvl="7" marL="3657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06400" lvl="8" marL="4114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0"/>
          <p:cNvSpPr txBox="1"/>
          <p:nvPr>
            <p:ph idx="12" type="sldNum"/>
          </p:nvPr>
        </p:nvSpPr>
        <p:spPr>
          <a:xfrm>
            <a:off x="11095217" y="6414780"/>
            <a:ext cx="258584" cy="2482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ma imagem contendo cerca, ao ar livre, neve, atletismo&#10;&#10;Descrição gerada automaticamente" id="73" name="Google Shape;73;g3e13fd3e136_0_8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"/>
            <a:ext cx="12191998" cy="6857998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g3e13fd3e136_0_862"/>
          <p:cNvSpPr txBox="1"/>
          <p:nvPr/>
        </p:nvSpPr>
        <p:spPr>
          <a:xfrm>
            <a:off x="900545" y="2921168"/>
            <a:ext cx="10390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Poppins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QUADRA DE BEACH TENNIS</a:t>
            </a:r>
            <a:endParaRPr b="1" i="0" sz="60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Desenho de um círculo&#10;&#10;Descrição gerada automaticamente com confiança baixa" id="75" name="Google Shape;75;g3e13fd3e136_0_8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2671" y="175510"/>
            <a:ext cx="806652" cy="7772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senho de um cachorro&#10;&#10;Descrição gerada automaticamente" id="76" name="Google Shape;76;g3e13fd3e136_0_86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76192" y="6259630"/>
            <a:ext cx="1344060" cy="3159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13fd3e136_0_869"/>
          <p:cNvSpPr txBox="1"/>
          <p:nvPr>
            <p:ph idx="1" type="body"/>
          </p:nvPr>
        </p:nvSpPr>
        <p:spPr>
          <a:xfrm>
            <a:off x="2104811" y="1399922"/>
            <a:ext cx="9671700" cy="51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•"/>
            </a:pP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Execução de mureta perimetral com 40cm de altura para contenção da areia;</a:t>
            </a:r>
            <a:endParaRPr/>
          </a:p>
          <a:p>
            <a:pPr indent="-228600" lvl="0" marL="2286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•"/>
            </a:pPr>
            <a:r>
              <a:rPr lang="en-US" sz="1200">
                <a:solidFill>
                  <a:srgbClr val="1E1E1E"/>
                </a:solidFill>
                <a:latin typeface="Poppins"/>
                <a:ea typeface="Poppins"/>
                <a:cs typeface="Poppins"/>
                <a:sym typeface="Poppins"/>
              </a:rPr>
              <a:t>Abertura de valas para execução de drenos subterrâneos com largura e profundidade variáveis para boa captação das águas pluviais com drenos envelopados com manta de bidim e pedra n 01;</a:t>
            </a:r>
            <a:endParaRPr/>
          </a:p>
          <a:p>
            <a:pPr indent="-228600" lvl="0" marL="2286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•"/>
            </a:pPr>
            <a:r>
              <a:rPr lang="en-US" sz="1200">
                <a:solidFill>
                  <a:srgbClr val="1E1E1E"/>
                </a:solidFill>
                <a:latin typeface="Poppins"/>
                <a:ea typeface="Poppins"/>
                <a:cs typeface="Poppins"/>
                <a:sym typeface="Poppins"/>
              </a:rPr>
              <a:t>Aplicação de camada de 15cm de brita n 01 em toda área da quadra;</a:t>
            </a:r>
            <a:endParaRPr/>
          </a:p>
          <a:p>
            <a:pPr indent="-228600" lvl="0" marL="2286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•"/>
            </a:pPr>
            <a:r>
              <a:rPr lang="en-US" sz="1200">
                <a:solidFill>
                  <a:srgbClr val="1E1E1E"/>
                </a:solidFill>
                <a:latin typeface="Poppins"/>
                <a:ea typeface="Poppins"/>
                <a:cs typeface="Poppins"/>
                <a:sym typeface="Poppins"/>
              </a:rPr>
              <a:t>Aplicação de manta geotêxtil de bidim em toda área da quadra;</a:t>
            </a:r>
            <a:endParaRPr/>
          </a:p>
          <a:p>
            <a:pPr indent="-228600" lvl="0" marL="2286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•"/>
            </a:pPr>
            <a:r>
              <a:rPr lang="en-US" sz="1200">
                <a:solidFill>
                  <a:srgbClr val="1E1E1E"/>
                </a:solidFill>
                <a:latin typeface="Poppins"/>
                <a:ea typeface="Poppins"/>
                <a:cs typeface="Poppins"/>
                <a:sym typeface="Poppins"/>
              </a:rPr>
              <a:t>Fornecimento e nivelamento de </a:t>
            </a:r>
            <a:r>
              <a:rPr b="1" lang="en-US" sz="1200">
                <a:solidFill>
                  <a:srgbClr val="1E1E1E"/>
                </a:solidFill>
                <a:latin typeface="Poppins"/>
                <a:ea typeface="Poppins"/>
                <a:cs typeface="Poppins"/>
                <a:sym typeface="Poppins"/>
              </a:rPr>
              <a:t>areia de rio lavada </a:t>
            </a:r>
            <a:r>
              <a:rPr lang="en-US" sz="1200">
                <a:solidFill>
                  <a:srgbClr val="1E1E1E"/>
                </a:solidFill>
                <a:latin typeface="Poppins"/>
                <a:ea typeface="Poppins"/>
                <a:cs typeface="Poppins"/>
                <a:sym typeface="Poppins"/>
              </a:rPr>
              <a:t> com espessura média de 20cm de altura ;</a:t>
            </a:r>
            <a:endParaRPr/>
          </a:p>
          <a:p>
            <a:pPr indent="-228600" lvl="0" marL="2286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•"/>
            </a:pP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b="1" lang="en-US" sz="1200">
                <a:latin typeface="Poppins"/>
                <a:ea typeface="Poppins"/>
                <a:cs typeface="Poppins"/>
                <a:sym typeface="Poppins"/>
              </a:rPr>
              <a:t>areia de rio lavada </a:t>
            </a: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é formada pela erosão de rochas e minerais, sendo transportada por correntes de água. Seus grãos são arredondados e lisos, resultando em uma textura suave ao caminhar. Comumente seus grãos são de tamanho médio a fino, ela oferece boa drenagem, evitando poças, mas pode ser menos aderente, aumentando o risco de escorregões. Embora seja uma opção econômica para quadras recreativas, sua durabilidade é inferior à da areia de quartzo, exigindo mais manutenção. Para competições, pode não ser ideal devido à falta de estabilidade. É crucial realizar manutenção regular. A </a:t>
            </a:r>
            <a:r>
              <a:rPr b="1" lang="en-US" sz="1200">
                <a:latin typeface="Poppins"/>
                <a:ea typeface="Poppins"/>
                <a:cs typeface="Poppins"/>
                <a:sym typeface="Poppins"/>
              </a:rPr>
              <a:t>areia de rio lavada</a:t>
            </a: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 úmida pode favorecer o crescimento de fungos, necessitando de monitoramento e limpeza frequentes para evitar problemas.</a:t>
            </a:r>
            <a:endParaRPr/>
          </a:p>
          <a:p>
            <a:pPr indent="-228600" lvl="0" marL="2286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•"/>
            </a:pPr>
            <a:r>
              <a:rPr lang="en-US" sz="1200">
                <a:solidFill>
                  <a:srgbClr val="1E1E1E"/>
                </a:solidFill>
                <a:latin typeface="Poppins"/>
                <a:ea typeface="Poppins"/>
                <a:cs typeface="Poppins"/>
                <a:sym typeface="Poppins"/>
              </a:rPr>
              <a:t>Demarcação com fita de PVC específica para o jogo de areia.</a:t>
            </a:r>
            <a:endParaRPr sz="1200">
              <a:solidFill>
                <a:srgbClr val="65656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" name="Google Shape;83;g3e13fd3e136_0_869"/>
          <p:cNvSpPr/>
          <p:nvPr/>
        </p:nvSpPr>
        <p:spPr>
          <a:xfrm>
            <a:off x="1" y="0"/>
            <a:ext cx="1914600" cy="685800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enho de um círculo&#10;&#10;Descrição gerada automaticamente com confiança baixa" id="84" name="Google Shape;84;g3e13fd3e136_0_8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394" y="322704"/>
            <a:ext cx="622719" cy="600016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g3e13fd3e136_0_869"/>
          <p:cNvSpPr txBox="1"/>
          <p:nvPr/>
        </p:nvSpPr>
        <p:spPr>
          <a:xfrm>
            <a:off x="39778" y="1911638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Projeto</a:t>
            </a:r>
            <a:endParaRPr/>
          </a:p>
        </p:txBody>
      </p:sp>
      <p:sp>
        <p:nvSpPr>
          <p:cNvPr id="86" name="Google Shape;86;g3e13fd3e136_0_869"/>
          <p:cNvSpPr txBox="1"/>
          <p:nvPr/>
        </p:nvSpPr>
        <p:spPr>
          <a:xfrm>
            <a:off x="39778" y="2660340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Pagamento</a:t>
            </a:r>
            <a:endParaRPr/>
          </a:p>
        </p:txBody>
      </p:sp>
      <p:sp>
        <p:nvSpPr>
          <p:cNvPr id="87" name="Google Shape;87;g3e13fd3e136_0_869"/>
          <p:cNvSpPr txBox="1"/>
          <p:nvPr/>
        </p:nvSpPr>
        <p:spPr>
          <a:xfrm>
            <a:off x="39778" y="2285989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Investimento</a:t>
            </a:r>
            <a:endParaRPr/>
          </a:p>
        </p:txBody>
      </p:sp>
      <p:sp>
        <p:nvSpPr>
          <p:cNvPr id="88" name="Google Shape;88;g3e13fd3e136_0_869"/>
          <p:cNvSpPr txBox="1"/>
          <p:nvPr/>
        </p:nvSpPr>
        <p:spPr>
          <a:xfrm>
            <a:off x="39778" y="3034691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Prazos</a:t>
            </a:r>
            <a:endParaRPr/>
          </a:p>
        </p:txBody>
      </p:sp>
      <p:sp>
        <p:nvSpPr>
          <p:cNvPr id="89" name="Google Shape;89;g3e13fd3e136_0_869"/>
          <p:cNvSpPr txBox="1"/>
          <p:nvPr/>
        </p:nvSpPr>
        <p:spPr>
          <a:xfrm>
            <a:off x="39778" y="3409042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Garantia</a:t>
            </a:r>
            <a:endParaRPr/>
          </a:p>
        </p:txBody>
      </p:sp>
      <p:sp>
        <p:nvSpPr>
          <p:cNvPr id="90" name="Google Shape;90;g3e13fd3e136_0_869"/>
          <p:cNvSpPr txBox="1"/>
          <p:nvPr/>
        </p:nvSpPr>
        <p:spPr>
          <a:xfrm>
            <a:off x="39778" y="3783395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Regras </a:t>
            </a:r>
            <a:endParaRPr/>
          </a:p>
        </p:txBody>
      </p:sp>
      <p:sp>
        <p:nvSpPr>
          <p:cNvPr id="91" name="Google Shape;91;g3e13fd3e136_0_869"/>
          <p:cNvSpPr txBox="1"/>
          <p:nvPr/>
        </p:nvSpPr>
        <p:spPr>
          <a:xfrm>
            <a:off x="2104811" y="322704"/>
            <a:ext cx="95736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Poppins"/>
              <a:buNone/>
            </a:pPr>
            <a:r>
              <a:rPr b="1" i="0" lang="en-US" sz="3200" u="none" cap="none" strike="noStrik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Sistema de drenagem, mureta e </a:t>
            </a:r>
            <a:r>
              <a:rPr b="1" i="0" lang="en-US" sz="320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Poppins"/>
                <a:ea typeface="Poppins"/>
                <a:cs typeface="Poppins"/>
                <a:sym typeface="Poppins"/>
              </a:rPr>
              <a:t>areia de rio lavada </a:t>
            </a:r>
            <a:endParaRPr b="1" i="0" sz="2800" u="none" cap="none" strike="noStrike">
              <a:solidFill>
                <a:srgbClr val="FF0000"/>
              </a:solidFill>
              <a:highlight>
                <a:srgbClr val="FFFF00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13fd3e136_0_883"/>
          <p:cNvSpPr txBox="1"/>
          <p:nvPr>
            <p:ph idx="1" type="body"/>
          </p:nvPr>
        </p:nvSpPr>
        <p:spPr>
          <a:xfrm>
            <a:off x="2104812" y="1399923"/>
            <a:ext cx="9753000" cy="51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•"/>
            </a:pP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Execução de mureta perimetral com 40cm de altura para contenção da areia;</a:t>
            </a:r>
            <a:endParaRPr/>
          </a:p>
          <a:p>
            <a:pPr indent="-228600" lvl="0" marL="2286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•"/>
            </a:pPr>
            <a:r>
              <a:rPr lang="en-US" sz="1200">
                <a:solidFill>
                  <a:srgbClr val="1E1E1E"/>
                </a:solidFill>
                <a:latin typeface="Poppins"/>
                <a:ea typeface="Poppins"/>
                <a:cs typeface="Poppins"/>
                <a:sym typeface="Poppins"/>
              </a:rPr>
              <a:t>Abertura de valas para execução de drenos subterrâneos com largura e profundidade variáveis para boa captação das águas pluviais com drenos envelopados com manta de bidim e pedra n 01;</a:t>
            </a:r>
            <a:endParaRPr/>
          </a:p>
          <a:p>
            <a:pPr indent="-228600" lvl="0" marL="2286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•"/>
            </a:pPr>
            <a:r>
              <a:rPr lang="en-US" sz="1200">
                <a:solidFill>
                  <a:srgbClr val="1E1E1E"/>
                </a:solidFill>
                <a:latin typeface="Poppins"/>
                <a:ea typeface="Poppins"/>
                <a:cs typeface="Poppins"/>
                <a:sym typeface="Poppins"/>
              </a:rPr>
              <a:t>Aplicação de camada de 15cm de brita n 01 em toda área da quadra;</a:t>
            </a:r>
            <a:endParaRPr/>
          </a:p>
          <a:p>
            <a:pPr indent="-228600" lvl="0" marL="2286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•"/>
            </a:pPr>
            <a:r>
              <a:rPr lang="en-US" sz="1200">
                <a:solidFill>
                  <a:srgbClr val="1E1E1E"/>
                </a:solidFill>
                <a:latin typeface="Poppins"/>
                <a:ea typeface="Poppins"/>
                <a:cs typeface="Poppins"/>
                <a:sym typeface="Poppins"/>
              </a:rPr>
              <a:t>Aplicação de manta geotêxtil de bidim em toda área da quadra;</a:t>
            </a:r>
            <a:endParaRPr/>
          </a:p>
          <a:p>
            <a:pPr indent="-228600" lvl="0" marL="2286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•"/>
            </a:pPr>
            <a:r>
              <a:rPr lang="en-US" sz="1200">
                <a:solidFill>
                  <a:srgbClr val="1E1E1E"/>
                </a:solidFill>
                <a:latin typeface="Poppins"/>
                <a:ea typeface="Poppins"/>
                <a:cs typeface="Poppins"/>
                <a:sym typeface="Poppins"/>
              </a:rPr>
              <a:t>Fornecimento e colocação de </a:t>
            </a:r>
            <a:r>
              <a:rPr b="1" lang="en-US" sz="1200">
                <a:solidFill>
                  <a:srgbClr val="1E1E1E"/>
                </a:solidFill>
                <a:latin typeface="Poppins"/>
                <a:ea typeface="Poppins"/>
                <a:cs typeface="Poppins"/>
                <a:sym typeface="Poppins"/>
              </a:rPr>
              <a:t>areia de quartzo especial AG 70/80 tratada  </a:t>
            </a:r>
            <a:r>
              <a:rPr lang="en-US" sz="1200">
                <a:solidFill>
                  <a:srgbClr val="1E1E1E"/>
                </a:solidFill>
                <a:latin typeface="Poppins"/>
                <a:ea typeface="Poppins"/>
                <a:cs typeface="Poppins"/>
                <a:sym typeface="Poppins"/>
              </a:rPr>
              <a:t>para prática de Beach Tennis com espessura média altura de 20cm;</a:t>
            </a:r>
            <a:endParaRPr/>
          </a:p>
          <a:p>
            <a:pPr indent="-228600" lvl="0" marL="2286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b="1" lang="en-US" sz="1200">
                <a:latin typeface="Poppins"/>
                <a:ea typeface="Poppins"/>
                <a:cs typeface="Poppins"/>
                <a:sym typeface="Poppins"/>
              </a:rPr>
              <a:t>areia de quartzo</a:t>
            </a: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, composta principalmente de grãos de sílica, é dura e resistente ao desgaste. Seus grãos de tamanho médio a fino angulosos proporcionam boa aderência, reduzindo o risco de escorregões. A areia de quartzo permite boa compactação e estabilidade, além de ter excelentes propriedades de drenagem, evitando acúmulo de água e mantendo a quadra jogável após chuvas. É mais durável que a areia de rio, exigindo menos manutenção, o que a torna ideal para competições e treinos de alto nível. A areia de quartzo passa por um tratamento contra fungos com produtos à base de cloro ou outras soluções antifúngicas.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•"/>
            </a:pPr>
            <a:r>
              <a:rPr lang="en-US" sz="1200">
                <a:solidFill>
                  <a:srgbClr val="1E1E1E"/>
                </a:solidFill>
                <a:latin typeface="Poppins"/>
                <a:ea typeface="Poppins"/>
                <a:cs typeface="Poppins"/>
                <a:sym typeface="Poppins"/>
              </a:rPr>
              <a:t>Demarcação com fita de PVC específica para o jogo de areia.</a:t>
            </a:r>
            <a:endParaRPr/>
          </a:p>
        </p:txBody>
      </p:sp>
      <p:sp>
        <p:nvSpPr>
          <p:cNvPr id="98" name="Google Shape;98;g3e13fd3e136_0_883"/>
          <p:cNvSpPr/>
          <p:nvPr/>
        </p:nvSpPr>
        <p:spPr>
          <a:xfrm>
            <a:off x="1" y="0"/>
            <a:ext cx="1914600" cy="685800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enho de um círculo&#10;&#10;Descrição gerada automaticamente com confiança baixa" id="99" name="Google Shape;99;g3e13fd3e136_0_8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394" y="322704"/>
            <a:ext cx="622719" cy="600016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g3e13fd3e136_0_883"/>
          <p:cNvSpPr txBox="1"/>
          <p:nvPr/>
        </p:nvSpPr>
        <p:spPr>
          <a:xfrm>
            <a:off x="39778" y="1911638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Projeto</a:t>
            </a:r>
            <a:endParaRPr/>
          </a:p>
        </p:txBody>
      </p:sp>
      <p:sp>
        <p:nvSpPr>
          <p:cNvPr id="101" name="Google Shape;101;g3e13fd3e136_0_883"/>
          <p:cNvSpPr txBox="1"/>
          <p:nvPr/>
        </p:nvSpPr>
        <p:spPr>
          <a:xfrm>
            <a:off x="39778" y="2660340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Pagamento</a:t>
            </a:r>
            <a:endParaRPr/>
          </a:p>
        </p:txBody>
      </p:sp>
      <p:sp>
        <p:nvSpPr>
          <p:cNvPr id="102" name="Google Shape;102;g3e13fd3e136_0_883"/>
          <p:cNvSpPr txBox="1"/>
          <p:nvPr/>
        </p:nvSpPr>
        <p:spPr>
          <a:xfrm>
            <a:off x="39778" y="2285989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Investimento</a:t>
            </a:r>
            <a:endParaRPr/>
          </a:p>
        </p:txBody>
      </p:sp>
      <p:sp>
        <p:nvSpPr>
          <p:cNvPr id="103" name="Google Shape;103;g3e13fd3e136_0_883"/>
          <p:cNvSpPr txBox="1"/>
          <p:nvPr/>
        </p:nvSpPr>
        <p:spPr>
          <a:xfrm>
            <a:off x="39778" y="3034691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Prazos</a:t>
            </a:r>
            <a:endParaRPr/>
          </a:p>
        </p:txBody>
      </p:sp>
      <p:sp>
        <p:nvSpPr>
          <p:cNvPr id="104" name="Google Shape;104;g3e13fd3e136_0_883"/>
          <p:cNvSpPr txBox="1"/>
          <p:nvPr/>
        </p:nvSpPr>
        <p:spPr>
          <a:xfrm>
            <a:off x="39778" y="3409042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Garantia</a:t>
            </a:r>
            <a:endParaRPr/>
          </a:p>
        </p:txBody>
      </p:sp>
      <p:sp>
        <p:nvSpPr>
          <p:cNvPr id="105" name="Google Shape;105;g3e13fd3e136_0_883"/>
          <p:cNvSpPr txBox="1"/>
          <p:nvPr/>
        </p:nvSpPr>
        <p:spPr>
          <a:xfrm>
            <a:off x="39778" y="3783395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Regras </a:t>
            </a:r>
            <a:endParaRPr/>
          </a:p>
        </p:txBody>
      </p:sp>
      <p:sp>
        <p:nvSpPr>
          <p:cNvPr id="106" name="Google Shape;106;g3e13fd3e136_0_883"/>
          <p:cNvSpPr txBox="1"/>
          <p:nvPr/>
        </p:nvSpPr>
        <p:spPr>
          <a:xfrm>
            <a:off x="2104812" y="322704"/>
            <a:ext cx="97530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Sistema de drenagem, mureta e </a:t>
            </a:r>
            <a:r>
              <a:rPr b="1" lang="en-US" sz="3200">
                <a:solidFill>
                  <a:srgbClr val="FF0000"/>
                </a:solidFill>
                <a:highlight>
                  <a:srgbClr val="FFFF00"/>
                </a:highlight>
                <a:latin typeface="Poppins"/>
                <a:ea typeface="Poppins"/>
                <a:cs typeface="Poppins"/>
                <a:sym typeface="Poppins"/>
              </a:rPr>
              <a:t>areia de  quartzo especial tratada  </a:t>
            </a:r>
            <a:endParaRPr b="1" sz="2800">
              <a:solidFill>
                <a:srgbClr val="FF0000"/>
              </a:solidFill>
              <a:highlight>
                <a:srgbClr val="FFFF00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13fd3e136_0_897"/>
          <p:cNvSpPr/>
          <p:nvPr/>
        </p:nvSpPr>
        <p:spPr>
          <a:xfrm>
            <a:off x="1" y="0"/>
            <a:ext cx="1914600" cy="685800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enho de um círculo&#10;&#10;Descrição gerada automaticamente com confiança baixa" id="113" name="Google Shape;113;g3e13fd3e136_0_8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394" y="322704"/>
            <a:ext cx="622719" cy="600016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g3e13fd3e136_0_897"/>
          <p:cNvSpPr txBox="1"/>
          <p:nvPr/>
        </p:nvSpPr>
        <p:spPr>
          <a:xfrm>
            <a:off x="39778" y="1911638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Projeto</a:t>
            </a:r>
            <a:endParaRPr/>
          </a:p>
        </p:txBody>
      </p:sp>
      <p:sp>
        <p:nvSpPr>
          <p:cNvPr id="115" name="Google Shape;115;g3e13fd3e136_0_897"/>
          <p:cNvSpPr txBox="1"/>
          <p:nvPr/>
        </p:nvSpPr>
        <p:spPr>
          <a:xfrm>
            <a:off x="39778" y="2660340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Pagamento</a:t>
            </a:r>
            <a:endParaRPr/>
          </a:p>
        </p:txBody>
      </p:sp>
      <p:sp>
        <p:nvSpPr>
          <p:cNvPr id="116" name="Google Shape;116;g3e13fd3e136_0_897"/>
          <p:cNvSpPr txBox="1"/>
          <p:nvPr/>
        </p:nvSpPr>
        <p:spPr>
          <a:xfrm>
            <a:off x="39778" y="2285989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Investimento</a:t>
            </a:r>
            <a:endParaRPr/>
          </a:p>
        </p:txBody>
      </p:sp>
      <p:sp>
        <p:nvSpPr>
          <p:cNvPr id="117" name="Google Shape;117;g3e13fd3e136_0_897"/>
          <p:cNvSpPr txBox="1"/>
          <p:nvPr/>
        </p:nvSpPr>
        <p:spPr>
          <a:xfrm>
            <a:off x="39778" y="3034691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Prazos</a:t>
            </a:r>
            <a:endParaRPr/>
          </a:p>
        </p:txBody>
      </p:sp>
      <p:sp>
        <p:nvSpPr>
          <p:cNvPr id="118" name="Google Shape;118;g3e13fd3e136_0_897"/>
          <p:cNvSpPr txBox="1"/>
          <p:nvPr/>
        </p:nvSpPr>
        <p:spPr>
          <a:xfrm>
            <a:off x="39778" y="3409042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Garantia</a:t>
            </a:r>
            <a:endParaRPr/>
          </a:p>
        </p:txBody>
      </p:sp>
      <p:sp>
        <p:nvSpPr>
          <p:cNvPr id="119" name="Google Shape;119;g3e13fd3e136_0_897"/>
          <p:cNvSpPr txBox="1"/>
          <p:nvPr/>
        </p:nvSpPr>
        <p:spPr>
          <a:xfrm>
            <a:off x="39778" y="3783395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Regras </a:t>
            </a:r>
            <a:endParaRPr/>
          </a:p>
        </p:txBody>
      </p:sp>
      <p:sp>
        <p:nvSpPr>
          <p:cNvPr id="120" name="Google Shape;120;g3e13fd3e136_0_897"/>
          <p:cNvSpPr txBox="1"/>
          <p:nvPr/>
        </p:nvSpPr>
        <p:spPr>
          <a:xfrm>
            <a:off x="2104811" y="322704"/>
            <a:ext cx="3777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Poppins"/>
              <a:buNone/>
            </a:pPr>
            <a:r>
              <a:rPr b="1" i="0" lang="en-US" sz="3200" u="none" cap="none" strike="noStrik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Proteção EVA </a:t>
            </a:r>
            <a:endParaRPr b="1" i="0" sz="2800" u="none" cap="none" strike="noStrike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" name="Google Shape;121;g3e13fd3e136_0_897"/>
          <p:cNvSpPr txBox="1"/>
          <p:nvPr/>
        </p:nvSpPr>
        <p:spPr>
          <a:xfrm>
            <a:off x="2099694" y="907479"/>
            <a:ext cx="4987200" cy="55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30400" lvl="0" marL="230400" marR="0" rtl="0" algn="just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Instalação de manta de EVA para proteção das bordas da mureta em todo perímetro da quadra;</a:t>
            </a:r>
            <a:endParaRPr/>
          </a:p>
          <a:p>
            <a:pPr indent="-230400" lvl="0" marL="230400" marR="0" rtl="0" algn="just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proteção em EVA para quadras de beach tennis é uma solução eficaz para garantir a segurança dos jogadores e prolongar a vida útil da quadra;</a:t>
            </a:r>
            <a:endParaRPr/>
          </a:p>
          <a:p>
            <a:pPr indent="-230400" lvl="0" marL="230400" marR="0" rtl="0" algn="just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EVA possui propriedades de amortecimento que ajudam a absorver impactos, reduzindo o risco de lesões nos jogadores durante as partidas;</a:t>
            </a:r>
            <a:endParaRPr/>
          </a:p>
          <a:p>
            <a:pPr indent="-230400" lvl="0" marL="230400" marR="0" rtl="0" algn="just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textura do EVA proporciona boa aderência, minimizando o risco de escorregões e quedas, especialmente em jogadas rápidas;</a:t>
            </a:r>
            <a:endParaRPr/>
          </a:p>
          <a:p>
            <a:pPr indent="-230400" lvl="0" marL="230400" marR="0" rtl="0" algn="just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material é resistente ao desgaste e às intempéries, mantendo suas propriedades mesmo em condições climáticas adversas, como sol forte ou chuvas;</a:t>
            </a:r>
            <a:endParaRPr/>
          </a:p>
          <a:p>
            <a:pPr indent="-230400" lvl="0" marL="230400" marR="0" rtl="0" algn="just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limpeza e manutenção do EVA são fáceis, exigindo apenas limpeza regular com água e sabão;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3e13fd3e136_0_897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g3e13fd3e136_0_897"/>
          <p:cNvPicPr preferRelativeResize="0"/>
          <p:nvPr/>
        </p:nvPicPr>
        <p:blipFill rotWithShape="1">
          <a:blip r:embed="rId4">
            <a:alphaModFix/>
          </a:blip>
          <a:srcRect b="0" l="0" r="0" t="23130"/>
          <a:stretch/>
        </p:blipFill>
        <p:spPr>
          <a:xfrm>
            <a:off x="7271956" y="4402897"/>
            <a:ext cx="4624290" cy="216555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3e13fd3e136_0_897"/>
          <p:cNvSpPr txBox="1"/>
          <p:nvPr/>
        </p:nvSpPr>
        <p:spPr>
          <a:xfrm>
            <a:off x="7271956" y="922720"/>
            <a:ext cx="4624200" cy="30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30400" lvl="0" marL="230400" marR="0" rtl="0" algn="just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 proteções em EVA podem ser instaladas de forma prática, sendo adaptáveis a diferentes tamanhos e formatos de quadras;</a:t>
            </a:r>
            <a:endParaRPr/>
          </a:p>
          <a:p>
            <a:pPr indent="-230400" lvl="0" marL="230400" marR="0" rtl="0" algn="just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Disponível em várias cores, o EVA pode ser personalizado para se adequar ao estilo da quadra, além de ajudar na demarcação de áreas de jogo;</a:t>
            </a:r>
            <a:endParaRPr/>
          </a:p>
          <a:p>
            <a:pPr indent="-230400" lvl="0" marL="230400" marR="0" rtl="0" algn="just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material também oferece certo isolamento térmico, tornando a superfície mais confortável para os pés, especialmente em dias quentes.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13fd3e136_0_914"/>
          <p:cNvSpPr txBox="1"/>
          <p:nvPr>
            <p:ph idx="1" type="body"/>
          </p:nvPr>
        </p:nvSpPr>
        <p:spPr>
          <a:xfrm>
            <a:off x="2104810" y="922720"/>
            <a:ext cx="9640500" cy="22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•"/>
            </a:pP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Fundos com 4,00m de altura de tela, laterais em sistema trapézio e corrimão com 1,00m de altura de tela;</a:t>
            </a:r>
            <a:endParaRPr/>
          </a:p>
          <a:p>
            <a:pPr indent="-228600" lvl="0" marL="2286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•"/>
            </a:pP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Tubos galvanizados eletroliticamente / a fogo, sendo os tubos verticais com diâmetro de 48,30mm e espessura de 2,25mm e os tubos  horizontais com diâmetro de 42,60mm e espessura de 2,00mm pintados na cor verde;</a:t>
            </a:r>
            <a:endParaRPr/>
          </a:p>
          <a:p>
            <a:pPr indent="-228600" lvl="0" marL="2286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•"/>
            </a:pP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Tela malha 2” x 2” fio 14 revestida em PVC verde;</a:t>
            </a:r>
            <a:endParaRPr/>
          </a:p>
          <a:p>
            <a:pPr indent="-228600" lvl="0" marL="2286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•"/>
            </a:pP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Instalação de travamento superior, inferior, intermediário </a:t>
            </a:r>
            <a:r>
              <a:rPr lang="en-US" sz="1200">
                <a:highlight>
                  <a:srgbClr val="FFFF00"/>
                </a:highlight>
                <a:latin typeface="Poppins"/>
                <a:ea typeface="Poppins"/>
                <a:cs typeface="Poppins"/>
                <a:sym typeface="Poppins"/>
              </a:rPr>
              <a:t>ou</a:t>
            </a: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 sem travamentos;</a:t>
            </a:r>
            <a:endParaRPr/>
          </a:p>
          <a:p>
            <a:pPr indent="-228600" lvl="0" marL="2286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•"/>
            </a:pP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01 portão de acesso com dimensões de 1,00m x 2,00m.</a:t>
            </a:r>
            <a:endParaRPr sz="1200">
              <a:solidFill>
                <a:srgbClr val="65656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1" name="Google Shape;131;g3e13fd3e136_0_914"/>
          <p:cNvSpPr/>
          <p:nvPr/>
        </p:nvSpPr>
        <p:spPr>
          <a:xfrm>
            <a:off x="1" y="0"/>
            <a:ext cx="1914600" cy="685800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enho de um círculo&#10;&#10;Descrição gerada automaticamente com confiança baixa" id="132" name="Google Shape;132;g3e13fd3e136_0_9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394" y="322704"/>
            <a:ext cx="622719" cy="600016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3e13fd3e136_0_914"/>
          <p:cNvSpPr txBox="1"/>
          <p:nvPr/>
        </p:nvSpPr>
        <p:spPr>
          <a:xfrm>
            <a:off x="39778" y="1911638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Projeto</a:t>
            </a:r>
            <a:endParaRPr/>
          </a:p>
        </p:txBody>
      </p:sp>
      <p:sp>
        <p:nvSpPr>
          <p:cNvPr id="134" name="Google Shape;134;g3e13fd3e136_0_914"/>
          <p:cNvSpPr txBox="1"/>
          <p:nvPr/>
        </p:nvSpPr>
        <p:spPr>
          <a:xfrm>
            <a:off x="39778" y="2660340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Pagamento</a:t>
            </a:r>
            <a:endParaRPr/>
          </a:p>
        </p:txBody>
      </p:sp>
      <p:sp>
        <p:nvSpPr>
          <p:cNvPr id="135" name="Google Shape;135;g3e13fd3e136_0_914"/>
          <p:cNvSpPr txBox="1"/>
          <p:nvPr/>
        </p:nvSpPr>
        <p:spPr>
          <a:xfrm>
            <a:off x="39778" y="2285989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Investimento</a:t>
            </a:r>
            <a:endParaRPr/>
          </a:p>
        </p:txBody>
      </p:sp>
      <p:sp>
        <p:nvSpPr>
          <p:cNvPr id="136" name="Google Shape;136;g3e13fd3e136_0_914"/>
          <p:cNvSpPr txBox="1"/>
          <p:nvPr/>
        </p:nvSpPr>
        <p:spPr>
          <a:xfrm>
            <a:off x="39778" y="3034691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Prazos</a:t>
            </a:r>
            <a:endParaRPr/>
          </a:p>
        </p:txBody>
      </p:sp>
      <p:sp>
        <p:nvSpPr>
          <p:cNvPr id="137" name="Google Shape;137;g3e13fd3e136_0_914"/>
          <p:cNvSpPr txBox="1"/>
          <p:nvPr/>
        </p:nvSpPr>
        <p:spPr>
          <a:xfrm>
            <a:off x="39778" y="3409042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Garantia</a:t>
            </a:r>
            <a:endParaRPr/>
          </a:p>
        </p:txBody>
      </p:sp>
      <p:sp>
        <p:nvSpPr>
          <p:cNvPr id="138" name="Google Shape;138;g3e13fd3e136_0_914"/>
          <p:cNvSpPr txBox="1"/>
          <p:nvPr/>
        </p:nvSpPr>
        <p:spPr>
          <a:xfrm>
            <a:off x="39778" y="3783395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Regras </a:t>
            </a:r>
            <a:endParaRPr/>
          </a:p>
        </p:txBody>
      </p:sp>
      <p:sp>
        <p:nvSpPr>
          <p:cNvPr id="139" name="Google Shape;139;g3e13fd3e136_0_914"/>
          <p:cNvSpPr txBox="1"/>
          <p:nvPr/>
        </p:nvSpPr>
        <p:spPr>
          <a:xfrm>
            <a:off x="2104811" y="322704"/>
            <a:ext cx="5210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Alambrado</a:t>
            </a:r>
            <a:endParaRPr b="1" sz="28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0" name="Google Shape;140;g3e13fd3e136_0_914"/>
          <p:cNvSpPr txBox="1"/>
          <p:nvPr/>
        </p:nvSpPr>
        <p:spPr>
          <a:xfrm>
            <a:off x="2104810" y="4504452"/>
            <a:ext cx="9640500" cy="16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08 projetores em módulo de LED 200 W;</a:t>
            </a:r>
            <a:endParaRPr/>
          </a:p>
          <a:p>
            <a:pPr indent="-228600" lvl="0" marL="2286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04 postes telecônicos metálicos, galvanizados a fogo, diâmetro de 114,40mm a 76,00mm e espessura de 2,25mm, com altura livre de 6,00m com pintura especial na cor verde;</a:t>
            </a:r>
            <a:endParaRPr/>
          </a:p>
          <a:p>
            <a:pPr indent="-228600" lvl="0" marL="2286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08 cruzetas simples para 02 projetores, galvanizadas a fogo, com pintura especial na cor verde.</a:t>
            </a:r>
            <a:endParaRPr/>
          </a:p>
        </p:txBody>
      </p:sp>
      <p:sp>
        <p:nvSpPr>
          <p:cNvPr id="141" name="Google Shape;141;g3e13fd3e136_0_914"/>
          <p:cNvSpPr txBox="1"/>
          <p:nvPr/>
        </p:nvSpPr>
        <p:spPr>
          <a:xfrm>
            <a:off x="2104810" y="3869329"/>
            <a:ext cx="5193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Iluminação</a:t>
            </a:r>
            <a:endParaRPr b="1" sz="28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13fd3e136_0_930"/>
          <p:cNvSpPr/>
          <p:nvPr/>
        </p:nvSpPr>
        <p:spPr>
          <a:xfrm>
            <a:off x="1" y="0"/>
            <a:ext cx="1914600" cy="685800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enho de um círculo&#10;&#10;Descrição gerada automaticamente com confiança baixa" id="148" name="Google Shape;148;g3e13fd3e136_0_9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394" y="322704"/>
            <a:ext cx="622719" cy="600016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g3e13fd3e136_0_930"/>
          <p:cNvSpPr txBox="1"/>
          <p:nvPr/>
        </p:nvSpPr>
        <p:spPr>
          <a:xfrm>
            <a:off x="39778" y="1911638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Projeto</a:t>
            </a:r>
            <a:endParaRPr/>
          </a:p>
        </p:txBody>
      </p:sp>
      <p:sp>
        <p:nvSpPr>
          <p:cNvPr id="150" name="Google Shape;150;g3e13fd3e136_0_930"/>
          <p:cNvSpPr txBox="1"/>
          <p:nvPr/>
        </p:nvSpPr>
        <p:spPr>
          <a:xfrm>
            <a:off x="39778" y="2660340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Pagamento</a:t>
            </a:r>
            <a:endParaRPr/>
          </a:p>
        </p:txBody>
      </p:sp>
      <p:sp>
        <p:nvSpPr>
          <p:cNvPr id="151" name="Google Shape;151;g3e13fd3e136_0_930"/>
          <p:cNvSpPr txBox="1"/>
          <p:nvPr/>
        </p:nvSpPr>
        <p:spPr>
          <a:xfrm>
            <a:off x="39778" y="2285989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Investimento</a:t>
            </a:r>
            <a:endParaRPr/>
          </a:p>
        </p:txBody>
      </p:sp>
      <p:sp>
        <p:nvSpPr>
          <p:cNvPr id="152" name="Google Shape;152;g3e13fd3e136_0_930"/>
          <p:cNvSpPr txBox="1"/>
          <p:nvPr/>
        </p:nvSpPr>
        <p:spPr>
          <a:xfrm>
            <a:off x="39778" y="3034691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Prazos</a:t>
            </a:r>
            <a:endParaRPr/>
          </a:p>
        </p:txBody>
      </p:sp>
      <p:sp>
        <p:nvSpPr>
          <p:cNvPr id="153" name="Google Shape;153;g3e13fd3e136_0_930"/>
          <p:cNvSpPr txBox="1"/>
          <p:nvPr/>
        </p:nvSpPr>
        <p:spPr>
          <a:xfrm>
            <a:off x="39778" y="3409042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Garantia</a:t>
            </a:r>
            <a:endParaRPr/>
          </a:p>
        </p:txBody>
      </p:sp>
      <p:sp>
        <p:nvSpPr>
          <p:cNvPr id="154" name="Google Shape;154;g3e13fd3e136_0_930"/>
          <p:cNvSpPr txBox="1"/>
          <p:nvPr/>
        </p:nvSpPr>
        <p:spPr>
          <a:xfrm>
            <a:off x="39778" y="3783395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Regras </a:t>
            </a:r>
            <a:endParaRPr/>
          </a:p>
        </p:txBody>
      </p:sp>
      <p:sp>
        <p:nvSpPr>
          <p:cNvPr id="155" name="Google Shape;155;g3e13fd3e136_0_930"/>
          <p:cNvSpPr txBox="1"/>
          <p:nvPr/>
        </p:nvSpPr>
        <p:spPr>
          <a:xfrm>
            <a:off x="2104811" y="322704"/>
            <a:ext cx="5210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Acessório</a:t>
            </a:r>
            <a:endParaRPr b="1" sz="28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6" name="Google Shape;156;g3e13fd3e136_0_930"/>
          <p:cNvSpPr txBox="1"/>
          <p:nvPr/>
        </p:nvSpPr>
        <p:spPr>
          <a:xfrm>
            <a:off x="2104811" y="922720"/>
            <a:ext cx="9609000" cy="23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Sem  regulagem</a:t>
            </a:r>
            <a:endParaRPr/>
          </a:p>
          <a:p>
            <a:pPr indent="-228600" lvl="0" marL="228600" marR="0" rtl="0" algn="just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Postes em tubo de aço 3", chapa 11, tamanho de 1,07m, galvanizados a fogo, com pintura sintética na cor verde, buchas para fixação no piso, ponteira confeccionada em plástico injetado, catraca ajustável;</a:t>
            </a:r>
            <a:endParaRPr/>
          </a:p>
          <a:p>
            <a:pPr indent="-228600" lvl="0" marL="2286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Rede malha 4 cm, tamanho 12,80m x 1,08m, fio de nylon virgem 2,5mm, 03 lonas, confeccionada em laminado plástico revestida com PVC emborrachado, reforçada com 4 costuras, abraçadeira plástica para facilitar a instalação, cabo de aço para fixação da rede revestido em PVC.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050"/>
              <a:buFont typeface="Arial"/>
              <a:buNone/>
            </a:pPr>
            <a:r>
              <a:t/>
            </a:r>
            <a:endParaRPr sz="1050">
              <a:solidFill>
                <a:srgbClr val="65656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7" name="Google Shape;157;g3e13fd3e136_0_930"/>
          <p:cNvSpPr txBox="1"/>
          <p:nvPr/>
        </p:nvSpPr>
        <p:spPr>
          <a:xfrm>
            <a:off x="2104811" y="3424984"/>
            <a:ext cx="9609000" cy="29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Com  regulagem</a:t>
            </a:r>
            <a:endParaRPr/>
          </a:p>
          <a:p>
            <a:pPr indent="-230400" lvl="3" marL="230400" marR="0" rtl="0" algn="just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Postes confeccionados em tubo de 3”, chapa 3mm, medida de 1,80m e acabamento em pintura PU; acompanha catraca estampada em aço, luvas e tampas galvanizadas;</a:t>
            </a:r>
            <a:endParaRPr/>
          </a:p>
          <a:p>
            <a:pPr indent="-228600" lvl="0" marL="228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05 regulagens (1.70 e 1.80 Beach Tennis, 2.20 Futevôlei, 2.43 ,Vôlei Masculino e 2.24 Vôlei Feminino)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30400" lvl="3" marL="230400" marR="0" rtl="0" algn="just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Rede confeccionada em fio polietileno trançado, com espessura de 2,0mm, malha 4,5cm, 3 lonas em couro sintético, sendo uma superior com protetor em PVC nas extremidades e duas laterais com medidas: 8,50 x 1,10m;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30400" lvl="3" marL="2304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Cabo de aço galvanizado c/ ponteiras metálicas, evitando que o cabo desfie, gancho para engate rápido; espessura de 1/8, medida de 13,00m.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e13fd3e136_0_945"/>
          <p:cNvSpPr txBox="1"/>
          <p:nvPr/>
        </p:nvSpPr>
        <p:spPr>
          <a:xfrm>
            <a:off x="2104811" y="5846366"/>
            <a:ext cx="9108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***Valores válidos somente para contratação simultânea dos serviços.</a:t>
            </a:r>
            <a:endParaRPr/>
          </a:p>
        </p:txBody>
      </p:sp>
      <p:sp>
        <p:nvSpPr>
          <p:cNvPr id="164" name="Google Shape;164;g3e13fd3e136_0_945"/>
          <p:cNvSpPr/>
          <p:nvPr/>
        </p:nvSpPr>
        <p:spPr>
          <a:xfrm>
            <a:off x="1" y="0"/>
            <a:ext cx="1914600" cy="685800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enho de um círculo&#10;&#10;Descrição gerada automaticamente com confiança baixa" id="165" name="Google Shape;165;g3e13fd3e136_0_9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394" y="322704"/>
            <a:ext cx="622719" cy="600016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g3e13fd3e136_0_945"/>
          <p:cNvSpPr txBox="1"/>
          <p:nvPr/>
        </p:nvSpPr>
        <p:spPr>
          <a:xfrm>
            <a:off x="39778" y="1911638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Projeto</a:t>
            </a:r>
            <a:endParaRPr/>
          </a:p>
        </p:txBody>
      </p:sp>
      <p:sp>
        <p:nvSpPr>
          <p:cNvPr id="167" name="Google Shape;167;g3e13fd3e136_0_945"/>
          <p:cNvSpPr txBox="1"/>
          <p:nvPr/>
        </p:nvSpPr>
        <p:spPr>
          <a:xfrm>
            <a:off x="39778" y="2660340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Pagamento</a:t>
            </a:r>
            <a:endParaRPr/>
          </a:p>
        </p:txBody>
      </p:sp>
      <p:sp>
        <p:nvSpPr>
          <p:cNvPr id="168" name="Google Shape;168;g3e13fd3e136_0_945"/>
          <p:cNvSpPr txBox="1"/>
          <p:nvPr/>
        </p:nvSpPr>
        <p:spPr>
          <a:xfrm>
            <a:off x="39778" y="2285989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Investimento</a:t>
            </a:r>
            <a:endParaRPr/>
          </a:p>
        </p:txBody>
      </p:sp>
      <p:sp>
        <p:nvSpPr>
          <p:cNvPr id="169" name="Google Shape;169;g3e13fd3e136_0_945"/>
          <p:cNvSpPr txBox="1"/>
          <p:nvPr/>
        </p:nvSpPr>
        <p:spPr>
          <a:xfrm>
            <a:off x="39778" y="3034691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Prazos</a:t>
            </a:r>
            <a:endParaRPr/>
          </a:p>
        </p:txBody>
      </p:sp>
      <p:sp>
        <p:nvSpPr>
          <p:cNvPr id="170" name="Google Shape;170;g3e13fd3e136_0_945"/>
          <p:cNvSpPr txBox="1"/>
          <p:nvPr/>
        </p:nvSpPr>
        <p:spPr>
          <a:xfrm>
            <a:off x="39778" y="3409042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Garantia</a:t>
            </a:r>
            <a:endParaRPr/>
          </a:p>
        </p:txBody>
      </p:sp>
      <p:sp>
        <p:nvSpPr>
          <p:cNvPr id="171" name="Google Shape;171;g3e13fd3e136_0_945"/>
          <p:cNvSpPr txBox="1"/>
          <p:nvPr/>
        </p:nvSpPr>
        <p:spPr>
          <a:xfrm>
            <a:off x="39778" y="3783395"/>
            <a:ext cx="20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Regras </a:t>
            </a:r>
            <a:endParaRPr/>
          </a:p>
        </p:txBody>
      </p:sp>
      <p:sp>
        <p:nvSpPr>
          <p:cNvPr id="172" name="Google Shape;172;g3e13fd3e136_0_945"/>
          <p:cNvSpPr txBox="1"/>
          <p:nvPr/>
        </p:nvSpPr>
        <p:spPr>
          <a:xfrm>
            <a:off x="2104811" y="414207"/>
            <a:ext cx="3907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2. Investimento</a:t>
            </a:r>
            <a:endParaRPr b="1" sz="28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173" name="Google Shape;173;g3e13fd3e136_0_945"/>
          <p:cNvGraphicFramePr/>
          <p:nvPr/>
        </p:nvGraphicFramePr>
        <p:xfrm>
          <a:off x="2144588" y="10862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{51E40585-C4F1-4EAA-9EBD-67F35130A50B}</a:tableStyleId>
              </a:tblPr>
              <a:tblGrid>
                <a:gridCol w="5534400"/>
                <a:gridCol w="1081550"/>
                <a:gridCol w="1264325"/>
                <a:gridCol w="1797600"/>
              </a:tblGrid>
              <a:tr h="412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Descrição</a:t>
                      </a:r>
                      <a:endParaRPr sz="1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Qtde.</a:t>
                      </a:r>
                      <a:endParaRPr sz="1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45725" marB="45725" marR="91450" marL="9145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Unid.</a:t>
                      </a:r>
                      <a:endParaRPr sz="1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45725" marB="45725" marR="91450" marL="9145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Valor</a:t>
                      </a:r>
                      <a:endParaRPr sz="1800" u="none" cap="none" strike="noStrik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45725" marB="45725" marR="91450" marL="91450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7F7F7F"/>
                    </a:solidFill>
                  </a:tcPr>
                </a:tc>
              </a:tr>
              <a:tr h="62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Quadra de Beach Tennis – Sistema de drenagem, mureta e </a:t>
                      </a:r>
                      <a:r>
                        <a:rPr b="0" lang="en-US" sz="1200" u="none" cap="none" strike="noStrike">
                          <a:highlight>
                            <a:srgbClr val="FFFF00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areia de quartzo especial tratada ou areia de  rio Lavada 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Poppins"/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Piso oficial da CBT – Confederação Brasileira de Tênis e Beach Tennis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0,00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m²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R$</a:t>
                      </a:r>
                      <a:endParaRPr/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2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Alambrado – Sistema </a:t>
                      </a:r>
                      <a:r>
                        <a:rPr b="0" lang="en-US" sz="1200" u="none" cap="none" strike="noStrike">
                          <a:highlight>
                            <a:srgbClr val="FFFF00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trapézio/gaiola</a:t>
                      </a:r>
                      <a:r>
                        <a:rPr b="0" lang="en-US" sz="12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, tubos galvanizados </a:t>
                      </a:r>
                      <a:r>
                        <a:rPr b="0" lang="en-US" sz="1200" u="none" cap="none" strike="noStrike">
                          <a:highlight>
                            <a:srgbClr val="FFFF00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eletroliticamente/fogo </a:t>
                      </a:r>
                      <a:r>
                        <a:rPr b="0" lang="en-US" sz="12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, tela revestida em PVC</a:t>
                      </a:r>
                      <a:r>
                        <a:rPr b="0" lang="en-US" sz="1200" u="none" cap="none" strike="noStrike">
                          <a:highlight>
                            <a:srgbClr val="FFFF00"/>
                          </a:highlight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, com travamentos – sem travamentos  </a:t>
                      </a:r>
                      <a:endParaRPr b="0" sz="1200" u="none" cap="none" strike="noStrike">
                        <a:highlight>
                          <a:srgbClr val="FFFF00"/>
                        </a:highlight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0,00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Poppins"/>
                        <a:buNone/>
                      </a:pPr>
                      <a:r>
                        <a:rPr lang="en-US" sz="12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m²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R$</a:t>
                      </a:r>
                      <a:endParaRPr/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29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Iluminação Led – xx projetores 150 W, xx postes galvanizados a fogo 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1,00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Conjunto 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R$</a:t>
                      </a:r>
                      <a:endParaRPr/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2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Acessórios com/sem sistema de regulagem, postes galvanizados a fogo, catraca, cabo tensor e rede</a:t>
                      </a:r>
                      <a:endParaRPr b="0"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Poppins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1,00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Poppins"/>
                        <a:buNone/>
                      </a:pPr>
                      <a:r>
                        <a:rPr lang="en-U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Conjunto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R$</a:t>
                      </a:r>
                      <a:endParaRPr/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2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Poppins"/>
                        <a:buNone/>
                      </a:pPr>
                      <a:r>
                        <a:rPr b="0" lang="en-U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Proteção EVA – </a:t>
                      </a:r>
                      <a:r>
                        <a:rPr b="0" lang="en-US" sz="1200">
                          <a:solidFill>
                            <a:srgbClr val="FF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Opcional</a:t>
                      </a:r>
                      <a:endParaRPr b="0" sz="1200">
                        <a:solidFill>
                          <a:srgbClr val="FF0000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0,00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ML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R$</a:t>
                      </a:r>
                      <a:endParaRPr/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29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FF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VALOR TOTAL 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400">
                        <a:solidFill>
                          <a:srgbClr val="FF0000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400">
                        <a:solidFill>
                          <a:srgbClr val="FF0000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FF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R$</a:t>
                      </a:r>
                      <a:endParaRPr/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