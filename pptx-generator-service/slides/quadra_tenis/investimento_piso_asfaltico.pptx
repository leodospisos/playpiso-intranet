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53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D53C63-FED2-8C4B-4834-10693650F88C}" v="39" dt="2026-05-18T20:24:12.354"/>
    <p1510:client id="{8084F0E1-F6D8-2F86-D115-BB2C5D49C3F2}" v="304" dt="2026-05-19T13:33:02.5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1580D6-032D-4822-AD4A-76F2845CC23C}" type="datetimeFigureOut">
              <a:t>19/05/2026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9FF361-08AD-4EB0-8EFB-404F4DAD588A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81382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BR" b="1"/>
              <a:t>MEXER APENAS NAS INFORMAÇÕES EM PRETO, NÚMERO DA PROPOSTA E DATAS.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BR" b="1"/>
            </a:br>
            <a:r>
              <a:rPr lang="en-BR"/>
              <a:t>NÃO DESCONFIGURAR NADA!</a:t>
            </a:r>
            <a:br>
              <a:rPr lang="en-BR"/>
            </a:br>
            <a:r>
              <a:rPr lang="en-BR"/>
              <a:t>]</a:t>
            </a:r>
          </a:p>
          <a:p>
            <a:endParaRPr lang="en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C740D-A4AF-9C40-8FFB-99FBBDFCF035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53365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02D4D552-EC24-83D0-8BD6-35E735F6AE61}"/>
              </a:ext>
            </a:extLst>
          </p:cNvPr>
          <p:cNvSpPr txBox="1"/>
          <p:nvPr/>
        </p:nvSpPr>
        <p:spPr>
          <a:xfrm>
            <a:off x="2104811" y="5778935"/>
            <a:ext cx="6279534" cy="343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200">
                <a:latin typeface="Poppins" panose="00000500000000000000" pitchFamily="2" charset="0"/>
                <a:cs typeface="Poppins" panose="00000500000000000000" pitchFamily="2" charset="0"/>
              </a:rPr>
              <a:t>***Valores válidos somente para contratação simultânea dos serviços.</a:t>
            </a:r>
          </a:p>
        </p:txBody>
      </p:sp>
      <p:sp>
        <p:nvSpPr>
          <p:cNvPr id="4" name="Retângulo 1">
            <a:extLst>
              <a:ext uri="{FF2B5EF4-FFF2-40B4-BE49-F238E27FC236}">
                <a16:creationId xmlns:a16="http://schemas.microsoft.com/office/drawing/2014/main" id="{98415AD4-453C-2C61-8074-33765217D21C}"/>
              </a:ext>
            </a:extLst>
          </p:cNvPr>
          <p:cNvSpPr/>
          <p:nvPr/>
        </p:nvSpPr>
        <p:spPr>
          <a:xfrm>
            <a:off x="1" y="0"/>
            <a:ext cx="1914523" cy="6858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m 5" descr="Desenho de um círculo&#10;&#10;Descrição gerada automaticamente com confiança baixa">
            <a:extLst>
              <a:ext uri="{FF2B5EF4-FFF2-40B4-BE49-F238E27FC236}">
                <a16:creationId xmlns:a16="http://schemas.microsoft.com/office/drawing/2014/main" id="{9970300F-E250-1F22-96B2-E557FEBB5A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394" y="322704"/>
            <a:ext cx="622719" cy="600016"/>
          </a:xfrm>
          <a:prstGeom prst="rect">
            <a:avLst/>
          </a:prstGeom>
        </p:spPr>
      </p:pic>
      <p:sp>
        <p:nvSpPr>
          <p:cNvPr id="16" name="CaixaDeTexto 10">
            <a:extLst>
              <a:ext uri="{FF2B5EF4-FFF2-40B4-BE49-F238E27FC236}">
                <a16:creationId xmlns:a16="http://schemas.microsoft.com/office/drawing/2014/main" id="{5FB0C76A-92D8-A462-B856-3F8AC6B113A0}"/>
              </a:ext>
            </a:extLst>
          </p:cNvPr>
          <p:cNvSpPr txBox="1"/>
          <p:nvPr/>
        </p:nvSpPr>
        <p:spPr>
          <a:xfrm>
            <a:off x="39778" y="1911638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Projeto</a:t>
            </a:r>
          </a:p>
        </p:txBody>
      </p:sp>
      <p:sp>
        <p:nvSpPr>
          <p:cNvPr id="17" name="CaixaDeTexto 10">
            <a:extLst>
              <a:ext uri="{FF2B5EF4-FFF2-40B4-BE49-F238E27FC236}">
                <a16:creationId xmlns:a16="http://schemas.microsoft.com/office/drawing/2014/main" id="{0EAF9B9D-DDBE-6D68-4267-55B3D2D13971}"/>
              </a:ext>
            </a:extLst>
          </p:cNvPr>
          <p:cNvSpPr txBox="1"/>
          <p:nvPr/>
        </p:nvSpPr>
        <p:spPr>
          <a:xfrm>
            <a:off x="39778" y="2660340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Pagamento</a:t>
            </a:r>
          </a:p>
        </p:txBody>
      </p:sp>
      <p:sp>
        <p:nvSpPr>
          <p:cNvPr id="18" name="CaixaDeTexto 10">
            <a:extLst>
              <a:ext uri="{FF2B5EF4-FFF2-40B4-BE49-F238E27FC236}">
                <a16:creationId xmlns:a16="http://schemas.microsoft.com/office/drawing/2014/main" id="{09E11D68-CFA7-DE20-79FC-ED7EA652C72B}"/>
              </a:ext>
            </a:extLst>
          </p:cNvPr>
          <p:cNvSpPr txBox="1"/>
          <p:nvPr/>
        </p:nvSpPr>
        <p:spPr>
          <a:xfrm>
            <a:off x="39778" y="2285989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b="1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Investimento</a:t>
            </a:r>
          </a:p>
        </p:txBody>
      </p:sp>
      <p:sp>
        <p:nvSpPr>
          <p:cNvPr id="19" name="CaixaDeTexto 10">
            <a:extLst>
              <a:ext uri="{FF2B5EF4-FFF2-40B4-BE49-F238E27FC236}">
                <a16:creationId xmlns:a16="http://schemas.microsoft.com/office/drawing/2014/main" id="{321A007E-2704-52F9-6888-BF8B31D713A8}"/>
              </a:ext>
            </a:extLst>
          </p:cNvPr>
          <p:cNvSpPr txBox="1"/>
          <p:nvPr/>
        </p:nvSpPr>
        <p:spPr>
          <a:xfrm>
            <a:off x="39778" y="3034691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Prazos</a:t>
            </a:r>
          </a:p>
        </p:txBody>
      </p:sp>
      <p:sp>
        <p:nvSpPr>
          <p:cNvPr id="20" name="CaixaDeTexto 10">
            <a:extLst>
              <a:ext uri="{FF2B5EF4-FFF2-40B4-BE49-F238E27FC236}">
                <a16:creationId xmlns:a16="http://schemas.microsoft.com/office/drawing/2014/main" id="{4D0600C1-6FD1-1AC7-5817-6D6042A8FA0E}"/>
              </a:ext>
            </a:extLst>
          </p:cNvPr>
          <p:cNvSpPr txBox="1"/>
          <p:nvPr/>
        </p:nvSpPr>
        <p:spPr>
          <a:xfrm>
            <a:off x="39778" y="3409042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Garantia</a:t>
            </a:r>
          </a:p>
        </p:txBody>
      </p:sp>
      <p:sp>
        <p:nvSpPr>
          <p:cNvPr id="21" name="CaixaDeTexto 10">
            <a:extLst>
              <a:ext uri="{FF2B5EF4-FFF2-40B4-BE49-F238E27FC236}">
                <a16:creationId xmlns:a16="http://schemas.microsoft.com/office/drawing/2014/main" id="{CC8C0389-6754-B764-8786-C5E8DF0F58E5}"/>
              </a:ext>
            </a:extLst>
          </p:cNvPr>
          <p:cNvSpPr txBox="1"/>
          <p:nvPr/>
        </p:nvSpPr>
        <p:spPr>
          <a:xfrm>
            <a:off x="39778" y="3783395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Regras </a:t>
            </a:r>
          </a:p>
        </p:txBody>
      </p:sp>
      <p:sp>
        <p:nvSpPr>
          <p:cNvPr id="24" name="CaixaDeTexto 15">
            <a:extLst>
              <a:ext uri="{FF2B5EF4-FFF2-40B4-BE49-F238E27FC236}">
                <a16:creationId xmlns:a16="http://schemas.microsoft.com/office/drawing/2014/main" id="{CF4E99DB-D5CF-6669-C4F8-61957610BA69}"/>
              </a:ext>
            </a:extLst>
          </p:cNvPr>
          <p:cNvSpPr txBox="1"/>
          <p:nvPr/>
        </p:nvSpPr>
        <p:spPr>
          <a:xfrm>
            <a:off x="2104811" y="322704"/>
            <a:ext cx="39073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3200" b="1">
                <a:solidFill>
                  <a:srgbClr val="FF0000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2. Investimento</a:t>
            </a:r>
            <a:endParaRPr lang="pt-BR" sz="2800" b="1">
              <a:solidFill>
                <a:srgbClr val="FF0000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graphicFrame>
        <p:nvGraphicFramePr>
          <p:cNvPr id="2" name="Tabela 7">
            <a:extLst>
              <a:ext uri="{FF2B5EF4-FFF2-40B4-BE49-F238E27FC236}">
                <a16:creationId xmlns:a16="http://schemas.microsoft.com/office/drawing/2014/main" id="{BDCC2FDF-F159-B141-A8D3-99D5A6844A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9719849"/>
              </p:ext>
            </p:extLst>
          </p:nvPr>
        </p:nvGraphicFramePr>
        <p:xfrm>
          <a:off x="2144588" y="907479"/>
          <a:ext cx="9677872" cy="5034394"/>
        </p:xfrm>
        <a:graphic>
          <a:graphicData uri="http://schemas.openxmlformats.org/drawingml/2006/table">
            <a:tbl>
              <a:tblPr firstRow="1" bandRow="1">
                <a:tableStyleId>{74C1A8A3-306A-4EB7-A6B1-4F7E0EB9C5D6}</a:tableStyleId>
              </a:tblPr>
              <a:tblGrid>
                <a:gridCol w="5363652">
                  <a:extLst>
                    <a:ext uri="{9D8B030D-6E8A-4147-A177-3AD203B41FA5}">
                      <a16:colId xmlns:a16="http://schemas.microsoft.com/office/drawing/2014/main" val="1778375940"/>
                    </a:ext>
                  </a:extLst>
                </a:gridCol>
                <a:gridCol w="1198880">
                  <a:extLst>
                    <a:ext uri="{9D8B030D-6E8A-4147-A177-3AD203B41FA5}">
                      <a16:colId xmlns:a16="http://schemas.microsoft.com/office/drawing/2014/main" val="4254550965"/>
                    </a:ext>
                  </a:extLst>
                </a:gridCol>
                <a:gridCol w="1240921">
                  <a:extLst>
                    <a:ext uri="{9D8B030D-6E8A-4147-A177-3AD203B41FA5}">
                      <a16:colId xmlns:a16="http://schemas.microsoft.com/office/drawing/2014/main" val="3290749713"/>
                    </a:ext>
                  </a:extLst>
                </a:gridCol>
                <a:gridCol w="1874419">
                  <a:extLst>
                    <a:ext uri="{9D8B030D-6E8A-4147-A177-3AD203B41FA5}">
                      <a16:colId xmlns:a16="http://schemas.microsoft.com/office/drawing/2014/main" val="2787835671"/>
                    </a:ext>
                  </a:extLst>
                </a:gridCol>
              </a:tblGrid>
              <a:tr h="412866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800" dirty="0" err="1">
                          <a:latin typeface="Poppins"/>
                          <a:cs typeface="Poppins"/>
                        </a:rPr>
                        <a:t>Descrição</a:t>
                      </a:r>
                      <a:endParaRPr lang="pt-BR" sz="1800" dirty="0" err="1">
                        <a:latin typeface="Poppins"/>
                        <a:cs typeface="Poppins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 err="1">
                          <a:latin typeface="Poppins"/>
                          <a:cs typeface="Poppins"/>
                        </a:rPr>
                        <a:t>Qtde</a:t>
                      </a:r>
                      <a:r>
                        <a:rPr lang="en-US" sz="1800" dirty="0">
                          <a:latin typeface="Poppins"/>
                          <a:cs typeface="Poppins"/>
                        </a:rPr>
                        <a:t>.</a:t>
                      </a:r>
                      <a:endParaRPr lang="pt-BR" sz="1800" dirty="0">
                        <a:latin typeface="Poppins"/>
                        <a:cs typeface="Poppins"/>
                      </a:endParaRPr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 err="1">
                          <a:latin typeface="Poppins"/>
                          <a:cs typeface="Poppins"/>
                        </a:rPr>
                        <a:t>Unid</a:t>
                      </a:r>
                      <a:r>
                        <a:rPr lang="en-US" sz="1800" dirty="0">
                          <a:latin typeface="Poppins"/>
                          <a:cs typeface="Poppins"/>
                        </a:rPr>
                        <a:t>.</a:t>
                      </a:r>
                      <a:endParaRPr lang="pt-BR" sz="1800" dirty="0">
                        <a:latin typeface="Poppins"/>
                        <a:cs typeface="Poppins"/>
                      </a:endParaRPr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Valor</a:t>
                      </a:r>
                      <a:endParaRPr lang="pt-BR" sz="18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2582095"/>
                  </a:ext>
                </a:extLst>
              </a:tr>
              <a:tr h="629758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BR" sz="1200" b="0" dirty="0">
                          <a:latin typeface="Poppins"/>
                          <a:cs typeface="Poppins"/>
                        </a:rPr>
                        <a:t>Piso </a:t>
                      </a:r>
                      <a:r>
                        <a:rPr lang="pt-BR" sz="1200" b="0" dirty="0">
                          <a:latin typeface="Poppins"/>
                          <a:cs typeface="Poppins"/>
                        </a:rPr>
                        <a:t>– Q</a:t>
                      </a:r>
                      <a:r>
                        <a:rPr lang="en-BR" sz="1200" b="0" dirty="0" err="1">
                          <a:latin typeface="Poppins"/>
                          <a:cs typeface="Poppins"/>
                        </a:rPr>
                        <a:t>uadr</a:t>
                      </a:r>
                      <a:r>
                        <a:rPr lang="en-US" sz="1200" b="0" dirty="0" err="1">
                          <a:latin typeface="Poppins"/>
                          <a:cs typeface="Poppins"/>
                        </a:rPr>
                        <a:t>a</a:t>
                      </a:r>
                      <a:r>
                        <a:rPr lang="en-BR" sz="1200" b="0" dirty="0">
                          <a:latin typeface="Poppins"/>
                          <a:cs typeface="Poppins"/>
                        </a:rPr>
                        <a:t> de </a:t>
                      </a:r>
                      <a:r>
                        <a:rPr lang="en-BR" sz="1200" b="0" dirty="0" err="1">
                          <a:latin typeface="Poppins"/>
                          <a:cs typeface="Poppins"/>
                        </a:rPr>
                        <a:t>Tênis</a:t>
                      </a:r>
                      <a:r>
                        <a:rPr lang="en-BR" sz="1200" b="0" dirty="0">
                          <a:latin typeface="Poppins"/>
                          <a:cs typeface="Poppins"/>
                        </a:rPr>
                        <a:t> </a:t>
                      </a:r>
                      <a:r>
                        <a:rPr lang="pt-BR" sz="1200" b="0" dirty="0">
                          <a:latin typeface="Poppins"/>
                          <a:cs typeface="Poppins"/>
                        </a:rPr>
                        <a:t>– </a:t>
                      </a:r>
                      <a:r>
                        <a:rPr lang="en-BR" sz="1200" b="0" dirty="0">
                          <a:latin typeface="Poppins"/>
                          <a:cs typeface="Poppins"/>
                        </a:rPr>
                        <a:t>Base </a:t>
                      </a:r>
                      <a:r>
                        <a:rPr lang="en-BR" sz="1200" b="0" dirty="0" err="1">
                          <a:latin typeface="Poppins"/>
                          <a:cs typeface="Poppins"/>
                        </a:rPr>
                        <a:t>Asfáltica</a:t>
                      </a:r>
                      <a:r>
                        <a:rPr lang="pt-BR" sz="1200" b="0" dirty="0">
                          <a:latin typeface="Poppins"/>
                          <a:cs typeface="Poppins"/>
                        </a:rPr>
                        <a:t> </a:t>
                      </a:r>
                      <a:r>
                        <a:rPr lang="pt-BR" sz="1200" b="0" dirty="0" err="1">
                          <a:latin typeface="Poppins"/>
                          <a:cs typeface="Poppins"/>
                        </a:rPr>
                        <a:t>Playpiso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pt-BR" sz="1200" b="0">
                          <a:solidFill>
                            <a:srgbClr val="FF0000"/>
                          </a:solidFill>
                          <a:latin typeface="Poppins" pitchFamily="2" charset="77"/>
                          <a:cs typeface="Poppins" pitchFamily="2" charset="77"/>
                        </a:rPr>
                        <a:t>Piso oficial da CBT – Confederação Brasileira de Tênis 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pt-BR" sz="1200" b="0" i="0" u="none" strike="noStrike" noProof="0" dirty="0">
                          <a:latin typeface="Poppins"/>
                          <a:cs typeface="Poppins"/>
                        </a:rPr>
                        <a:t>{{area_total</a:t>
                      </a:r>
                      <a:r>
                        <a:rPr lang="pt-BR" sz="1200" b="0" i="0" u="none" strike="noStrike" noProof="0">
                          <a:latin typeface="Poppins"/>
                          <a:cs typeface="Poppins"/>
                        </a:rPr>
                        <a:t>_fmt</a:t>
                      </a:r>
                      <a:r>
                        <a:rPr lang="pt-BR" sz="1200" b="0" i="0" u="none" strike="noStrike" noProof="0" dirty="0">
                          <a:latin typeface="Poppins"/>
                          <a:cs typeface="Poppins"/>
                        </a:rPr>
                        <a:t>}}</a:t>
                      </a:r>
                      <a:endParaRPr lang="pt-BR" dirty="0">
                        <a:latin typeface="Poppins"/>
                        <a:cs typeface="Poppi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2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pt-BR" sz="12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R$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346728657"/>
                  </a:ext>
                </a:extLst>
              </a:tr>
              <a:tr h="62975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BR" sz="1200" b="0" dirty="0" err="1">
                          <a:latin typeface="Poppins"/>
                          <a:cs typeface="Poppins"/>
                        </a:rPr>
                        <a:t>Acessório</a:t>
                      </a:r>
                      <a:r>
                        <a:rPr lang="pt-BR" sz="1200" b="0" dirty="0">
                          <a:latin typeface="Poppins"/>
                          <a:cs typeface="Poppins"/>
                        </a:rPr>
                        <a:t> Tênis  – Postes galvanizados a fogo, catraca, cabo tensor, faixa central e rede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Poppins"/>
                        </a:rPr>
                        <a:t>{{</a:t>
                      </a:r>
                      <a:r>
                        <a:rPr lang="pt-BR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Poppins"/>
                        </a:rPr>
                        <a:t>quantity</a:t>
                      </a:r>
                      <a:r>
                        <a:rPr lang="pt-B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Poppins"/>
                        </a:rPr>
                        <a:t>}}</a:t>
                      </a:r>
                      <a:endParaRPr kumimoji="0" lang="pt-B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oppins"/>
                        <a:ea typeface="+mn-ea"/>
                        <a:cs typeface="Poppi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Conjunto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pt-BR" sz="12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R$ 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454510695"/>
                  </a:ext>
                </a:extLst>
              </a:tr>
              <a:tr h="629758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BR" sz="1200" b="0" dirty="0">
                          <a:latin typeface="Poppins"/>
                          <a:cs typeface="Poppins"/>
                        </a:rPr>
                        <a:t>Alambrado</a:t>
                      </a:r>
                      <a:r>
                        <a:rPr lang="pt-BR" sz="1200" b="0" dirty="0">
                          <a:latin typeface="Poppins"/>
                          <a:cs typeface="Poppins"/>
                        </a:rPr>
                        <a:t> – Sistema trapézio, tubos galvanizados {{galvanizacao</a:t>
                      </a:r>
                      <a:r>
                        <a:rPr lang="pt-BR" sz="1200" b="0">
                          <a:latin typeface="Poppins"/>
                          <a:cs typeface="Poppins"/>
                        </a:rPr>
                        <a:t>}}, tela revestida em PVC, {{</a:t>
                      </a:r>
                      <a:r>
                        <a:rPr lang="pt-BR" sz="1200" b="0" err="1">
                          <a:latin typeface="Poppins"/>
                          <a:cs typeface="Poppins"/>
                        </a:rPr>
                        <a:t>travamento_descricao</a:t>
                      </a:r>
                      <a:r>
                        <a:rPr lang="pt-BR" sz="1200" b="0">
                          <a:latin typeface="Poppins"/>
                          <a:cs typeface="Poppins"/>
                        </a:rPr>
                        <a:t>}}</a:t>
                      </a:r>
                      <a:endParaRPr lang="pt-BR" sz="1200" b="0" dirty="0">
                        <a:latin typeface="Poppins"/>
                        <a:cs typeface="Poppin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200">
                          <a:latin typeface="Poppins"/>
                          <a:cs typeface="Poppins"/>
                        </a:rPr>
                        <a:t>{{</a:t>
                      </a:r>
                      <a:r>
                        <a:rPr lang="pt-BR" sz="1200" err="1">
                          <a:latin typeface="Poppins"/>
                          <a:cs typeface="Poppins"/>
                        </a:rPr>
                        <a:t>area_alambrado</a:t>
                      </a:r>
                      <a:r>
                        <a:rPr lang="pt-BR" sz="1200">
                          <a:latin typeface="Poppins"/>
                          <a:cs typeface="Poppins"/>
                        </a:rPr>
                        <a:t>}}</a:t>
                      </a:r>
                      <a:endParaRPr lang="pt-BR" sz="1200" dirty="0">
                        <a:latin typeface="Poppins"/>
                        <a:cs typeface="Poppi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pt-BR" sz="12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R$ 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163533209"/>
                  </a:ext>
                </a:extLst>
              </a:tr>
              <a:tr h="629758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pt-BR" sz="1200" b="0" dirty="0">
                          <a:latin typeface="Poppins"/>
                          <a:cs typeface="Poppins"/>
                        </a:rPr>
                        <a:t>Iluminação – {{</a:t>
                      </a:r>
                      <a:r>
                        <a:rPr lang="pt-BR" sz="1200" b="0" dirty="0" err="1">
                          <a:latin typeface="Poppins"/>
                          <a:cs typeface="Poppins"/>
                        </a:rPr>
                        <a:t>quantidade_projetores</a:t>
                      </a:r>
                      <a:r>
                        <a:rPr lang="pt-BR" sz="1200" b="0" dirty="0">
                          <a:latin typeface="Poppins"/>
                          <a:cs typeface="Poppins"/>
                        </a:rPr>
                        <a:t>}} projetores em Led {{</a:t>
                      </a:r>
                      <a:r>
                        <a:rPr lang="pt-BR" sz="1200" b="0" dirty="0" err="1">
                          <a:latin typeface="Poppins"/>
                          <a:cs typeface="Poppins"/>
                        </a:rPr>
                        <a:t>potencia_projetores</a:t>
                      </a:r>
                      <a:r>
                        <a:rPr lang="pt-BR" sz="1200" b="0" dirty="0">
                          <a:latin typeface="Poppins"/>
                          <a:cs typeface="Poppins"/>
                        </a:rPr>
                        <a:t>}}W, {{</a:t>
                      </a:r>
                      <a:r>
                        <a:rPr lang="pt-BR" sz="1200" b="0" dirty="0" err="1">
                          <a:latin typeface="Poppins"/>
                          <a:cs typeface="Poppins"/>
                        </a:rPr>
                        <a:t>quantidade_postes_iluminacao</a:t>
                      </a:r>
                      <a:r>
                        <a:rPr lang="pt-BR" sz="1200" b="0" dirty="0">
                          <a:latin typeface="Poppins"/>
                          <a:cs typeface="Poppins"/>
                        </a:rPr>
                        <a:t>}} postes galvanizados com altura de {{</a:t>
                      </a:r>
                      <a:r>
                        <a:rPr lang="pt-BR" sz="1200" b="0" dirty="0" err="1">
                          <a:latin typeface="Poppins"/>
                          <a:cs typeface="Poppins"/>
                        </a:rPr>
                        <a:t>altura_postes_iluminacao</a:t>
                      </a:r>
                      <a:r>
                        <a:rPr lang="pt-BR" sz="1200" b="0" dirty="0">
                          <a:latin typeface="Poppins"/>
                          <a:cs typeface="Poppins"/>
                        </a:rPr>
                        <a:t>}}m 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200" dirty="0">
                          <a:latin typeface="Poppins"/>
                          <a:cs typeface="Poppins"/>
                        </a:rPr>
                        <a:t>{{</a:t>
                      </a:r>
                      <a:r>
                        <a:rPr lang="pt-BR" sz="1200" dirty="0" err="1">
                          <a:latin typeface="Poppins"/>
                          <a:cs typeface="Poppins"/>
                        </a:rPr>
                        <a:t>qtde_iluminacao</a:t>
                      </a:r>
                      <a:r>
                        <a:rPr lang="pt-BR" sz="1200" dirty="0">
                          <a:latin typeface="Poppins"/>
                          <a:cs typeface="Poppins"/>
                        </a:rPr>
                        <a:t>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2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Conjunto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pt-BR" sz="12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R$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036935852"/>
                  </a:ext>
                </a:extLst>
              </a:tr>
              <a:tr h="629758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BR" sz="1200" b="0" dirty="0">
                          <a:latin typeface="Poppins" pitchFamily="2" charset="77"/>
                          <a:cs typeface="Poppins" pitchFamily="2" charset="77"/>
                        </a:rPr>
                        <a:t>P</a:t>
                      </a:r>
                      <a:r>
                        <a:rPr lang="pt-BR" sz="1200" b="0" dirty="0" err="1">
                          <a:latin typeface="Poppins" pitchFamily="2" charset="77"/>
                          <a:cs typeface="Poppins" pitchFamily="2" charset="77"/>
                        </a:rPr>
                        <a:t>laycushion</a:t>
                      </a:r>
                      <a:r>
                        <a:rPr lang="pt-BR" sz="1200" b="0" dirty="0">
                          <a:latin typeface="Poppins" pitchFamily="2" charset="77"/>
                          <a:cs typeface="Poppins" pitchFamily="2" charset="77"/>
                        </a:rPr>
                        <a:t>  </a:t>
                      </a:r>
                      <a:endParaRPr lang="en-BR" sz="1200" b="0" dirty="0">
                        <a:solidFill>
                          <a:srgbClr val="FF0000"/>
                        </a:solidFill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200" dirty="0">
                          <a:latin typeface="Poppins"/>
                          <a:cs typeface="Poppins"/>
                        </a:rPr>
                        <a:t>{{</a:t>
                      </a:r>
                      <a:r>
                        <a:rPr lang="pt-BR" sz="1200" dirty="0" err="1">
                          <a:latin typeface="Poppins"/>
                          <a:cs typeface="Poppins"/>
                        </a:rPr>
                        <a:t>area_playcushion</a:t>
                      </a:r>
                      <a:r>
                        <a:rPr lang="pt-BR" sz="1200" dirty="0">
                          <a:latin typeface="Poppins"/>
                          <a:cs typeface="Poppins"/>
                        </a:rPr>
                        <a:t>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2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pt-BR" sz="12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R$                  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19500230"/>
                  </a:ext>
                </a:extLst>
              </a:tr>
              <a:tr h="629758">
                <a:tc>
                  <a:txBody>
                    <a:bodyPr/>
                    <a:lstStyle/>
                    <a:p>
                      <a:r>
                        <a:rPr lang="pt-BR" sz="1400" b="1" dirty="0">
                          <a:solidFill>
                            <a:srgbClr val="FF0000"/>
                          </a:solidFill>
                          <a:latin typeface="Poppins"/>
                          <a:cs typeface="Poppins"/>
                        </a:rPr>
                        <a:t>VALOR </a:t>
                      </a:r>
                      <a:r>
                        <a:rPr lang="pt-BR" sz="1400" b="1">
                          <a:solidFill>
                            <a:srgbClr val="FF0000"/>
                          </a:solidFill>
                          <a:latin typeface="Poppins"/>
                          <a:cs typeface="Poppins"/>
                        </a:rPr>
                        <a:t>TOTAL </a:t>
                      </a:r>
                      <a:r>
                        <a:rPr lang="pt-BR" sz="1400" b="1" dirty="0">
                          <a:solidFill>
                            <a:srgbClr val="0070C0"/>
                          </a:solidFill>
                          <a:latin typeface="Poppins"/>
                          <a:cs typeface="Poppins"/>
                        </a:rPr>
                        <a:t> </a:t>
                      </a:r>
                      <a:endParaRPr lang="pt-BR" sz="1400" b="1" dirty="0">
                        <a:solidFill>
                          <a:srgbClr val="FF0000"/>
                        </a:solidFill>
                        <a:latin typeface="Poppins"/>
                        <a:cs typeface="Poppin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 b="1">
                        <a:solidFill>
                          <a:srgbClr val="FF0000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 b="1">
                        <a:solidFill>
                          <a:srgbClr val="FF0000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R$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71093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578427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66</cp:revision>
  <dcterms:created xsi:type="dcterms:W3CDTF">2026-05-18T18:29:53Z</dcterms:created>
  <dcterms:modified xsi:type="dcterms:W3CDTF">2026-05-19T13:33:03Z</dcterms:modified>
</cp:coreProperties>
</file>