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embeddedFontLst>
    <p:embeddedFont>
      <p:font typeface="Poppins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huNDmPMO4sRKUhSY3UelWDWQr6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oppins-bold.fntdata"/><Relationship Id="rId10" Type="http://schemas.openxmlformats.org/officeDocument/2006/relationships/font" Target="fonts/Poppins-regular.fntdata"/><Relationship Id="rId13" Type="http://schemas.openxmlformats.org/officeDocument/2006/relationships/font" Target="fonts/Poppins-boldItalic.fntdata"/><Relationship Id="rId12" Type="http://schemas.openxmlformats.org/officeDocument/2006/relationships/font" Target="fonts/Poppins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e13fd3e136_0_0:notes"/>
          <p:cNvSpPr/>
          <p:nvPr>
            <p:ph idx="2" type="sldImg"/>
          </p:nvPr>
        </p:nvSpPr>
        <p:spPr>
          <a:xfrm>
            <a:off x="426022" y="1143550"/>
            <a:ext cx="60060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g3e13fd3e136_0_0:notes"/>
          <p:cNvSpPr txBox="1"/>
          <p:nvPr>
            <p:ph idx="1" type="body"/>
          </p:nvPr>
        </p:nvSpPr>
        <p:spPr>
          <a:xfrm>
            <a:off x="685801" y="4400555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en-US"/>
              <a:t>MEXER APENAS NAS INFORMAÇÕES EM PRETO, NÚMERO DA PROPOSTA E DATAS.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br>
              <a:rPr b="1" lang="en-US"/>
            </a:br>
            <a:r>
              <a:rPr lang="en-US"/>
              <a:t>NÃO DESCONFIGURAR NADA!</a:t>
            </a:r>
            <a:br>
              <a:rPr lang="en-US"/>
            </a:br>
            <a:r>
              <a:rPr lang="en-US"/>
              <a:t>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g3e13fd3e136_0_0:notes"/>
          <p:cNvSpPr txBox="1"/>
          <p:nvPr>
            <p:ph idx="12" type="sldNum"/>
          </p:nvPr>
        </p:nvSpPr>
        <p:spPr>
          <a:xfrm>
            <a:off x="3884613" y="868522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13fd3e136_0_96:notes"/>
          <p:cNvSpPr/>
          <p:nvPr>
            <p:ph idx="2" type="sldImg"/>
          </p:nvPr>
        </p:nvSpPr>
        <p:spPr>
          <a:xfrm>
            <a:off x="426022" y="1143550"/>
            <a:ext cx="60060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g3e13fd3e136_0_96:notes"/>
          <p:cNvSpPr txBox="1"/>
          <p:nvPr>
            <p:ph idx="1" type="body"/>
          </p:nvPr>
        </p:nvSpPr>
        <p:spPr>
          <a:xfrm>
            <a:off x="685801" y="4400555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en-US"/>
              <a:t>MEXER APENAS NO NÚMERO DA PROPOSTA E DATAS.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br>
              <a:rPr b="1" lang="en-US"/>
            </a:br>
            <a:r>
              <a:rPr lang="en-US"/>
              <a:t>NÃO DESCONFIGURAR NADA!</a:t>
            </a:r>
            <a:endParaRPr/>
          </a:p>
        </p:txBody>
      </p:sp>
      <p:sp>
        <p:nvSpPr>
          <p:cNvPr id="84" name="Google Shape;84;g3e13fd3e136_0_96:notes"/>
          <p:cNvSpPr txBox="1"/>
          <p:nvPr>
            <p:ph idx="12" type="sldNum"/>
          </p:nvPr>
        </p:nvSpPr>
        <p:spPr>
          <a:xfrm>
            <a:off x="3884613" y="868522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13fd3e136_0_188:notes"/>
          <p:cNvSpPr/>
          <p:nvPr>
            <p:ph idx="2" type="sldImg"/>
          </p:nvPr>
        </p:nvSpPr>
        <p:spPr>
          <a:xfrm>
            <a:off x="426022" y="1143550"/>
            <a:ext cx="60060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e13fd3e136_0_188:notes"/>
          <p:cNvSpPr txBox="1"/>
          <p:nvPr>
            <p:ph idx="1" type="body"/>
          </p:nvPr>
        </p:nvSpPr>
        <p:spPr>
          <a:xfrm>
            <a:off x="685801" y="4400555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en-US"/>
              <a:t>MEXER APENAS NO NÚMERO DA PROPOSTA E DATAS.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br>
              <a:rPr b="1" lang="en-US"/>
            </a:br>
            <a:r>
              <a:rPr lang="en-US"/>
              <a:t>NÃO DESCONFIGURAR NADA!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e13fd3e136_0_188:notes"/>
          <p:cNvSpPr txBox="1"/>
          <p:nvPr>
            <p:ph idx="12" type="sldNum"/>
          </p:nvPr>
        </p:nvSpPr>
        <p:spPr>
          <a:xfrm>
            <a:off x="3884613" y="868522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13fd3e136_0_202:notes"/>
          <p:cNvSpPr/>
          <p:nvPr>
            <p:ph idx="2" type="sldImg"/>
          </p:nvPr>
        </p:nvSpPr>
        <p:spPr>
          <a:xfrm>
            <a:off x="426022" y="1143550"/>
            <a:ext cx="60060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3e13fd3e136_0_202:notes"/>
          <p:cNvSpPr txBox="1"/>
          <p:nvPr>
            <p:ph idx="1" type="body"/>
          </p:nvPr>
        </p:nvSpPr>
        <p:spPr>
          <a:xfrm>
            <a:off x="685801" y="4400555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en-US"/>
              <a:t>MEXER APENAS NO NÚMERO DA PROPOSTA E DATAS.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br>
              <a:rPr b="1" lang="en-US"/>
            </a:br>
            <a:r>
              <a:rPr lang="en-US"/>
              <a:t>NÃO DESCONFIGURAR NADA!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e13fd3e136_0_202:notes"/>
          <p:cNvSpPr txBox="1"/>
          <p:nvPr>
            <p:ph idx="12" type="sldNum"/>
          </p:nvPr>
        </p:nvSpPr>
        <p:spPr>
          <a:xfrm>
            <a:off x="3884613" y="868522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13fd3e136_0_291:notes"/>
          <p:cNvSpPr/>
          <p:nvPr>
            <p:ph idx="2" type="sldImg"/>
          </p:nvPr>
        </p:nvSpPr>
        <p:spPr>
          <a:xfrm>
            <a:off x="426022" y="1143550"/>
            <a:ext cx="60060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e13fd3e136_0_291:notes"/>
          <p:cNvSpPr txBox="1"/>
          <p:nvPr>
            <p:ph idx="1" type="body"/>
          </p:nvPr>
        </p:nvSpPr>
        <p:spPr>
          <a:xfrm>
            <a:off x="685801" y="4400555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en-US"/>
              <a:t>MEXER APENAS NO CONTATO.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br>
              <a:rPr b="1" lang="en-US"/>
            </a:br>
            <a:r>
              <a:rPr lang="en-US"/>
              <a:t>NÃO DESCONFIGURAR NADA!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e13fd3e136_0_291:notes"/>
          <p:cNvSpPr txBox="1"/>
          <p:nvPr>
            <p:ph idx="12" type="sldNum"/>
          </p:nvPr>
        </p:nvSpPr>
        <p:spPr>
          <a:xfrm>
            <a:off x="3884613" y="868522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" name="Google Shape;11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12" name="Google Shape;12;p31"/>
          <p:cNvSpPr txBox="1"/>
          <p:nvPr>
            <p:ph idx="12" type="sldNum"/>
          </p:nvPr>
        </p:nvSpPr>
        <p:spPr>
          <a:xfrm>
            <a:off x="11095181" y="6414762"/>
            <a:ext cx="258620" cy="2483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e0ecafcc09_0_9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15" name="Google Shape;15;g3e0ecafcc09_0_9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g3e0ecafcc09_0_9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g3e0ecafcc09_0_9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g3e0ecafcc09_0_92"/>
          <p:cNvSpPr txBox="1"/>
          <p:nvPr>
            <p:ph idx="12" type="sldNum"/>
          </p:nvPr>
        </p:nvSpPr>
        <p:spPr>
          <a:xfrm>
            <a:off x="8610600" y="6356350"/>
            <a:ext cx="2743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>
  <p:cSld name="TITLE_AND_BODY 2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3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22" name="Google Shape;22;p32"/>
          <p:cNvSpPr txBox="1"/>
          <p:nvPr>
            <p:ph idx="12" type="sldNum"/>
          </p:nvPr>
        </p:nvSpPr>
        <p:spPr>
          <a:xfrm>
            <a:off x="11095217" y="6414780"/>
            <a:ext cx="258584" cy="2482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3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33"/>
          <p:cNvSpPr txBox="1"/>
          <p:nvPr>
            <p:ph idx="1" type="body"/>
          </p:nvPr>
        </p:nvSpPr>
        <p:spPr>
          <a:xfrm>
            <a:off x="1524000" y="3602037"/>
            <a:ext cx="9144000" cy="1655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1pPr>
            <a:lvl2pPr indent="-228600" lvl="1" marL="914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2pPr>
            <a:lvl3pPr indent="-228600" lvl="2" marL="1371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3pPr>
            <a:lvl4pPr indent="-228600" lvl="3" marL="18288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4pPr>
            <a:lvl5pPr indent="-228600" lvl="4" marL="22860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26" name="Google Shape;26;p33"/>
          <p:cNvSpPr txBox="1"/>
          <p:nvPr>
            <p:ph idx="12" type="sldNum"/>
          </p:nvPr>
        </p:nvSpPr>
        <p:spPr>
          <a:xfrm>
            <a:off x="11095181" y="6414762"/>
            <a:ext cx="258620" cy="2483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4"/>
          <p:cNvSpPr txBox="1"/>
          <p:nvPr>
            <p:ph idx="12" type="sldNum"/>
          </p:nvPr>
        </p:nvSpPr>
        <p:spPr>
          <a:xfrm>
            <a:off x="11095217" y="6414780"/>
            <a:ext cx="258584" cy="2482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5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1" name="Google Shape;31;p35"/>
          <p:cNvSpPr txBox="1"/>
          <p:nvPr>
            <p:ph idx="1" type="body"/>
          </p:nvPr>
        </p:nvSpPr>
        <p:spPr>
          <a:xfrm>
            <a:off x="1524000" y="3602037"/>
            <a:ext cx="9144000" cy="1655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1pPr>
            <a:lvl2pPr indent="-228600" lvl="1" marL="914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2pPr>
            <a:lvl3pPr indent="-228600" lvl="2" marL="1371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3pPr>
            <a:lvl4pPr indent="-228600" lvl="3" marL="18288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4pPr>
            <a:lvl5pPr indent="-228600" lvl="4" marL="22860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32" name="Google Shape;32;p35"/>
          <p:cNvSpPr txBox="1"/>
          <p:nvPr>
            <p:ph idx="12" type="sldNum"/>
          </p:nvPr>
        </p:nvSpPr>
        <p:spPr>
          <a:xfrm>
            <a:off x="11095217" y="6414780"/>
            <a:ext cx="258584" cy="2482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5" name="Google Shape;35;p36"/>
          <p:cNvSpPr txBox="1"/>
          <p:nvPr>
            <p:ph idx="1" type="body"/>
          </p:nvPr>
        </p:nvSpPr>
        <p:spPr>
          <a:xfrm>
            <a:off x="831850" y="4589462"/>
            <a:ext cx="10515600" cy="1500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36" name="Google Shape;36;p36"/>
          <p:cNvSpPr txBox="1"/>
          <p:nvPr>
            <p:ph idx="12" type="sldNum"/>
          </p:nvPr>
        </p:nvSpPr>
        <p:spPr>
          <a:xfrm>
            <a:off x="11095217" y="6414780"/>
            <a:ext cx="258584" cy="2482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9" name="Google Shape;39;p3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40" name="Google Shape;40;p37"/>
          <p:cNvSpPr txBox="1"/>
          <p:nvPr>
            <p:ph idx="12" type="sldNum"/>
          </p:nvPr>
        </p:nvSpPr>
        <p:spPr>
          <a:xfrm>
            <a:off x="11095217" y="6414780"/>
            <a:ext cx="258584" cy="2482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8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3" name="Google Shape;43;p38"/>
          <p:cNvSpPr txBox="1"/>
          <p:nvPr>
            <p:ph idx="1" type="body"/>
          </p:nvPr>
        </p:nvSpPr>
        <p:spPr>
          <a:xfrm>
            <a:off x="839787" y="1681163"/>
            <a:ext cx="5157790" cy="823915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44" name="Google Shape;44;p38"/>
          <p:cNvSpPr txBox="1"/>
          <p:nvPr>
            <p:ph idx="2" type="body"/>
          </p:nvPr>
        </p:nvSpPr>
        <p:spPr>
          <a:xfrm>
            <a:off x="6172200" y="1681163"/>
            <a:ext cx="5183188" cy="823914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45" name="Google Shape;45;p38"/>
          <p:cNvSpPr txBox="1"/>
          <p:nvPr>
            <p:ph idx="12" type="sldNum"/>
          </p:nvPr>
        </p:nvSpPr>
        <p:spPr>
          <a:xfrm>
            <a:off x="11095217" y="6414780"/>
            <a:ext cx="258584" cy="2482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8" name="Google Shape;48;p39"/>
          <p:cNvSpPr txBox="1"/>
          <p:nvPr>
            <p:ph idx="12" type="sldNum"/>
          </p:nvPr>
        </p:nvSpPr>
        <p:spPr>
          <a:xfrm>
            <a:off x="11095217" y="6414780"/>
            <a:ext cx="258584" cy="2482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0"/>
          <p:cNvSpPr txBox="1"/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1" name="Google Shape;51;p40"/>
          <p:cNvSpPr txBox="1"/>
          <p:nvPr>
            <p:ph idx="1" type="body"/>
          </p:nvPr>
        </p:nvSpPr>
        <p:spPr>
          <a:xfrm>
            <a:off x="5183187" y="987425"/>
            <a:ext cx="6172203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318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2pPr>
            <a:lvl3pPr indent="-4318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3pPr>
            <a:lvl4pPr indent="-4318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4pPr>
            <a:lvl5pPr indent="-4318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52" name="Google Shape;52;p40"/>
          <p:cNvSpPr txBox="1"/>
          <p:nvPr>
            <p:ph idx="2" type="body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53" name="Google Shape;53;p40"/>
          <p:cNvSpPr txBox="1"/>
          <p:nvPr>
            <p:ph idx="12" type="sldNum"/>
          </p:nvPr>
        </p:nvSpPr>
        <p:spPr>
          <a:xfrm>
            <a:off x="11095217" y="6414780"/>
            <a:ext cx="258584" cy="2482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1"/>
          <p:cNvSpPr txBox="1"/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6" name="Google Shape;56;p41"/>
          <p:cNvSpPr/>
          <p:nvPr>
            <p:ph idx="2" type="pic"/>
          </p:nvPr>
        </p:nvSpPr>
        <p:spPr>
          <a:xfrm>
            <a:off x="5183187" y="987425"/>
            <a:ext cx="6172203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41"/>
          <p:cNvSpPr txBox="1"/>
          <p:nvPr>
            <p:ph idx="1" type="body"/>
          </p:nvPr>
        </p:nvSpPr>
        <p:spPr>
          <a:xfrm>
            <a:off x="839787" y="2057400"/>
            <a:ext cx="3932240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58" name="Google Shape;58;p41"/>
          <p:cNvSpPr txBox="1"/>
          <p:nvPr>
            <p:ph idx="12" type="sldNum"/>
          </p:nvPr>
        </p:nvSpPr>
        <p:spPr>
          <a:xfrm>
            <a:off x="11095217" y="6414780"/>
            <a:ext cx="258584" cy="2482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3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06400" lvl="2" marL="1371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6400" lvl="3" marL="1828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6400" lvl="4" marL="2286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6400" lvl="5" marL="2743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6400" lvl="6" marL="3200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6400" lvl="7" marL="3657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6400" lvl="8" marL="4114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0"/>
          <p:cNvSpPr txBox="1"/>
          <p:nvPr>
            <p:ph idx="12" type="sldNum"/>
          </p:nvPr>
        </p:nvSpPr>
        <p:spPr>
          <a:xfrm>
            <a:off x="11095217" y="6414780"/>
            <a:ext cx="258584" cy="2482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13fd3e136_0_0"/>
          <p:cNvSpPr/>
          <p:nvPr/>
        </p:nvSpPr>
        <p:spPr>
          <a:xfrm>
            <a:off x="1" y="0"/>
            <a:ext cx="1914600" cy="685800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enho de um círculo&#10;&#10;Descrição gerada automaticamente com confiança baixa" id="65" name="Google Shape;65;g3e13fd3e136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394" y="322704"/>
            <a:ext cx="622719" cy="600016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g3e13fd3e136_0_0"/>
          <p:cNvSpPr txBox="1"/>
          <p:nvPr/>
        </p:nvSpPr>
        <p:spPr>
          <a:xfrm>
            <a:off x="39778" y="1911638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Projeto</a:t>
            </a:r>
            <a:endParaRPr/>
          </a:p>
        </p:txBody>
      </p:sp>
      <p:sp>
        <p:nvSpPr>
          <p:cNvPr id="67" name="Google Shape;67;g3e13fd3e136_0_0"/>
          <p:cNvSpPr txBox="1"/>
          <p:nvPr/>
        </p:nvSpPr>
        <p:spPr>
          <a:xfrm>
            <a:off x="39778" y="2660340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Pagamento</a:t>
            </a:r>
            <a:endParaRPr/>
          </a:p>
        </p:txBody>
      </p:sp>
      <p:sp>
        <p:nvSpPr>
          <p:cNvPr id="68" name="Google Shape;68;g3e13fd3e136_0_0"/>
          <p:cNvSpPr txBox="1"/>
          <p:nvPr/>
        </p:nvSpPr>
        <p:spPr>
          <a:xfrm>
            <a:off x="39778" y="2285989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Investimento</a:t>
            </a:r>
            <a:endParaRPr/>
          </a:p>
        </p:txBody>
      </p:sp>
      <p:sp>
        <p:nvSpPr>
          <p:cNvPr id="69" name="Google Shape;69;g3e13fd3e136_0_0"/>
          <p:cNvSpPr txBox="1"/>
          <p:nvPr/>
        </p:nvSpPr>
        <p:spPr>
          <a:xfrm>
            <a:off x="39778" y="3034691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Prazos</a:t>
            </a:r>
            <a:endParaRPr/>
          </a:p>
        </p:txBody>
      </p:sp>
      <p:sp>
        <p:nvSpPr>
          <p:cNvPr id="70" name="Google Shape;70;g3e13fd3e136_0_0"/>
          <p:cNvSpPr txBox="1"/>
          <p:nvPr/>
        </p:nvSpPr>
        <p:spPr>
          <a:xfrm>
            <a:off x="39778" y="3409042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Garantia</a:t>
            </a:r>
            <a:endParaRPr/>
          </a:p>
        </p:txBody>
      </p:sp>
      <p:sp>
        <p:nvSpPr>
          <p:cNvPr id="71" name="Google Shape;71;g3e13fd3e136_0_0"/>
          <p:cNvSpPr txBox="1"/>
          <p:nvPr/>
        </p:nvSpPr>
        <p:spPr>
          <a:xfrm>
            <a:off x="39778" y="3783395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Regras </a:t>
            </a:r>
            <a:endParaRPr/>
          </a:p>
        </p:txBody>
      </p:sp>
      <p:sp>
        <p:nvSpPr>
          <p:cNvPr id="72" name="Google Shape;72;g3e13fd3e136_0_0"/>
          <p:cNvSpPr txBox="1"/>
          <p:nvPr/>
        </p:nvSpPr>
        <p:spPr>
          <a:xfrm>
            <a:off x="2104811" y="322704"/>
            <a:ext cx="6278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3. Condições de pagamento</a:t>
            </a:r>
            <a:endParaRPr b="1" sz="28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" name="Google Shape;73;g3e13fd3e136_0_0"/>
          <p:cNvSpPr txBox="1"/>
          <p:nvPr/>
        </p:nvSpPr>
        <p:spPr>
          <a:xfrm>
            <a:off x="2109048" y="1647499"/>
            <a:ext cx="4059900" cy="45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Faturamento de materiais, matérias-primas e frete direto dos fornecedores contra a CONTRATANTE, com prazo de </a:t>
            </a:r>
            <a:r>
              <a:rPr lang="en-US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28dd</a:t>
            </a: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para pagamento em caso de CNPJ ou </a:t>
            </a:r>
            <a:r>
              <a:rPr lang="en-US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à vista</a:t>
            </a: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em caso de CPF</a:t>
            </a:r>
            <a:endParaRPr/>
          </a:p>
          <a:p>
            <a:pPr indent="-228600" lvl="0" marL="228600" marR="0" rtl="0" algn="just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Todas as liberações deverão ser autorizadas pela CONTRATANTE</a:t>
            </a:r>
            <a:endParaRPr/>
          </a:p>
          <a:p>
            <a:pPr indent="-228600" lvl="0" marL="228600" marR="0" rtl="0" algn="just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Todo faturamento direto será deduzido após aprovação do pedido de compra e emissão da NF</a:t>
            </a:r>
            <a:endParaRPr/>
          </a:p>
          <a:p>
            <a:pPr indent="-228600" lvl="0" marL="228600" marR="0" rtl="0" algn="just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Não sendo possível atingir o valor limite de faturamento direto, a diferença deverá ser faturada em nome da CONTRATADA</a:t>
            </a:r>
            <a:endParaRPr/>
          </a:p>
        </p:txBody>
      </p:sp>
      <p:sp>
        <p:nvSpPr>
          <p:cNvPr id="74" name="Google Shape;74;g3e13fd3e136_0_0"/>
          <p:cNvSpPr txBox="1"/>
          <p:nvPr/>
        </p:nvSpPr>
        <p:spPr>
          <a:xfrm>
            <a:off x="2100129" y="1015052"/>
            <a:ext cx="2787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Faturamento direto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Até R$ </a:t>
            </a:r>
            <a:endParaRPr/>
          </a:p>
        </p:txBody>
      </p:sp>
      <p:sp>
        <p:nvSpPr>
          <p:cNvPr id="75" name="Google Shape;75;g3e13fd3e136_0_0"/>
          <p:cNvSpPr txBox="1"/>
          <p:nvPr/>
        </p:nvSpPr>
        <p:spPr>
          <a:xfrm>
            <a:off x="6518847" y="1015052"/>
            <a:ext cx="4059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Faturamento Playpiso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Mínimo R$</a:t>
            </a:r>
            <a:endParaRPr/>
          </a:p>
        </p:txBody>
      </p:sp>
      <p:sp>
        <p:nvSpPr>
          <p:cNvPr id="76" name="Google Shape;76;g3e13fd3e136_0_0"/>
          <p:cNvSpPr txBox="1"/>
          <p:nvPr/>
        </p:nvSpPr>
        <p:spPr>
          <a:xfrm>
            <a:off x="6518846" y="1569050"/>
            <a:ext cx="5126700" cy="25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Condição contratual 65% materiais e 35% mão de obra. Haverá retenção de INSS e ISS (notas emitidas diretamente pela Playpiso). Pagamento efetuado via depósito ou boleto bancário somente </a:t>
            </a:r>
            <a:r>
              <a:rPr lang="en-US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após</a:t>
            </a: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emissão da nota fiscal.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FF0000"/>
              </a:buClr>
              <a:buSzPts val="1100"/>
              <a:buFont typeface="Calibri"/>
              <a:buAutoNum type="romanUcPeriod"/>
            </a:pPr>
            <a:r>
              <a:rPr b="0" i="0" lang="en-US" sz="11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30% após assinatura do contrato (sinal)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FF0000"/>
              </a:buClr>
              <a:buSzPts val="1100"/>
              <a:buFont typeface="Calibri"/>
              <a:buAutoNum type="romanUcPeriod"/>
            </a:pPr>
            <a:r>
              <a:rPr b="0" i="0" lang="en-US" sz="11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25% no início da obra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FF0000"/>
              </a:buClr>
              <a:buSzPts val="1100"/>
              <a:buFont typeface="Calibri"/>
              <a:buAutoNum type="romanUcPeriod"/>
            </a:pPr>
            <a:r>
              <a:rPr b="0" i="0" lang="en-US" sz="11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25% a 30 dd do início da obra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FF0000"/>
              </a:buClr>
              <a:buSzPts val="1100"/>
              <a:buFont typeface="Calibri"/>
              <a:buAutoNum type="romanUcPeriod"/>
            </a:pPr>
            <a:r>
              <a:rPr b="0" i="0" lang="en-US" sz="11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20% a 60 dd do início da obra</a:t>
            </a:r>
            <a:endParaRPr/>
          </a:p>
        </p:txBody>
      </p:sp>
      <p:sp>
        <p:nvSpPr>
          <p:cNvPr id="77" name="Google Shape;77;g3e13fd3e136_0_0"/>
          <p:cNvSpPr txBox="1"/>
          <p:nvPr/>
        </p:nvSpPr>
        <p:spPr>
          <a:xfrm>
            <a:off x="39778" y="5978403"/>
            <a:ext cx="10632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Proposta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" name="Google Shape;78;g3e13fd3e136_0_0"/>
          <p:cNvSpPr txBox="1"/>
          <p:nvPr/>
        </p:nvSpPr>
        <p:spPr>
          <a:xfrm>
            <a:off x="6514761" y="4324196"/>
            <a:ext cx="512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Poppins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Documentos para faturamento direto</a:t>
            </a:r>
            <a:endParaRPr/>
          </a:p>
        </p:txBody>
      </p:sp>
      <p:sp>
        <p:nvSpPr>
          <p:cNvPr id="79" name="Google Shape;79;g3e13fd3e136_0_0"/>
          <p:cNvSpPr txBox="1"/>
          <p:nvPr/>
        </p:nvSpPr>
        <p:spPr>
          <a:xfrm>
            <a:off x="6514760" y="4781283"/>
            <a:ext cx="2718600" cy="18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Cartão CNPJ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Contrato Social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Informações bancárias e comerciais (Ficha Cadastral)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Três notas fiscais recentes de valores expressivos com respectivos boletos pagos</a:t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" name="Google Shape;80;g3e13fd3e136_0_0"/>
          <p:cNvSpPr txBox="1"/>
          <p:nvPr/>
        </p:nvSpPr>
        <p:spPr>
          <a:xfrm>
            <a:off x="9451681" y="4781284"/>
            <a:ext cx="2245800" cy="15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Balanço Patrimonial / </a:t>
            </a:r>
            <a:r>
              <a:rPr b="0" i="0" lang="en-US" sz="12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Poppins"/>
                <a:ea typeface="Poppins"/>
                <a:cs typeface="Poppins"/>
                <a:sym typeface="Poppins"/>
              </a:rPr>
              <a:t>Balancete atualizado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Informações do aprovador do faturamento direto (nome, email e telefone)</a:t>
            </a:r>
            <a:endParaRPr b="0" i="0" sz="11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13fd3e136_0_96"/>
          <p:cNvSpPr txBox="1"/>
          <p:nvPr/>
        </p:nvSpPr>
        <p:spPr>
          <a:xfrm>
            <a:off x="2104811" y="1002302"/>
            <a:ext cx="85446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Início dos trabalhos:			</a:t>
            </a: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Até 30 dias após assinatura do contrato e pagamento do sinal  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Prazo de execução:</a:t>
            </a: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				xx dias trabalhados (sem ocorrência de chuvas)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Validade da proposta:		</a:t>
            </a: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15 dias</a:t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" name="Google Shape;87;g3e13fd3e136_0_96"/>
          <p:cNvSpPr/>
          <p:nvPr/>
        </p:nvSpPr>
        <p:spPr>
          <a:xfrm>
            <a:off x="1" y="0"/>
            <a:ext cx="1914600" cy="685800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enho de um círculo&#10;&#10;Descrição gerada automaticamente com confiança baixa" id="88" name="Google Shape;88;g3e13fd3e136_0_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394" y="322704"/>
            <a:ext cx="622719" cy="600016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3e13fd3e136_0_96"/>
          <p:cNvSpPr txBox="1"/>
          <p:nvPr/>
        </p:nvSpPr>
        <p:spPr>
          <a:xfrm>
            <a:off x="39778" y="1911638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Projeto</a:t>
            </a:r>
            <a:endParaRPr/>
          </a:p>
        </p:txBody>
      </p:sp>
      <p:sp>
        <p:nvSpPr>
          <p:cNvPr id="90" name="Google Shape;90;g3e13fd3e136_0_96"/>
          <p:cNvSpPr txBox="1"/>
          <p:nvPr/>
        </p:nvSpPr>
        <p:spPr>
          <a:xfrm>
            <a:off x="39778" y="2660340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Pagamento</a:t>
            </a:r>
            <a:endParaRPr/>
          </a:p>
        </p:txBody>
      </p:sp>
      <p:sp>
        <p:nvSpPr>
          <p:cNvPr id="91" name="Google Shape;91;g3e13fd3e136_0_96"/>
          <p:cNvSpPr txBox="1"/>
          <p:nvPr/>
        </p:nvSpPr>
        <p:spPr>
          <a:xfrm>
            <a:off x="39778" y="2285989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Investimento</a:t>
            </a:r>
            <a:endParaRPr/>
          </a:p>
        </p:txBody>
      </p:sp>
      <p:sp>
        <p:nvSpPr>
          <p:cNvPr id="92" name="Google Shape;92;g3e13fd3e136_0_96"/>
          <p:cNvSpPr txBox="1"/>
          <p:nvPr/>
        </p:nvSpPr>
        <p:spPr>
          <a:xfrm>
            <a:off x="39778" y="3034691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Prazos</a:t>
            </a:r>
            <a:endParaRPr/>
          </a:p>
        </p:txBody>
      </p:sp>
      <p:sp>
        <p:nvSpPr>
          <p:cNvPr id="93" name="Google Shape;93;g3e13fd3e136_0_96"/>
          <p:cNvSpPr txBox="1"/>
          <p:nvPr/>
        </p:nvSpPr>
        <p:spPr>
          <a:xfrm>
            <a:off x="39778" y="3409042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Garantia</a:t>
            </a:r>
            <a:endParaRPr/>
          </a:p>
        </p:txBody>
      </p:sp>
      <p:sp>
        <p:nvSpPr>
          <p:cNvPr id="94" name="Google Shape;94;g3e13fd3e136_0_96"/>
          <p:cNvSpPr txBox="1"/>
          <p:nvPr/>
        </p:nvSpPr>
        <p:spPr>
          <a:xfrm>
            <a:off x="39778" y="3783395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Regras </a:t>
            </a:r>
            <a:endParaRPr/>
          </a:p>
        </p:txBody>
      </p:sp>
      <p:sp>
        <p:nvSpPr>
          <p:cNvPr id="95" name="Google Shape;95;g3e13fd3e136_0_96"/>
          <p:cNvSpPr txBox="1"/>
          <p:nvPr/>
        </p:nvSpPr>
        <p:spPr>
          <a:xfrm>
            <a:off x="2104811" y="322704"/>
            <a:ext cx="6278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4. Prazos</a:t>
            </a:r>
            <a:endParaRPr b="1" sz="28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96;g3e13fd3e136_0_96"/>
          <p:cNvSpPr txBox="1"/>
          <p:nvPr/>
        </p:nvSpPr>
        <p:spPr>
          <a:xfrm>
            <a:off x="2104810" y="3247820"/>
            <a:ext cx="95646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Playpiso fornece uma garantia de 5 anos a partir da entrega da obra, assegurando a alta qualidade da mão de obra e dos materiais utilizados, os quais devem manter suas características originais. </a:t>
            </a:r>
            <a:endParaRPr/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 entanto, é importante ressaltar que a </a:t>
            </a:r>
            <a:r>
              <a:rPr b="1" i="0"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garantia não abrange danos causados pela falta de manutenção adequada</a:t>
            </a:r>
            <a:r>
              <a:rPr b="0" i="0"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(conforme as instruções descritas no Manual do Proprietário da Quadra), </a:t>
            </a:r>
            <a:r>
              <a:rPr b="1" i="0"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vandalismo, recalques do terreno</a:t>
            </a:r>
            <a:r>
              <a:rPr b="0" i="0"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entre outros fatores similares.</a:t>
            </a: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	</a:t>
            </a:r>
            <a:endParaRPr/>
          </a:p>
        </p:txBody>
      </p:sp>
      <p:sp>
        <p:nvSpPr>
          <p:cNvPr id="97" name="Google Shape;97;g3e13fd3e136_0_96"/>
          <p:cNvSpPr txBox="1"/>
          <p:nvPr/>
        </p:nvSpPr>
        <p:spPr>
          <a:xfrm>
            <a:off x="2104810" y="2663045"/>
            <a:ext cx="6278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5. Garantia</a:t>
            </a:r>
            <a:endParaRPr b="1" sz="28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" name="Google Shape;98;g3e13fd3e136_0_96"/>
          <p:cNvSpPr txBox="1"/>
          <p:nvPr/>
        </p:nvSpPr>
        <p:spPr>
          <a:xfrm>
            <a:off x="10977" y="6056863"/>
            <a:ext cx="10632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Proposta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13fd3e136_0_188"/>
          <p:cNvSpPr txBox="1"/>
          <p:nvPr/>
        </p:nvSpPr>
        <p:spPr>
          <a:xfrm>
            <a:off x="2104811" y="1184478"/>
            <a:ext cx="96228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30400" lvl="0" marL="2304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Frete dos materiais e equipamentos necessários à execução dos serviços;</a:t>
            </a:r>
            <a:endParaRPr/>
          </a:p>
          <a:p>
            <a:pPr indent="-230400" lvl="0" marL="2304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Transporte e condução para equipe de serviços;</a:t>
            </a:r>
            <a:endParaRPr/>
          </a:p>
          <a:p>
            <a:pPr indent="-230400" lvl="0" marL="2304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  <a:highlight>
                  <a:srgbClr val="FFFF00"/>
                </a:highlight>
                <a:latin typeface="Poppins"/>
                <a:ea typeface="Poppins"/>
                <a:cs typeface="Poppins"/>
                <a:sym typeface="Poppins"/>
              </a:rPr>
              <a:t>Alojamento</a:t>
            </a: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 alimentação para equipe de serviço;</a:t>
            </a:r>
            <a:endParaRPr/>
          </a:p>
          <a:p>
            <a:pPr indent="-230400" lvl="0" marL="2304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Visitas de engenheiro na obra;</a:t>
            </a:r>
            <a:endParaRPr/>
          </a:p>
          <a:p>
            <a:pPr indent="-230400" lvl="0" marL="2304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Fornecimento de mão de obra especializada, maquinário e ferramentas necessárias à execução dos serviços de acordo com as especificações técnicas acima descritas;</a:t>
            </a:r>
            <a:endParaRPr/>
          </a:p>
          <a:p>
            <a:pPr indent="-230400" lvl="0" marL="2304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Encargos sociais, operacionais e tributos devidos, limpeza final da obra e EPI’s (equipamentos de proteção individual).</a:t>
            </a:r>
            <a:endParaRPr/>
          </a:p>
        </p:txBody>
      </p:sp>
      <p:sp>
        <p:nvSpPr>
          <p:cNvPr id="105" name="Google Shape;105;g3e13fd3e136_0_188"/>
          <p:cNvSpPr/>
          <p:nvPr/>
        </p:nvSpPr>
        <p:spPr>
          <a:xfrm>
            <a:off x="1" y="0"/>
            <a:ext cx="1914600" cy="685800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enho de um círculo&#10;&#10;Descrição gerada automaticamente com confiança baixa" id="106" name="Google Shape;106;g3e13fd3e136_0_1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394" y="322704"/>
            <a:ext cx="622719" cy="60001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g3e13fd3e136_0_188"/>
          <p:cNvSpPr txBox="1"/>
          <p:nvPr/>
        </p:nvSpPr>
        <p:spPr>
          <a:xfrm>
            <a:off x="39778" y="1911638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Projeto</a:t>
            </a:r>
            <a:endParaRPr/>
          </a:p>
        </p:txBody>
      </p:sp>
      <p:sp>
        <p:nvSpPr>
          <p:cNvPr id="108" name="Google Shape;108;g3e13fd3e136_0_188"/>
          <p:cNvSpPr txBox="1"/>
          <p:nvPr/>
        </p:nvSpPr>
        <p:spPr>
          <a:xfrm>
            <a:off x="39778" y="2660340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Pagamento</a:t>
            </a:r>
            <a:endParaRPr/>
          </a:p>
        </p:txBody>
      </p:sp>
      <p:sp>
        <p:nvSpPr>
          <p:cNvPr id="109" name="Google Shape;109;g3e13fd3e136_0_188"/>
          <p:cNvSpPr txBox="1"/>
          <p:nvPr/>
        </p:nvSpPr>
        <p:spPr>
          <a:xfrm>
            <a:off x="39778" y="2285989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Investimento</a:t>
            </a:r>
            <a:endParaRPr/>
          </a:p>
        </p:txBody>
      </p:sp>
      <p:sp>
        <p:nvSpPr>
          <p:cNvPr id="110" name="Google Shape;110;g3e13fd3e136_0_188"/>
          <p:cNvSpPr txBox="1"/>
          <p:nvPr/>
        </p:nvSpPr>
        <p:spPr>
          <a:xfrm>
            <a:off x="39778" y="3034691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Prazos</a:t>
            </a:r>
            <a:endParaRPr/>
          </a:p>
        </p:txBody>
      </p:sp>
      <p:sp>
        <p:nvSpPr>
          <p:cNvPr id="111" name="Google Shape;111;g3e13fd3e136_0_188"/>
          <p:cNvSpPr txBox="1"/>
          <p:nvPr/>
        </p:nvSpPr>
        <p:spPr>
          <a:xfrm>
            <a:off x="39778" y="3409042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Garantia</a:t>
            </a:r>
            <a:endParaRPr/>
          </a:p>
        </p:txBody>
      </p:sp>
      <p:sp>
        <p:nvSpPr>
          <p:cNvPr id="112" name="Google Shape;112;g3e13fd3e136_0_188"/>
          <p:cNvSpPr txBox="1"/>
          <p:nvPr/>
        </p:nvSpPr>
        <p:spPr>
          <a:xfrm>
            <a:off x="39778" y="3783395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Regras</a:t>
            </a: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/>
          </a:p>
        </p:txBody>
      </p:sp>
      <p:sp>
        <p:nvSpPr>
          <p:cNvPr id="113" name="Google Shape;113;g3e13fd3e136_0_188"/>
          <p:cNvSpPr txBox="1"/>
          <p:nvPr/>
        </p:nvSpPr>
        <p:spPr>
          <a:xfrm>
            <a:off x="2104811" y="322704"/>
            <a:ext cx="6278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6. Regras do Jogo</a:t>
            </a:r>
            <a:endParaRPr b="1" sz="18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Responsabilidades da Contratada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13fd3e136_0_202"/>
          <p:cNvSpPr txBox="1"/>
          <p:nvPr/>
        </p:nvSpPr>
        <p:spPr>
          <a:xfrm>
            <a:off x="2104811" y="1176527"/>
            <a:ext cx="9674100" cy="50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  <a:highlight>
                  <a:srgbClr val="FFFF00"/>
                </a:highlight>
                <a:latin typeface="Poppins"/>
                <a:ea typeface="Poppins"/>
                <a:cs typeface="Poppins"/>
                <a:sym typeface="Poppins"/>
              </a:rPr>
              <a:t>Executar serviços de limpeza geral (remoção de solo orgânico, ervas daninhas, etc), terraplanagem geral (corte, aterro, remoção de terra, nivelamento, compactação superior à 96% P.N) deixando caimento de 1% para uma das laterais do terreno; </a:t>
            </a:r>
            <a:r>
              <a:rPr lang="en-US" sz="1200">
                <a:highlight>
                  <a:srgbClr val="FFFF00"/>
                </a:highlight>
                <a:latin typeface="Poppins"/>
                <a:ea typeface="Poppins"/>
                <a:cs typeface="Poppins"/>
                <a:sym typeface="Poppins"/>
              </a:rPr>
              <a:t>(Terreno)</a:t>
            </a:r>
            <a:endParaRPr>
              <a:highlight>
                <a:srgbClr val="FFFF00"/>
              </a:highlight>
            </a:endParaRPr>
          </a:p>
          <a:p>
            <a:pPr indent="-228600" lvl="0" marL="2286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Proteger jardins, gramados, pisos e paredes próximos ao local de execução dos serviços;</a:t>
            </a:r>
            <a:endParaRPr/>
          </a:p>
          <a:p>
            <a:pPr indent="-228600" lvl="0" marL="2286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highlight>
                  <a:srgbClr val="FFFF00"/>
                </a:highlight>
                <a:latin typeface="Poppins"/>
                <a:ea typeface="Poppins"/>
                <a:cs typeface="Poppins"/>
                <a:sym typeface="Poppins"/>
              </a:rPr>
              <a:t>Responsabilizar-se quanto à capacidade de dimensionamento da laje, sendo que durante a execução dos serviços onde será utilizado o rolo compactador manual teremos uma sobrecarga de no mínimo 530kg/m²</a:t>
            </a:r>
            <a:r>
              <a:rPr baseline="30000" lang="en-US" sz="1200">
                <a:solidFill>
                  <a:schemeClr val="dk1"/>
                </a:solidFill>
                <a:highlight>
                  <a:srgbClr val="FFFF00"/>
                </a:highlight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-US" sz="1200">
                <a:solidFill>
                  <a:schemeClr val="dk1"/>
                </a:solidFill>
                <a:highlight>
                  <a:srgbClr val="FFFF00"/>
                </a:highlight>
                <a:latin typeface="Poppins"/>
                <a:ea typeface="Poppins"/>
                <a:cs typeface="Poppins"/>
                <a:sym typeface="Poppins"/>
              </a:rPr>
              <a:t>e após a execução da base asfáltica uma sobrecarga de no mínimo 330kg/m² (pode haver alteração de acordo com o tipo da laje); (Laje)</a:t>
            </a:r>
            <a:endParaRPr baseline="30000" sz="1200">
              <a:solidFill>
                <a:schemeClr val="dk1"/>
              </a:solidFill>
              <a:highlight>
                <a:srgbClr val="FFFF00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-228600" lvl="0" marL="2286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highlight>
                  <a:srgbClr val="FFFF00"/>
                </a:highlight>
                <a:latin typeface="Poppins"/>
                <a:ea typeface="Poppins"/>
                <a:cs typeface="Poppins"/>
                <a:sym typeface="Poppins"/>
              </a:rPr>
              <a:t>Entregar a laje impermeabilizada e com declividade de 1% para uma das laterais;(Laje)</a:t>
            </a:r>
            <a:endParaRPr sz="1200">
              <a:solidFill>
                <a:schemeClr val="dk1"/>
              </a:solidFill>
              <a:highlight>
                <a:srgbClr val="FFFF00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-228600" lvl="0" marL="2286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Local seguro para guarda de materiais, equipamentos e ferramentas;</a:t>
            </a:r>
            <a:endParaRPr sz="12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28600" lvl="0" marL="2286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Fornecimento de banheiro e vestiário para a equipe de trabalho;</a:t>
            </a:r>
            <a:endParaRPr/>
          </a:p>
          <a:p>
            <a:pPr indent="-228600" lvl="0" marL="2286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Viabilizar acesso fácil para o transporte dos materiais até o local dos serviços;</a:t>
            </a:r>
            <a:endParaRPr/>
          </a:p>
          <a:p>
            <a:pPr indent="-228600" lvl="0" marL="2286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Fornecimento, no local da obra, de água e energia elétrica necessárias aos trabalhos;</a:t>
            </a:r>
            <a:endParaRPr/>
          </a:p>
          <a:p>
            <a:pPr indent="-228600" lvl="0" marL="2286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Fornecimento de transporte vertical dos materiais até o local de execução dos serviços;</a:t>
            </a:r>
            <a:endParaRPr/>
          </a:p>
          <a:p>
            <a:pPr indent="-228600" lvl="0" marL="2286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Quadro de comando completo com respectiva alimentação elétrica ligada, com distância de 5,00m da quadra.</a:t>
            </a:r>
            <a:endParaRPr/>
          </a:p>
        </p:txBody>
      </p:sp>
      <p:sp>
        <p:nvSpPr>
          <p:cNvPr id="120" name="Google Shape;120;g3e13fd3e136_0_202"/>
          <p:cNvSpPr/>
          <p:nvPr/>
        </p:nvSpPr>
        <p:spPr>
          <a:xfrm>
            <a:off x="1" y="0"/>
            <a:ext cx="1914600" cy="685800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enho de um círculo&#10;&#10;Descrição gerada automaticamente com confiança baixa" id="121" name="Google Shape;121;g3e13fd3e136_0_2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394" y="322704"/>
            <a:ext cx="622719" cy="600016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e13fd3e136_0_202"/>
          <p:cNvSpPr txBox="1"/>
          <p:nvPr/>
        </p:nvSpPr>
        <p:spPr>
          <a:xfrm>
            <a:off x="39778" y="1911638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Projeto</a:t>
            </a:r>
            <a:endParaRPr/>
          </a:p>
        </p:txBody>
      </p:sp>
      <p:sp>
        <p:nvSpPr>
          <p:cNvPr id="123" name="Google Shape;123;g3e13fd3e136_0_202"/>
          <p:cNvSpPr txBox="1"/>
          <p:nvPr/>
        </p:nvSpPr>
        <p:spPr>
          <a:xfrm>
            <a:off x="39778" y="2660340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Pagamento</a:t>
            </a:r>
            <a:endParaRPr/>
          </a:p>
        </p:txBody>
      </p:sp>
      <p:sp>
        <p:nvSpPr>
          <p:cNvPr id="124" name="Google Shape;124;g3e13fd3e136_0_202"/>
          <p:cNvSpPr txBox="1"/>
          <p:nvPr/>
        </p:nvSpPr>
        <p:spPr>
          <a:xfrm>
            <a:off x="39778" y="2285989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Investimento</a:t>
            </a:r>
            <a:endParaRPr/>
          </a:p>
        </p:txBody>
      </p:sp>
      <p:sp>
        <p:nvSpPr>
          <p:cNvPr id="125" name="Google Shape;125;g3e13fd3e136_0_202"/>
          <p:cNvSpPr txBox="1"/>
          <p:nvPr/>
        </p:nvSpPr>
        <p:spPr>
          <a:xfrm>
            <a:off x="39778" y="3034691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Prazos</a:t>
            </a:r>
            <a:endParaRPr/>
          </a:p>
        </p:txBody>
      </p:sp>
      <p:sp>
        <p:nvSpPr>
          <p:cNvPr id="126" name="Google Shape;126;g3e13fd3e136_0_202"/>
          <p:cNvSpPr txBox="1"/>
          <p:nvPr/>
        </p:nvSpPr>
        <p:spPr>
          <a:xfrm>
            <a:off x="39778" y="3409042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Garantia</a:t>
            </a:r>
            <a:endParaRPr/>
          </a:p>
        </p:txBody>
      </p:sp>
      <p:sp>
        <p:nvSpPr>
          <p:cNvPr id="127" name="Google Shape;127;g3e13fd3e136_0_202"/>
          <p:cNvSpPr txBox="1"/>
          <p:nvPr/>
        </p:nvSpPr>
        <p:spPr>
          <a:xfrm>
            <a:off x="39778" y="3783395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Regras</a:t>
            </a: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/>
          </a:p>
        </p:txBody>
      </p:sp>
      <p:sp>
        <p:nvSpPr>
          <p:cNvPr id="128" name="Google Shape;128;g3e13fd3e136_0_202"/>
          <p:cNvSpPr txBox="1"/>
          <p:nvPr/>
        </p:nvSpPr>
        <p:spPr>
          <a:xfrm>
            <a:off x="2104811" y="322704"/>
            <a:ext cx="62781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7. Regras do Jogo</a:t>
            </a:r>
            <a:endParaRPr b="1" sz="18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Responsabilidades do Contratante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0000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13fd3e136_0_291"/>
          <p:cNvSpPr txBox="1"/>
          <p:nvPr/>
        </p:nvSpPr>
        <p:spPr>
          <a:xfrm>
            <a:off x="2711724" y="2921168"/>
            <a:ext cx="6768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oppins"/>
              <a:buNone/>
            </a:pPr>
            <a:r>
              <a:rPr b="1" i="0" lang="en-US" sz="6000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Vem pro jogo</a:t>
            </a:r>
            <a:endParaRPr b="0" i="0" sz="6000" u="sng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