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25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BE831E-095E-0FB3-C8EC-E08C03E26D19}" v="22" dt="2026-05-18T18:02:17.8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550D1-219E-4B53-A522-9B245522E889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6ABCA-B24F-4668-9ABF-F6AE13A694B2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624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4034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253F9D74-5021-4F65-84A3-772DC405F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67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3" name="Retângulo 1">
            <a:extLst>
              <a:ext uri="{FF2B5EF4-FFF2-40B4-BE49-F238E27FC236}">
                <a16:creationId xmlns:a16="http://schemas.microsoft.com/office/drawing/2014/main" id="{F314F01E-F438-79CC-7775-4BBE2B751C77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A79A1F1D-F3BF-1BF8-92F0-799FCE395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5" name="CaixaDeTexto 10">
            <a:extLst>
              <a:ext uri="{FF2B5EF4-FFF2-40B4-BE49-F238E27FC236}">
                <a16:creationId xmlns:a16="http://schemas.microsoft.com/office/drawing/2014/main" id="{A25FDD9F-37AC-20FF-4419-477CFA78378B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E2059CD2-05F5-719A-ED86-ADB184224789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D77F999A-5848-35DE-10DC-CE2AF7702A9B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AB20D068-0191-EC87-39C8-8ABC2F89A765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888BC6D8-EFB0-D415-3CDC-094DC4BB423B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C5F74E3F-2F18-056B-DEF9-116B7217D0EB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3" name="CaixaDeTexto 17">
            <a:extLst>
              <a:ext uri="{FF2B5EF4-FFF2-40B4-BE49-F238E27FC236}">
                <a16:creationId xmlns:a16="http://schemas.microsoft.com/office/drawing/2014/main" id="{C0CA1E5A-9F36-C554-24B3-CBDA6372F5F4}"/>
              </a:ext>
            </a:extLst>
          </p:cNvPr>
          <p:cNvSpPr txBox="1"/>
          <p:nvPr/>
        </p:nvSpPr>
        <p:spPr>
          <a:xfrm>
            <a:off x="2104810" y="852212"/>
            <a:ext cx="9809795" cy="387798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solidFill>
                  <a:srgbClr val="FF0000"/>
                </a:solidFill>
                <a:effectLst/>
                <a:latin typeface="Poppins"/>
                <a:ea typeface="Times New Roman" panose="02020603050405020304" pitchFamily="18" charset="0"/>
                <a:cs typeface="Poppins"/>
              </a:rPr>
              <a:t>1. Projeto – </a:t>
            </a:r>
            <a:r>
              <a:rPr lang="pt-BR" sz="1600" b="1" dirty="0">
                <a:solidFill>
                  <a:srgbClr val="000000"/>
                </a:solidFill>
                <a:latin typeface="Poppins"/>
                <a:ea typeface="Times New Roman" panose="02020603050405020304" pitchFamily="18" charset="0"/>
                <a:cs typeface="Poppins"/>
              </a:rPr>
              <a:t>{{ sumario }}</a:t>
            </a:r>
          </a:p>
          <a:p>
            <a:pPr lvl="0">
              <a:lnSpc>
                <a:spcPct val="250000"/>
              </a:lnSpc>
            </a:pPr>
            <a:r>
              <a:rPr lang="pt-BR" sz="1600" b="1" dirty="0">
                <a:solidFill>
                  <a:srgbClr val="FF0000"/>
                </a:solidFill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2. Investimento</a:t>
            </a:r>
          </a:p>
          <a:p>
            <a:pPr lvl="0"/>
            <a:endParaRPr lang="pt-BR" sz="1400" b="1" dirty="0">
              <a:solidFill>
                <a:srgbClr val="FF0000"/>
              </a:solidFill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lvl="0"/>
            <a:r>
              <a:rPr lang="pt-BR" sz="1600" b="1" dirty="0">
                <a:solidFill>
                  <a:srgbClr val="FF0000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3. Condições de Pagamento</a:t>
            </a:r>
          </a:p>
          <a:p>
            <a:pPr lvl="0"/>
            <a:endParaRPr lang="pt-BR" sz="1400" b="1" dirty="0">
              <a:solidFill>
                <a:srgbClr val="FF0000"/>
              </a:solidFill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lvl="0"/>
            <a:r>
              <a:rPr lang="pt-BR" sz="1600" b="1" dirty="0">
                <a:solidFill>
                  <a:srgbClr val="FF0000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4. Prazos</a:t>
            </a:r>
          </a:p>
          <a:p>
            <a:pPr lvl="0"/>
            <a:endParaRPr lang="pt-BR" sz="1400" b="1" dirty="0">
              <a:solidFill>
                <a:srgbClr val="FF0000"/>
              </a:solidFill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lvl="0"/>
            <a:r>
              <a:rPr lang="pt-BR" sz="1600" b="1" dirty="0">
                <a:solidFill>
                  <a:srgbClr val="FF0000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5. Garantia</a:t>
            </a:r>
          </a:p>
          <a:p>
            <a:pPr lvl="0"/>
            <a:endParaRPr lang="pt-BR" sz="1600" b="1" dirty="0">
              <a:solidFill>
                <a:srgbClr val="FF0000"/>
              </a:solidFill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lvl="0"/>
            <a:r>
              <a:rPr lang="pt-BR" sz="1600" b="1" dirty="0">
                <a:solidFill>
                  <a:srgbClr val="FF0000"/>
                </a:solidFill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6</a:t>
            </a:r>
            <a:r>
              <a:rPr lang="pt-BR" sz="1600" b="1" dirty="0">
                <a:solidFill>
                  <a:srgbClr val="FF0000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. Responsabilidades da Contratada</a:t>
            </a:r>
          </a:p>
          <a:p>
            <a:pPr lvl="0"/>
            <a:endParaRPr lang="pt-BR" sz="1400" b="1" dirty="0">
              <a:solidFill>
                <a:srgbClr val="FF0000"/>
              </a:solidFill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lvl="0"/>
            <a:r>
              <a:rPr lang="pt-BR" sz="1600" b="1" dirty="0">
                <a:solidFill>
                  <a:srgbClr val="FF0000"/>
                </a:solidFill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7</a:t>
            </a:r>
            <a:r>
              <a:rPr lang="pt-BR" sz="1600" b="1" dirty="0">
                <a:solidFill>
                  <a:srgbClr val="FF0000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. Responsabilidades do Contratante</a:t>
            </a:r>
          </a:p>
          <a:p>
            <a:pPr lvl="0"/>
            <a:endParaRPr lang="pt-BR" sz="1400" b="1" dirty="0">
              <a:solidFill>
                <a:srgbClr val="FF0000"/>
              </a:solidFill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r>
              <a:rPr lang="pt-BR" sz="1600" b="1" dirty="0">
                <a:solidFill>
                  <a:srgbClr val="FF0000"/>
                </a:solidFill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8</a:t>
            </a:r>
            <a:r>
              <a:rPr lang="pt-BR" sz="1600" b="1" dirty="0">
                <a:solidFill>
                  <a:srgbClr val="FF0000"/>
                </a:solidFill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. Considerações Gerais</a:t>
            </a:r>
          </a:p>
        </p:txBody>
      </p:sp>
      <p:sp>
        <p:nvSpPr>
          <p:cNvPr id="31" name="CaixaDeTexto 15">
            <a:extLst>
              <a:ext uri="{FF2B5EF4-FFF2-40B4-BE49-F238E27FC236}">
                <a16:creationId xmlns:a16="http://schemas.microsoft.com/office/drawing/2014/main" id="{5B7FCF8A-1C73-1893-254C-F8C34FD1384B}"/>
              </a:ext>
            </a:extLst>
          </p:cNvPr>
          <p:cNvSpPr txBox="1"/>
          <p:nvPr/>
        </p:nvSpPr>
        <p:spPr>
          <a:xfrm>
            <a:off x="2104811" y="317431"/>
            <a:ext cx="28471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Sumário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E30F853-B5CF-F55D-20CC-9267254596C3}"/>
              </a:ext>
            </a:extLst>
          </p:cNvPr>
          <p:cNvSpPr txBox="1"/>
          <p:nvPr/>
        </p:nvSpPr>
        <p:spPr>
          <a:xfrm>
            <a:off x="39778" y="4431263"/>
            <a:ext cx="1063214" cy="6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Proposta</a:t>
            </a:r>
          </a:p>
          <a:p>
            <a:pPr algn="just">
              <a:lnSpc>
                <a:spcPct val="150000"/>
              </a:lnSpc>
            </a:pPr>
            <a:r>
              <a:rPr lang="pt-BR" sz="14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 </a:t>
            </a:r>
          </a:p>
        </p:txBody>
      </p:sp>
    </p:spTree>
    <p:extLst>
      <p:ext uri="{BB962C8B-B14F-4D97-AF65-F5344CB8AC3E}">
        <p14:creationId xmlns:p14="http://schemas.microsoft.com/office/powerpoint/2010/main" val="30089486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created xsi:type="dcterms:W3CDTF">2026-05-18T17:57:41Z</dcterms:created>
  <dcterms:modified xsi:type="dcterms:W3CDTF">2026-05-18T18:02:18Z</dcterms:modified>
</cp:coreProperties>
</file>