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53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225E7D-40D9-CF44-DB31-1C01038BBA60}" v="944" dt="2026-05-19T16:39:44.8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B58FC-6199-4481-AE05-143CE4D4EDAB}" type="datetimeFigureOut">
              <a:t>19/05/2026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BC3D7D-6A6F-4DDA-8EAF-22802233670F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8152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336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1">
            <a:extLst>
              <a:ext uri="{FF2B5EF4-FFF2-40B4-BE49-F238E27FC236}">
                <a16:creationId xmlns:a16="http://schemas.microsoft.com/office/drawing/2014/main" id="{98415AD4-453C-2C61-8074-33765217D21C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9970300F-E250-1F22-96B2-E557FEBB5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6" name="CaixaDeTexto 10">
            <a:extLst>
              <a:ext uri="{FF2B5EF4-FFF2-40B4-BE49-F238E27FC236}">
                <a16:creationId xmlns:a16="http://schemas.microsoft.com/office/drawing/2014/main" id="{5FB0C76A-92D8-A462-B856-3F8AC6B113A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0EAF9B9D-DDBE-6D68-4267-55B3D2D13971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9E11D68-CFA7-DE20-79FC-ED7EA652C72B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321A007E-2704-52F9-6888-BF8B31D713A8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4D0600C1-6FD1-1AC7-5817-6D6042A8FA0E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CC8C0389-6754-B764-8786-C5E8DF0F58E5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4" name="CaixaDeTexto 15">
            <a:extLst>
              <a:ext uri="{FF2B5EF4-FFF2-40B4-BE49-F238E27FC236}">
                <a16:creationId xmlns:a16="http://schemas.microsoft.com/office/drawing/2014/main" id="{CF4E99DB-D5CF-6669-C4F8-61957610BA69}"/>
              </a:ext>
            </a:extLst>
          </p:cNvPr>
          <p:cNvSpPr txBox="1"/>
          <p:nvPr/>
        </p:nvSpPr>
        <p:spPr>
          <a:xfrm>
            <a:off x="2104811" y="322704"/>
            <a:ext cx="3907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2. Investimento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graphicFrame>
        <p:nvGraphicFramePr>
          <p:cNvPr id="2" name="Tabela 7">
            <a:extLst>
              <a:ext uri="{FF2B5EF4-FFF2-40B4-BE49-F238E27FC236}">
                <a16:creationId xmlns:a16="http://schemas.microsoft.com/office/drawing/2014/main" id="{BDCC2FDF-F159-B141-A8D3-99D5A6844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926105"/>
              </p:ext>
            </p:extLst>
          </p:nvPr>
        </p:nvGraphicFramePr>
        <p:xfrm>
          <a:off x="2104811" y="885967"/>
          <a:ext cx="9677872" cy="4709402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5101099">
                  <a:extLst>
                    <a:ext uri="{9D8B030D-6E8A-4147-A177-3AD203B41FA5}">
                      <a16:colId xmlns:a16="http://schemas.microsoft.com/office/drawing/2014/main" val="1778375940"/>
                    </a:ext>
                  </a:extLst>
                </a:gridCol>
                <a:gridCol w="1324543">
                  <a:extLst>
                    <a:ext uri="{9D8B030D-6E8A-4147-A177-3AD203B41FA5}">
                      <a16:colId xmlns:a16="http://schemas.microsoft.com/office/drawing/2014/main" val="4254550965"/>
                    </a:ext>
                  </a:extLst>
                </a:gridCol>
                <a:gridCol w="1454633">
                  <a:extLst>
                    <a:ext uri="{9D8B030D-6E8A-4147-A177-3AD203B41FA5}">
                      <a16:colId xmlns:a16="http://schemas.microsoft.com/office/drawing/2014/main" val="3290749713"/>
                    </a:ext>
                  </a:extLst>
                </a:gridCol>
                <a:gridCol w="1797597">
                  <a:extLst>
                    <a:ext uri="{9D8B030D-6E8A-4147-A177-3AD203B41FA5}">
                      <a16:colId xmlns:a16="http://schemas.microsoft.com/office/drawing/2014/main" val="2787835671"/>
                    </a:ext>
                  </a:extLst>
                </a:gridCol>
              </a:tblGrid>
              <a:tr h="34551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Descrição</a:t>
                      </a:r>
                      <a:endParaRPr lang="pt-BR" sz="18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 err="1">
                          <a:latin typeface="Poppins"/>
                          <a:cs typeface="Poppins"/>
                        </a:rPr>
                        <a:t>Qtde</a:t>
                      </a:r>
                      <a:r>
                        <a:rPr lang="en-US" sz="1800" dirty="0">
                          <a:latin typeface="Poppins"/>
                          <a:cs typeface="Poppins"/>
                        </a:rPr>
                        <a:t>.</a:t>
                      </a:r>
                      <a:endParaRPr lang="pt-BR" sz="1800" dirty="0">
                        <a:latin typeface="Poppins"/>
                        <a:cs typeface="Poppins"/>
                      </a:endParaRPr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 err="1">
                          <a:latin typeface="Poppins"/>
                          <a:cs typeface="Poppins"/>
                        </a:rPr>
                        <a:t>Unid</a:t>
                      </a:r>
                      <a:r>
                        <a:rPr lang="en-US" sz="1800" dirty="0">
                          <a:latin typeface="Poppins"/>
                          <a:cs typeface="Poppins"/>
                        </a:rPr>
                        <a:t>.</a:t>
                      </a:r>
                      <a:endParaRPr lang="pt-BR" sz="1800" dirty="0">
                        <a:latin typeface="Poppins"/>
                        <a:cs typeface="Poppins"/>
                      </a:endParaRPr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Valor</a:t>
                      </a:r>
                      <a:endParaRPr lang="pt-BR" sz="18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582095"/>
                  </a:ext>
                </a:extLst>
              </a:tr>
              <a:tr h="6156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pt-BR" sz="1200" b="0" dirty="0">
                          <a:latin typeface="Poppins"/>
                          <a:cs typeface="Poppins"/>
                        </a:rPr>
                        <a:t>Piso – Quadra Poliesportiva  - Base Asfáltica 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Playpiso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area_total_fmt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46728657"/>
                  </a:ext>
                </a:extLst>
              </a:tr>
              <a:tr h="620259">
                <a:tc>
                  <a:txBody>
                    <a:bodyPr/>
                    <a:lstStyle/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pt-BR" sz="1100" b="0" i="0" u="none" strike="noStrike" noProof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Poppins"/>
                          <a:cs typeface="Poppins"/>
                        </a:rPr>
                        <a:t>Alambrado – Sistema trapézio, tubos galvanizados {{</a:t>
                      </a:r>
                      <a:r>
                        <a:rPr lang="pt-BR" sz="1100" b="0" i="0" u="none" strike="noStrike" noProof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Poppins"/>
                          <a:cs typeface="Poppins"/>
                        </a:rPr>
                        <a:t>galvanizacao</a:t>
                      </a:r>
                      <a:r>
                        <a:rPr lang="pt-BR" sz="1100" b="0" i="0" u="none" strike="noStrike" noProof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Poppins"/>
                          <a:cs typeface="Poppins"/>
                        </a:rPr>
                        <a:t>}}, tela revestida em PVC, {{</a:t>
                      </a:r>
                      <a:r>
                        <a:rPr lang="pt-BR" sz="1100" b="0" i="0" u="none" strike="noStrike" noProof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Poppins"/>
                          <a:cs typeface="Poppins"/>
                        </a:rPr>
                        <a:t>travamento_descricao</a:t>
                      </a:r>
                      <a:r>
                        <a:rPr lang="pt-BR" sz="1100" b="0" i="0" u="none" strike="noStrike" noProof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Poppins"/>
                          <a:cs typeface="Poppins"/>
                        </a:rPr>
                        <a:t>}}</a:t>
                      </a:r>
                      <a:endParaRPr lang="pt-BR" sz="1100" dirty="0">
                        <a:latin typeface="Poppins"/>
                        <a:cs typeface="Poppin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area_alambrado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63533209"/>
                  </a:ext>
                </a:extLst>
              </a:tr>
              <a:tr h="615600"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pt-BR" sz="1200" b="0" i="0" u="none" strike="noStrike" noProof="0" dirty="0">
                          <a:latin typeface="Poppins"/>
                          <a:cs typeface="Poppins"/>
                        </a:rPr>
                        <a:t>Iluminação – {{</a:t>
                      </a:r>
                      <a:r>
                        <a:rPr lang="pt-BR" sz="1200" b="0" i="0" u="none" strike="noStrike" noProof="0" dirty="0" err="1">
                          <a:latin typeface="Poppins"/>
                          <a:cs typeface="Poppins"/>
                        </a:rPr>
                        <a:t>quantidade_projetores</a:t>
                      </a:r>
                      <a:r>
                        <a:rPr lang="pt-BR" sz="1200" b="0" i="0" u="none" strike="noStrike" noProof="0" dirty="0">
                          <a:latin typeface="Poppins"/>
                          <a:cs typeface="Poppins"/>
                        </a:rPr>
                        <a:t>}} projetores em Led {{</a:t>
                      </a:r>
                      <a:r>
                        <a:rPr lang="pt-BR" sz="1200" b="0" i="0" u="none" strike="noStrike" noProof="0" dirty="0" err="1">
                          <a:latin typeface="Poppins"/>
                          <a:cs typeface="Poppins"/>
                        </a:rPr>
                        <a:t>potencia_projetores</a:t>
                      </a:r>
                      <a:r>
                        <a:rPr lang="pt-BR" sz="1200" b="0" i="0" u="none" strike="noStrike" noProof="0" dirty="0">
                          <a:latin typeface="Poppins"/>
                          <a:cs typeface="Poppins"/>
                        </a:rPr>
                        <a:t>}}W, {{</a:t>
                      </a:r>
                      <a:r>
                        <a:rPr lang="pt-BR" sz="1200" b="0" i="0" u="none" strike="noStrike" noProof="0" dirty="0" err="1">
                          <a:latin typeface="Poppins"/>
                          <a:cs typeface="Poppins"/>
                        </a:rPr>
                        <a:t>quantidade_postes_iluminacao</a:t>
                      </a:r>
                      <a:r>
                        <a:rPr lang="pt-BR" sz="1200" b="0" i="0" u="none" strike="noStrike" noProof="0" dirty="0">
                          <a:latin typeface="Poppins"/>
                          <a:cs typeface="Poppins"/>
                        </a:rPr>
                        <a:t>}} postes galvanizados com altura de {{</a:t>
                      </a:r>
                      <a:r>
                        <a:rPr lang="pt-BR" sz="1200" b="0" i="0" u="none" strike="noStrike" noProof="0" dirty="0" err="1">
                          <a:latin typeface="Poppins"/>
                          <a:cs typeface="Poppins"/>
                        </a:rPr>
                        <a:t>altura_postes_iluminacao</a:t>
                      </a:r>
                      <a:r>
                        <a:rPr lang="pt-BR" sz="1200" b="0" i="0" u="none" strike="noStrike" noProof="0" dirty="0">
                          <a:latin typeface="Poppins"/>
                          <a:cs typeface="Poppins"/>
                        </a:rPr>
                        <a:t>}}m</a:t>
                      </a:r>
                      <a:r>
                        <a:rPr lang="pt-BR" sz="1200" b="0" i="0" u="none" strike="noStrike" noProof="0" dirty="0"/>
                        <a:t> 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qtde_iluminacao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Conjunto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36935852"/>
                  </a:ext>
                </a:extLst>
              </a:tr>
              <a:tr h="61560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BR" sz="1200" b="0" dirty="0" err="1">
                          <a:latin typeface="Poppins"/>
                          <a:cs typeface="Poppins"/>
                        </a:rPr>
                        <a:t>Acessório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s: {{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acessorios_esportivos_descricao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}}</a:t>
                      </a:r>
                      <a:endParaRPr lang="en-BR" sz="1200" b="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{{</a:t>
                      </a:r>
                      <a:r>
                        <a:rPr lang="pt-BR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quantity</a:t>
                      </a:r>
                      <a:r>
                        <a:rPr lang="pt-B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}}</a:t>
                      </a:r>
                      <a:endParaRPr kumimoji="0" lang="pt-B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"/>
                        <a:ea typeface="+mn-ea"/>
                        <a:cs typeface="Poppi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Conjunto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08948746"/>
                  </a:ext>
                </a:extLst>
              </a:tr>
              <a:tr h="615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latin typeface="Poppins" pitchFamily="2" charset="77"/>
                          <a:cs typeface="Poppins" pitchFamily="2" charset="77"/>
                        </a:rPr>
                        <a:t>Tela de proteção superior</a:t>
                      </a:r>
                      <a:endParaRPr lang="en-BR" sz="1200" b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area_tela_superior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9500230"/>
                  </a:ext>
                </a:extLst>
              </a:tr>
              <a:tr h="6156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pt-BR" sz="1400" b="1" dirty="0">
                          <a:solidFill>
                            <a:srgbClr val="FF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VALOR TOTAL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pt-BR" sz="1400" b="1">
                        <a:solidFill>
                          <a:srgbClr val="FF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pt-BR" sz="1400" b="1">
                        <a:solidFill>
                          <a:srgbClr val="FF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2577143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02CE5105-48C9-C642-2D6C-99B9808B07CE}"/>
              </a:ext>
            </a:extLst>
          </p:cNvPr>
          <p:cNvSpPr txBox="1"/>
          <p:nvPr/>
        </p:nvSpPr>
        <p:spPr>
          <a:xfrm>
            <a:off x="2108089" y="5770806"/>
            <a:ext cx="6362765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200" dirty="0">
                <a:latin typeface="Poppins" panose="00000500000000000000" pitchFamily="2" charset="0"/>
                <a:cs typeface="Poppins" panose="00000500000000000000" pitchFamily="2" charset="0"/>
              </a:rPr>
              <a:t>***Valores válidos somente para contratação simultânea dos serviços.</a:t>
            </a:r>
          </a:p>
        </p:txBody>
      </p:sp>
    </p:spTree>
    <p:extLst>
      <p:ext uri="{BB962C8B-B14F-4D97-AF65-F5344CB8AC3E}">
        <p14:creationId xmlns:p14="http://schemas.microsoft.com/office/powerpoint/2010/main" val="26157842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95</cp:revision>
  <dcterms:created xsi:type="dcterms:W3CDTF">2026-05-19T16:02:37Z</dcterms:created>
  <dcterms:modified xsi:type="dcterms:W3CDTF">2026-05-19T16:39:54Z</dcterms:modified>
</cp:coreProperties>
</file>